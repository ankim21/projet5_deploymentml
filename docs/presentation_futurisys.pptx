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Andrea Kim. Je vais vous présenter la mise en production d'un modèle de machine learning qui prédit le risque de départ d'un employé chez Futurisys. Le modèle existait déjà : mon travail ici était de le rendre utilisable, fiable et traçable.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seul ne sert à rien : un fichier .joblib sur un ordinateur portable n'est pas un produit. L'objectif du projet 5 était de l'exposer via une API, de garantir sa fiabilité par des tests, et surtout d'assurer la traçabilité complète des échanges grâce à une base de données.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livrables. Je détaille ensuite l'architecture, puis chaque brique : le modèle, l'API, la base de données, les tests, et enfin le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suit une séparation des responsabilités. app/ ne sait pas prédire, modele/ ne sait rien de HTTP ni de la base, db/ ne sait rien du modèle. Cela rend chaque partie testable indépendamment. La règle centrale : une prédiction n'est renvoyée que si elle a été enregistrée.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seuil est un choix métier, pas un détail technique : il est stocké avec le modèle et appliqué par l'API. Les métriques sont celles du jeu de test du projet 3. Point important : les versions des librairies sont enregistrées dans l'artefact, ce qui impose de les figer dans requirements.txt.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point technique dont je suis le plus fière. Les formules n'existaient que dans le notebook. Je les ai extraites dans une fonction unique et j'ai vérifié, sur les 1 470 employés, que les probabilités produites sont identiques à celles du notebook. Sans cela, l'API aurait pu se tromper sans jamais lever d'erreur.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L'API est volontairement minimale. Le point notable est id_prediction : la réponse contient l'identifiant de la ligne enregistrée, ce qui permet de retrouver l'échange en base. La documentation /docs est générée automatiquement à partir des classes Pydantic.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projets ne valident qu'à l'entrée de l'API. Ici, la base impose les mêmes règles, car l'import CSV et de futurs scripts ne passent pas par Pydantic. Et les listes de valeurs autorisées correspondent aux catégories vues à l'entraînement : une modalité inconnue n'aurait aucun sens pour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sépare les données d'entraînement (qui contiennent la cible) des données de production (qui ne l'ont pas). Trois choix à défendre : on ne stocke que le brut, les colonnes sont typées plutôt qu'un JSON, et les listes de valeurs sont des contraintes CHECK, plus simples à faire évoluer qu'un type ENUM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cas 503 est un choix assumé : si la base est indisponible, l'API refuse de prédire, parce qu'une prédiction non tracée violerait l'exigence du projet. Et une erreur du modèle n'est pas perdue : elle est enregistrée avec son message, ce qui permettrait de la diagnostiquer.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le plus grave dans un import de données n'est pas l'erreur bruyante, c'est l'erreur silencieuse : si les identifiants étaient décalés, on entraînerait ou évaluerait le modèle sur des paires features/cible incorrectes, sans aucun message d'erreur. D'où la vérification explicite des identifiants et la transaction unique.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niveaux de tests. Le point technique intéressant est la substitution de la base : FastAPI permet de remplacer la dépendance de session, donc les tests utilisent SQLite en mémoire. J'assume la limite : SQLite est plus permissif que PostgreSQL, donc je vérifie le schéma réel avec un script SQL dédié.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 incident est un bon exemple de ce que la CI/CD révèle : une dépendance non figée a cassé une chaîne qui fonctionnait, sans aucune modification de mon code. C'est exactement la raison pour laquelle requirements.txt fige les versions, et pourquoi l'artefact du modèle enregistre les siennes. J'ai appliqué le même principe à l'outil de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préfère une limite assumée et documentée à une fausse démo. Le déploiement prouve la chaîne Docker + CI/CD + hébergement ; la base reste locale pour des raisons de confidentialité et parce que le disque d'un Space n'est pas persistant. Et la décision est réversible : il suffirait de fournir une variable secrète.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sécurité a été traitée comme une exigence, pas comme une option : aucun secret dans le dépôt, aucune donnée RH dans l'image Docker, un utilisateur de base dédié. Je mentionne aussi la limite connue : il n'y a pas encore d'authentification sur /predict, ce qui serait indispensable si l'endpoint était ouvert à de vrais utilisateurs.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difficultés sont surtout des leçons d'ingénierie : un code qui marche ne suffit pas, il faut aussi qu'il soit reproductible et vérifiable. L'erreur d'indentation YAML est représentative : le pipeline semblait fonctionner alors que l'étape de déploiement n'était jamais exécutée.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répond aux exigences. Les prochaines étapes que je proposerais : un endpoint qui lit directement un employé en base, une authentification, et surtout le monitoring : les tables de prédictions permettent de comparer les données reçues en production à celles de l'entraînement, donc de détecter une dérive.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démonstration : je lance l'API en local, j'envoie une prédiction depuis /docs, puis j'affiche la ligne enregistrée en base avec verify.sql. Cela montre la chaîne complète : requête, prédiction, enregistrement, traçabilité. Merci, je suis disponible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108960"/>
          </a:xfrm>
          <a:prstGeom prst="rect">
            <a:avLst/>
          </a:prstGeom>
          <a:solidFill>
            <a:srgbClr val="1B3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960120"/>
            <a:ext cx="10637215" cy="1097280"/>
          </a:xfrm>
          <a:prstGeom prst="rect">
            <a:avLst/>
          </a:prstGeom>
          <a:noFill/>
        </p:spPr>
        <p:txBody>
          <a:bodyPr wrap="square">
            <a:spAutoFit/>
          </a:bodyPr>
          <a:lstStyle/>
          <a:p>
            <a:r>
              <a:rPr sz="3800" b="1" i="0">
                <a:solidFill>
                  <a:srgbClr val="FFFFFF"/>
                </a:solidFill>
                <a:latin typeface="Arial"/>
              </a:rPr>
              <a:t>Mise en production d'un modèle de Machine Learning</a:t>
            </a:r>
          </a:p>
        </p:txBody>
      </p:sp>
      <p:sp>
        <p:nvSpPr>
          <p:cNvPr id="4" name="TextBox 3"/>
          <p:cNvSpPr txBox="1"/>
          <p:nvPr/>
        </p:nvSpPr>
        <p:spPr>
          <a:xfrm>
            <a:off x="777240" y="2148840"/>
            <a:ext cx="10637215" cy="548640"/>
          </a:xfrm>
          <a:prstGeom prst="rect">
            <a:avLst/>
          </a:prstGeom>
          <a:noFill/>
        </p:spPr>
        <p:txBody>
          <a:bodyPr wrap="square">
            <a:spAutoFit/>
          </a:bodyPr>
          <a:lstStyle/>
          <a:p>
            <a:r>
              <a:rPr sz="2000" b="0" i="0">
                <a:solidFill>
                  <a:srgbClr val="C9D8E4"/>
                </a:solidFill>
                <a:latin typeface="Arial"/>
              </a:rPr>
              <a:t>Futurisys — une API qui prédit le risque de départ d'un employé</a:t>
            </a:r>
          </a:p>
        </p:txBody>
      </p:sp>
      <p:sp>
        <p:nvSpPr>
          <p:cNvPr id="5" name="TextBox 4"/>
          <p:cNvSpPr txBox="1"/>
          <p:nvPr/>
        </p:nvSpPr>
        <p:spPr>
          <a:xfrm>
            <a:off x="777240" y="3566160"/>
            <a:ext cx="10637215" cy="1463040"/>
          </a:xfrm>
          <a:prstGeom prst="rect">
            <a:avLst/>
          </a:prstGeom>
          <a:noFill/>
        </p:spPr>
        <p:txBody>
          <a:bodyPr wrap="square">
            <a:spAutoFit/>
          </a:bodyPr>
          <a:lstStyle/>
          <a:p>
            <a:r>
              <a:rPr sz="2000" b="1" i="0">
                <a:solidFill>
                  <a:srgbClr val="1B3A5B"/>
                </a:solidFill>
                <a:latin typeface="Arial"/>
              </a:rPr>
              <a:t>Andrea Kim</a:t>
            </a:r>
          </a:p>
          <a:p>
            <a:r>
              <a:rPr sz="1600" b="0" i="0">
                <a:solidFill>
                  <a:srgbClr val="2B2B2B"/>
                </a:solidFill>
                <a:latin typeface="Arial"/>
              </a:rPr>
              <a:t>OpenClassrooms — Projet 5</a:t>
            </a:r>
          </a:p>
          <a:p>
            <a:r>
              <a:rPr sz="1600" b="0" i="0">
                <a:solidFill>
                  <a:srgbClr val="6B7280"/>
                </a:solidFill>
                <a:latin typeface="Arial"/>
              </a:rPr>
              <a:t>Octobre 2026</a:t>
            </a:r>
          </a:p>
        </p:txBody>
      </p:sp>
      <p:sp>
        <p:nvSpPr>
          <p:cNvPr id="6" name="TextBox 5"/>
          <p:cNvSpPr txBox="1"/>
          <p:nvPr/>
        </p:nvSpPr>
        <p:spPr>
          <a:xfrm>
            <a:off x="777240" y="5394960"/>
            <a:ext cx="10637215" cy="822960"/>
          </a:xfrm>
          <a:prstGeom prst="rect">
            <a:avLst/>
          </a:prstGeom>
          <a:noFill/>
        </p:spPr>
        <p:txBody>
          <a:bodyPr wrap="square">
            <a:spAutoFit/>
          </a:bodyPr>
          <a:lstStyle/>
          <a:p>
            <a:r>
              <a:rPr sz="1300" b="0" i="0">
                <a:solidFill>
                  <a:srgbClr val="6B7280"/>
                </a:solidFill>
                <a:latin typeface="Arial"/>
              </a:rPr>
              <a:t>FastAPI  ·  PostgreSQL  ·  SQLAlchemy  ·  Pytest  ·  Docker  ·  GitHub Actions  ·  Hugging Face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Contexte et mission</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D'où part le projet et ce qu'il devait accomplir</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a:t>
            </a:r>
          </a:p>
        </p:txBody>
      </p:sp>
      <p:sp>
        <p:nvSpPr>
          <p:cNvPr id="7" name="TextBox 6"/>
          <p:cNvSpPr txBox="1"/>
          <p:nvPr/>
        </p:nvSpPr>
        <p:spPr>
          <a:xfrm>
            <a:off x="777240" y="1783080"/>
            <a:ext cx="10637215" cy="4343400"/>
          </a:xfrm>
          <a:prstGeom prst="rect">
            <a:avLst/>
          </a:prstGeom>
          <a:noFill/>
        </p:spPr>
        <p:txBody>
          <a:bodyPr wrap="square">
            <a:spAutoFit/>
          </a:bodyPr>
          <a:lstStyle/>
          <a:p>
            <a:pPr>
              <a:spcAft>
                <a:spcPts val="832"/>
              </a:spcAft>
            </a:pPr>
            <a:r>
              <a:rPr sz="1700" b="0" i="0">
                <a:solidFill>
                  <a:srgbClr val="2B2B2B"/>
                </a:solidFill>
                <a:latin typeface="Arial"/>
              </a:rPr>
              <a:t>•  </a:t>
            </a:r>
            <a:r>
              <a:rPr sz="1700" b="1" i="0">
                <a:solidFill>
                  <a:srgbClr val="2B2B2B"/>
                </a:solidFill>
                <a:latin typeface="Arial"/>
              </a:rPr>
              <a:t>Besoin métier :</a:t>
            </a:r>
            <a:r>
              <a:rPr sz="1700" b="0" i="0">
                <a:solidFill>
                  <a:srgbClr val="2B2B2B"/>
                </a:solidFill>
                <a:latin typeface="Arial"/>
              </a:rPr>
              <a:t> les RH de Futurisys veulent anticiper les départs plutôt que les subir</a:t>
            </a:r>
          </a:p>
          <a:p>
            <a:pPr>
              <a:spcAft>
                <a:spcPts val="832"/>
              </a:spcAft>
            </a:pPr>
            <a:r>
              <a:rPr sz="1700" b="0" i="0">
                <a:solidFill>
                  <a:srgbClr val="2B2B2B"/>
                </a:solidFill>
                <a:latin typeface="Arial"/>
              </a:rPr>
              <a:t>•  </a:t>
            </a:r>
            <a:r>
              <a:rPr sz="1700" b="1" i="0">
                <a:solidFill>
                  <a:srgbClr val="2B2B2B"/>
                </a:solidFill>
                <a:latin typeface="Arial"/>
              </a:rPr>
              <a:t>Point de départ :</a:t>
            </a:r>
            <a:r>
              <a:rPr sz="1700" b="0" i="0">
                <a:solidFill>
                  <a:srgbClr val="2B2B2B"/>
                </a:solidFill>
                <a:latin typeface="Arial"/>
              </a:rPr>
              <a:t> un modèle entraîné lors du projet précédent, sauvegardé dans un fichier .joblib</a:t>
            </a:r>
          </a:p>
          <a:p>
            <a:pPr lvl="1">
              <a:spcAft>
                <a:spcPts val="832"/>
              </a:spcAft>
            </a:pPr>
            <a:r>
              <a:rPr sz="1500" b="0" i="0">
                <a:solidFill>
                  <a:srgbClr val="6B7280"/>
                </a:solidFill>
                <a:latin typeface="Arial"/>
              </a:rPr>
              <a:t>     –  LinearSVC calibré, class_weight balanced, seuil de décision personnalisé</a:t>
            </a:r>
          </a:p>
          <a:p>
            <a:pPr>
              <a:spcAft>
                <a:spcPts val="832"/>
              </a:spcAft>
            </a:pPr>
            <a:r>
              <a:rPr sz="1700" b="0" i="0">
                <a:solidFill>
                  <a:srgbClr val="2B2B2B"/>
                </a:solidFill>
                <a:latin typeface="Arial"/>
              </a:rPr>
              <a:t>•  </a:t>
            </a:r>
            <a:r>
              <a:rPr sz="1700" b="1" i="0">
                <a:solidFill>
                  <a:srgbClr val="2B2B2B"/>
                </a:solidFill>
                <a:latin typeface="Arial"/>
              </a:rPr>
              <a:t>Ce projet :</a:t>
            </a:r>
            <a:r>
              <a:rPr sz="1700" b="0" i="0">
                <a:solidFill>
                  <a:srgbClr val="2B2B2B"/>
                </a:solidFill>
                <a:latin typeface="Arial"/>
              </a:rPr>
              <a:t> transformer ce fichier en un service réellement utilisable par l'entreprise</a:t>
            </a:r>
          </a:p>
          <a:p>
            <a:pPr>
              <a:spcAft>
                <a:spcPts val="832"/>
              </a:spcAft>
            </a:pPr>
            <a:r>
              <a:rPr sz="1700" b="0" i="0">
                <a:solidFill>
                  <a:srgbClr val="2B2B2B"/>
                </a:solidFill>
                <a:latin typeface="Arial"/>
              </a:rPr>
              <a:t>•  </a:t>
            </a:r>
            <a:r>
              <a:rPr sz="1700" b="1" i="0">
                <a:solidFill>
                  <a:srgbClr val="2B2B2B"/>
                </a:solidFill>
                <a:latin typeface="Arial"/>
              </a:rPr>
              <a:t>Contrainte du cahier des charges :</a:t>
            </a:r>
            <a:r>
              <a:rPr sz="1700" b="0" i="0">
                <a:solidFill>
                  <a:srgbClr val="2B2B2B"/>
                </a:solidFill>
                <a:latin typeface="Arial"/>
              </a:rPr>
              <a:t> toute interaction avec le modèle doit passer par une base de données</a:t>
            </a:r>
          </a:p>
          <a:p>
            <a:pPr lvl="1">
              <a:spcAft>
                <a:spcPts val="832"/>
              </a:spcAft>
            </a:pPr>
            <a:r>
              <a:rPr sz="1500" b="0" i="0">
                <a:solidFill>
                  <a:srgbClr val="6B7280"/>
                </a:solidFill>
                <a:latin typeface="Arial"/>
              </a:rPr>
              <a:t>     –  les entrées envoyées au modèle et les sorties produites sont stockées dans des tables dédiées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Ce qui a été livré</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2</a:t>
            </a:r>
          </a:p>
        </p:txBody>
      </p:sp>
      <p:graphicFrame>
        <p:nvGraphicFramePr>
          <p:cNvPr id="6" name="Table 5"/>
          <p:cNvGraphicFramePr>
            <a:graphicFrameLocks noGrp="1"/>
          </p:cNvGraphicFramePr>
          <p:nvPr/>
        </p:nvGraphicFramePr>
        <p:xfrm>
          <a:off x="777240" y="1417320"/>
          <a:ext cx="10607040" cy="3657600"/>
        </p:xfrm>
        <a:graphic>
          <a:graphicData uri="http://schemas.openxmlformats.org/drawingml/2006/table">
            <a:tbl>
              <a:tblPr firstRow="1" bandRow="1">
                <a:tableStyleId>{5C22544A-7EE6-4342-B048-85BDC9FD1C3A}</a:tableStyleId>
              </a:tblPr>
              <a:tblGrid>
                <a:gridCol w="3840480"/>
                <a:gridCol w="3291840"/>
                <a:gridCol w="3474720"/>
              </a:tblGrid>
              <a:tr h="457200">
                <a:tc>
                  <a:txBody>
                    <a:bodyPr/>
                    <a:lstStyle/>
                    <a:p>
                      <a:r>
                        <a:rPr sz="1300" b="1" i="0">
                          <a:solidFill>
                            <a:srgbClr val="FFFFFF"/>
                          </a:solidFill>
                          <a:latin typeface="Arial"/>
                        </a:rPr>
                        <a:t>Livrable</a:t>
                      </a:r>
                    </a:p>
                  </a:txBody>
                  <a:tcPr anchor="ctr" marL="109728" marT="36576" marB="36576">
                    <a:solidFill>
                      <a:srgbClr val="1B3A5B"/>
                    </a:solidFill>
                  </a:tcPr>
                </a:tc>
                <a:tc>
                  <a:txBody>
                    <a:bodyPr/>
                    <a:lstStyle/>
                    <a:p>
                      <a:r>
                        <a:rPr sz="1300" b="1" i="0">
                          <a:solidFill>
                            <a:srgbClr val="FFFFFF"/>
                          </a:solidFill>
                          <a:latin typeface="Arial"/>
                        </a:rPr>
                        <a:t>Technologie</a:t>
                      </a:r>
                    </a:p>
                  </a:txBody>
                  <a:tcPr anchor="ctr" marL="109728" marT="36576" marB="36576">
                    <a:solidFill>
                      <a:srgbClr val="1B3A5B"/>
                    </a:solidFill>
                  </a:tcPr>
                </a:tc>
                <a:tc>
                  <a:txBody>
                    <a:bodyPr/>
                    <a:lstStyle/>
                    <a:p>
                      <a:r>
                        <a:rPr sz="1300" b="1" i="0">
                          <a:solidFill>
                            <a:srgbClr val="FFFFFF"/>
                          </a:solidFill>
                          <a:latin typeface="Arial"/>
                        </a:rPr>
                        <a:t>État</a:t>
                      </a:r>
                    </a:p>
                  </a:txBody>
                  <a:tcPr anchor="ctr" marL="109728" marT="36576" marB="36576">
                    <a:solidFill>
                      <a:srgbClr val="1B3A5B"/>
                    </a:solidFill>
                  </a:tcPr>
                </a:tc>
              </a:tr>
              <a:tr h="457200">
                <a:tc>
                  <a:txBody>
                    <a:bodyPr/>
                    <a:lstStyle/>
                    <a:p>
                      <a:r>
                        <a:rPr sz="1300" b="0" i="0">
                          <a:solidFill>
                            <a:srgbClr val="2B2B2B"/>
                          </a:solidFill>
                          <a:latin typeface="Arial"/>
                        </a:rPr>
                        <a:t>API REST exposant le modèle</a:t>
                      </a:r>
                    </a:p>
                  </a:txBody>
                  <a:tcPr anchor="ctr" marL="109728" marT="36576" marB="36576">
                    <a:solidFill>
                      <a:srgbClr val="FFFFFF"/>
                    </a:solidFill>
                  </a:tcPr>
                </a:tc>
                <a:tc>
                  <a:txBody>
                    <a:bodyPr/>
                    <a:lstStyle/>
                    <a:p>
                      <a:r>
                        <a:rPr sz="1300" b="0" i="0">
                          <a:solidFill>
                            <a:srgbClr val="2B2B2B"/>
                          </a:solidFill>
                          <a:latin typeface="Arial"/>
                        </a:rPr>
                        <a:t>FastAPI + uvicorn</a:t>
                      </a:r>
                    </a:p>
                  </a:txBody>
                  <a:tcPr anchor="ctr" marL="109728" marT="36576" marB="36576">
                    <a:solidFill>
                      <a:srgbClr val="FFFFFF"/>
                    </a:solidFill>
                  </a:tcPr>
                </a:tc>
                <a:tc>
                  <a:txBody>
                    <a:bodyPr/>
                    <a:lstStyle/>
                    <a:p>
                      <a:r>
                        <a:rPr sz="1300" b="0" i="0">
                          <a:solidFill>
                            <a:srgbClr val="2B2B2B"/>
                          </a:solidFill>
                          <a:latin typeface="Arial"/>
                        </a:rPr>
                        <a:t>3 routes, documentées sur /docs</a:t>
                      </a:r>
                    </a:p>
                  </a:txBody>
                  <a:tcPr anchor="ctr" marL="109728" marT="36576" marB="36576">
                    <a:solidFill>
                      <a:srgbClr val="FFFFFF"/>
                    </a:solidFill>
                  </a:tcPr>
                </a:tc>
              </a:tr>
              <a:tr h="457200">
                <a:tc>
                  <a:txBody>
                    <a:bodyPr/>
                    <a:lstStyle/>
                    <a:p>
                      <a:r>
                        <a:rPr sz="1300" b="0" i="0">
                          <a:solidFill>
                            <a:srgbClr val="2B2B2B"/>
                          </a:solidFill>
                          <a:latin typeface="Arial"/>
                        </a:rPr>
                        <a:t>Base relationnelle + schéma UML</a:t>
                      </a:r>
                    </a:p>
                  </a:txBody>
                  <a:tcPr anchor="ctr" marL="109728" marT="36576" marB="36576">
                    <a:solidFill>
                      <a:srgbClr val="F1F5F7"/>
                    </a:solidFill>
                  </a:tcPr>
                </a:tc>
                <a:tc>
                  <a:txBody>
                    <a:bodyPr/>
                    <a:lstStyle/>
                    <a:p>
                      <a:r>
                        <a:rPr sz="1300" b="0" i="0">
                          <a:solidFill>
                            <a:srgbClr val="2B2B2B"/>
                          </a:solidFill>
                          <a:latin typeface="Arial"/>
                        </a:rPr>
                        <a:t>PostgreSQL 16 + SQLAlchemy</a:t>
                      </a:r>
                    </a:p>
                  </a:txBody>
                  <a:tcPr anchor="ctr" marL="109728" marT="36576" marB="36576">
                    <a:solidFill>
                      <a:srgbClr val="F1F5F7"/>
                    </a:solidFill>
                  </a:tcPr>
                </a:tc>
                <a:tc>
                  <a:txBody>
                    <a:bodyPr/>
                    <a:lstStyle/>
                    <a:p>
                      <a:r>
                        <a:rPr sz="1300" b="0" i="0">
                          <a:solidFill>
                            <a:srgbClr val="2B2B2B"/>
                          </a:solidFill>
                          <a:latin typeface="Arial"/>
                        </a:rPr>
                        <a:t>6 tables, dataset chargé</a:t>
                      </a:r>
                    </a:p>
                  </a:txBody>
                  <a:tcPr anchor="ctr" marL="109728" marT="36576" marB="36576">
                    <a:solidFill>
                      <a:srgbClr val="F1F5F7"/>
                    </a:solidFill>
                  </a:tcPr>
                </a:tc>
              </a:tr>
              <a:tr h="457200">
                <a:tc>
                  <a:txBody>
                    <a:bodyPr/>
                    <a:lstStyle/>
                    <a:p>
                      <a:r>
                        <a:rPr sz="1300" b="0" i="0">
                          <a:solidFill>
                            <a:srgbClr val="2B2B2B"/>
                          </a:solidFill>
                          <a:latin typeface="Arial"/>
                        </a:rPr>
                        <a:t>Traçabilité complète des échanges</a:t>
                      </a:r>
                    </a:p>
                  </a:txBody>
                  <a:tcPr anchor="ctr" marL="109728" marT="36576" marB="36576">
                    <a:solidFill>
                      <a:srgbClr val="FFFFFF"/>
                    </a:solidFill>
                  </a:tcPr>
                </a:tc>
                <a:tc>
                  <a:txBody>
                    <a:bodyPr/>
                    <a:lstStyle/>
                    <a:p>
                      <a:r>
                        <a:rPr sz="1300" b="0" i="0">
                          <a:solidFill>
                            <a:srgbClr val="2B2B2B"/>
                          </a:solidFill>
                          <a:latin typeface="Arial"/>
                        </a:rPr>
                        <a:t>tables input / output dédiées</a:t>
                      </a:r>
                    </a:p>
                  </a:txBody>
                  <a:tcPr anchor="ctr" marL="109728" marT="36576" marB="36576">
                    <a:solidFill>
                      <a:srgbClr val="FFFFFF"/>
                    </a:solidFill>
                  </a:tcPr>
                </a:tc>
                <a:tc>
                  <a:txBody>
                    <a:bodyPr/>
                    <a:lstStyle/>
                    <a:p>
                      <a:r>
                        <a:rPr sz="1300" b="0" i="0">
                          <a:solidFill>
                            <a:srgbClr val="2B2B2B"/>
                          </a:solidFill>
                          <a:latin typeface="Arial"/>
                        </a:rPr>
                        <a:t>chaque appel enregistré</a:t>
                      </a:r>
                    </a:p>
                  </a:txBody>
                  <a:tcPr anchor="ctr" marL="109728" marT="36576" marB="36576">
                    <a:solidFill>
                      <a:srgbClr val="FFFFFF"/>
                    </a:solidFill>
                  </a:tcPr>
                </a:tc>
              </a:tr>
              <a:tr h="457200">
                <a:tc>
                  <a:txBody>
                    <a:bodyPr/>
                    <a:lstStyle/>
                    <a:p>
                      <a:r>
                        <a:rPr sz="1300" b="0" i="0">
                          <a:solidFill>
                            <a:srgbClr val="2B2B2B"/>
                          </a:solidFill>
                          <a:latin typeface="Arial"/>
                        </a:rPr>
                        <a:t>Tests automatisés</a:t>
                      </a:r>
                    </a:p>
                  </a:txBody>
                  <a:tcPr anchor="ctr" marL="109728" marT="36576" marB="36576">
                    <a:solidFill>
                      <a:srgbClr val="F1F5F7"/>
                    </a:solidFill>
                  </a:tcPr>
                </a:tc>
                <a:tc>
                  <a:txBody>
                    <a:bodyPr/>
                    <a:lstStyle/>
                    <a:p>
                      <a:r>
                        <a:rPr sz="1300" b="0" i="0">
                          <a:solidFill>
                            <a:srgbClr val="2B2B2B"/>
                          </a:solidFill>
                          <a:latin typeface="Arial"/>
                        </a:rPr>
                        <a:t>Pytest (+ couverture)</a:t>
                      </a:r>
                    </a:p>
                  </a:txBody>
                  <a:tcPr anchor="ctr" marL="109728" marT="36576" marB="36576">
                    <a:solidFill>
                      <a:srgbClr val="F1F5F7"/>
                    </a:solidFill>
                  </a:tcPr>
                </a:tc>
                <a:tc>
                  <a:txBody>
                    <a:bodyPr/>
                    <a:lstStyle/>
                    <a:p>
                      <a:r>
                        <a:rPr sz="1300" b="0" i="0">
                          <a:solidFill>
                            <a:srgbClr val="2B2B2B"/>
                          </a:solidFill>
                          <a:latin typeface="Arial"/>
                        </a:rPr>
                        <a:t>65 tests, 86 % de couverture</a:t>
                      </a:r>
                    </a:p>
                  </a:txBody>
                  <a:tcPr anchor="ctr" marL="109728" marT="36576" marB="36576">
                    <a:solidFill>
                      <a:srgbClr val="F1F5F7"/>
                    </a:solidFill>
                  </a:tcPr>
                </a:tc>
              </a:tr>
              <a:tr h="457200">
                <a:tc>
                  <a:txBody>
                    <a:bodyPr/>
                    <a:lstStyle/>
                    <a:p>
                      <a:r>
                        <a:rPr sz="1300" b="0" i="0">
                          <a:solidFill>
                            <a:srgbClr val="2B2B2B"/>
                          </a:solidFill>
                          <a:latin typeface="Arial"/>
                        </a:rPr>
                        <a:t>Intégration et déploiement continus</a:t>
                      </a:r>
                    </a:p>
                  </a:txBody>
                  <a:tcPr anchor="ctr" marL="109728" marT="36576" marB="36576">
                    <a:solidFill>
                      <a:srgbClr val="FFFFFF"/>
                    </a:solidFill>
                  </a:tcPr>
                </a:tc>
                <a:tc>
                  <a:txBody>
                    <a:bodyPr/>
                    <a:lstStyle/>
                    <a:p>
                      <a:r>
                        <a:rPr sz="1300" b="0" i="0">
                          <a:solidFill>
                            <a:srgbClr val="2B2B2B"/>
                          </a:solidFill>
                          <a:latin typeface="Arial"/>
                        </a:rPr>
                        <a:t>GitHub Actions</a:t>
                      </a:r>
                    </a:p>
                  </a:txBody>
                  <a:tcPr anchor="ctr" marL="109728" marT="36576" marB="36576">
                    <a:solidFill>
                      <a:srgbClr val="FFFFFF"/>
                    </a:solidFill>
                  </a:tcPr>
                </a:tc>
                <a:tc>
                  <a:txBody>
                    <a:bodyPr/>
                    <a:lstStyle/>
                    <a:p>
                      <a:r>
                        <a:rPr sz="1300" b="0" i="0">
                          <a:solidFill>
                            <a:srgbClr val="2B2B2B"/>
                          </a:solidFill>
                          <a:latin typeface="Arial"/>
                        </a:rPr>
                        <a:t>build → test → deploy</a:t>
                      </a:r>
                    </a:p>
                  </a:txBody>
                  <a:tcPr anchor="ctr" marL="109728" marT="36576" marB="36576">
                    <a:solidFill>
                      <a:srgbClr val="FFFFFF"/>
                    </a:solidFill>
                  </a:tcPr>
                </a:tc>
              </a:tr>
              <a:tr h="457200">
                <a:tc>
                  <a:txBody>
                    <a:bodyPr/>
                    <a:lstStyle/>
                    <a:p>
                      <a:r>
                        <a:rPr sz="1300" b="0" i="0">
                          <a:solidFill>
                            <a:srgbClr val="2B2B2B"/>
                          </a:solidFill>
                          <a:latin typeface="Arial"/>
                        </a:rPr>
                        <a:t>Déploiement conteneurisé</a:t>
                      </a:r>
                    </a:p>
                  </a:txBody>
                  <a:tcPr anchor="ctr" marL="109728" marT="36576" marB="36576">
                    <a:solidFill>
                      <a:srgbClr val="F1F5F7"/>
                    </a:solidFill>
                  </a:tcPr>
                </a:tc>
                <a:tc>
                  <a:txBody>
                    <a:bodyPr/>
                    <a:lstStyle/>
                    <a:p>
                      <a:r>
                        <a:rPr sz="1300" b="0" i="0">
                          <a:solidFill>
                            <a:srgbClr val="2B2B2B"/>
                          </a:solidFill>
                          <a:latin typeface="Arial"/>
                        </a:rPr>
                        <a:t>Docker + Space Hugging Face</a:t>
                      </a:r>
                    </a:p>
                  </a:txBody>
                  <a:tcPr anchor="ctr" marL="109728" marT="36576" marB="36576">
                    <a:solidFill>
                      <a:srgbClr val="F1F5F7"/>
                    </a:solidFill>
                  </a:tcPr>
                </a:tc>
                <a:tc>
                  <a:txBody>
                    <a:bodyPr/>
                    <a:lstStyle/>
                    <a:p>
                      <a:r>
                        <a:rPr sz="1300" b="0" i="0">
                          <a:solidFill>
                            <a:srgbClr val="2B2B2B"/>
                          </a:solidFill>
                          <a:latin typeface="Arial"/>
                        </a:rPr>
                        <a:t>Space en ligne</a:t>
                      </a:r>
                    </a:p>
                  </a:txBody>
                  <a:tcPr anchor="ctr" marL="109728" marT="36576" marB="36576">
                    <a:solidFill>
                      <a:srgbClr val="F1F5F7"/>
                    </a:solidFill>
                  </a:tcPr>
                </a:tc>
              </a:tr>
              <a:tr h="457200">
                <a:tc>
                  <a:txBody>
                    <a:bodyPr/>
                    <a:lstStyle/>
                    <a:p>
                      <a:r>
                        <a:rPr sz="1300" b="0" i="0">
                          <a:solidFill>
                            <a:srgbClr val="2B2B2B"/>
                          </a:solidFill>
                          <a:latin typeface="Arial"/>
                        </a:rPr>
                        <a:t>Documentation</a:t>
                      </a:r>
                    </a:p>
                  </a:txBody>
                  <a:tcPr anchor="ctr" marL="109728" marT="36576" marB="36576">
                    <a:solidFill>
                      <a:srgbClr val="FFFFFF"/>
                    </a:solidFill>
                  </a:tcPr>
                </a:tc>
                <a:tc>
                  <a:txBody>
                    <a:bodyPr/>
                    <a:lstStyle/>
                    <a:p>
                      <a:r>
                        <a:rPr sz="1300" b="0" i="0">
                          <a:solidFill>
                            <a:srgbClr val="2B2B2B"/>
                          </a:solidFill>
                          <a:latin typeface="Arial"/>
                        </a:rPr>
                        <a:t>README + docs/db_schema.md</a:t>
                      </a:r>
                    </a:p>
                  </a:txBody>
                  <a:tcPr anchor="ctr" marL="109728" marT="36576" marB="36576">
                    <a:solidFill>
                      <a:srgbClr val="FFFFFF"/>
                    </a:solidFill>
                  </a:tcPr>
                </a:tc>
                <a:tc>
                  <a:txBody>
                    <a:bodyPr/>
                    <a:lstStyle/>
                    <a:p>
                      <a:r>
                        <a:rPr sz="1300" b="0" i="0">
                          <a:solidFill>
                            <a:srgbClr val="2B2B2B"/>
                          </a:solidFill>
                          <a:latin typeface="Arial"/>
                        </a:rPr>
                        <a:t>installation, usage, schéma, choix</a:t>
                      </a:r>
                    </a:p>
                  </a:txBody>
                  <a:tcPr anchor="ctr" marL="109728" marT="36576" marB="36576">
                    <a:solidFill>
                      <a:srgbClr val="FFFFFF"/>
                    </a:solidFill>
                  </a:tcPr>
                </a:tc>
              </a:tr>
            </a:tbl>
          </a:graphicData>
        </a:graphic>
      </p:graphicFrame>
      <p:sp>
        <p:nvSpPr>
          <p:cNvPr id="7" name="TextBox 6"/>
          <p:cNvSpPr txBox="1"/>
          <p:nvPr/>
        </p:nvSpPr>
        <p:spPr>
          <a:xfrm>
            <a:off x="777240" y="5394959"/>
            <a:ext cx="10637215" cy="457200"/>
          </a:xfrm>
          <a:prstGeom prst="rect">
            <a:avLst/>
          </a:prstGeom>
          <a:noFill/>
        </p:spPr>
        <p:txBody>
          <a:bodyPr wrap="square">
            <a:spAutoFit/>
          </a:bodyPr>
          <a:lstStyle/>
          <a:p>
            <a:r>
              <a:rPr sz="1400" b="1" i="0">
                <a:solidFill>
                  <a:srgbClr val="2F7D7A"/>
                </a:solidFill>
                <a:latin typeface="Arial"/>
              </a:rPr>
              <a:t>1 679 lignes de Python  ·  4 packages (app / modele / db / tests)  ·  65 tests automatisés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Architecture</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Trois packages, une règle : pas de prédiction sans trace</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3</a:t>
            </a:r>
          </a:p>
        </p:txBody>
      </p:sp>
      <p:sp>
        <p:nvSpPr>
          <p:cNvPr id="7" name="Rounded Rectangle 6"/>
          <p:cNvSpPr/>
          <p:nvPr/>
        </p:nvSpPr>
        <p:spPr>
          <a:xfrm>
            <a:off x="777240" y="1828800"/>
            <a:ext cx="1737360" cy="914400"/>
          </a:xfrm>
          <a:prstGeom prst="roundRect">
            <a:avLst/>
          </a:prstGeom>
          <a:solidFill>
            <a:srgbClr val="FFFFFF"/>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Client
(/docs, curl)</a:t>
            </a:r>
          </a:p>
        </p:txBody>
      </p:sp>
      <p:sp>
        <p:nvSpPr>
          <p:cNvPr id="8" name="Right Arrow 7"/>
          <p:cNvSpPr/>
          <p:nvPr/>
        </p:nvSpPr>
        <p:spPr>
          <a:xfrm>
            <a:off x="2606040" y="2194560"/>
            <a:ext cx="457200" cy="201168"/>
          </a:xfrm>
          <a:prstGeom prst="right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54680" y="1600200"/>
            <a:ext cx="2286000" cy="137160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2B2B2B"/>
                </a:solidFill>
                <a:latin typeface="Arial"/>
              </a:rPr>
              <a:t>app/</a:t>
            </a:r>
            <a:r>
              <a:rPr sz="1200" b="0" i="0">
                <a:solidFill>
                  <a:srgbClr val="2B2B2B"/>
                </a:solidFill>
                <a:latin typeface="Arial"/>
              </a:rPr>
              <a:t>
FastAPI
validation (Pydantic)
orchestration</a:t>
            </a:r>
          </a:p>
        </p:txBody>
      </p:sp>
      <p:sp>
        <p:nvSpPr>
          <p:cNvPr id="10" name="Right Arrow 9"/>
          <p:cNvSpPr/>
          <p:nvPr/>
        </p:nvSpPr>
        <p:spPr>
          <a:xfrm>
            <a:off x="5532120" y="2194560"/>
            <a:ext cx="457200" cy="201168"/>
          </a:xfrm>
          <a:prstGeom prst="right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80760" y="1600200"/>
            <a:ext cx="2286000" cy="137160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2B2B2B"/>
                </a:solidFill>
                <a:latin typeface="Arial"/>
              </a:rPr>
              <a:t>modele/</a:t>
            </a:r>
            <a:r>
              <a:rPr sz="1200" b="0" i="0">
                <a:solidFill>
                  <a:srgbClr val="2B2B2B"/>
                </a:solidFill>
                <a:latin typeface="Arial"/>
              </a:rPr>
              <a:t>
features + pipeline
seuil 0,2941</a:t>
            </a:r>
          </a:p>
        </p:txBody>
      </p:sp>
      <p:sp>
        <p:nvSpPr>
          <p:cNvPr id="12" name="Rounded Rectangle 11"/>
          <p:cNvSpPr/>
          <p:nvPr/>
        </p:nvSpPr>
        <p:spPr>
          <a:xfrm>
            <a:off x="8732520" y="1691640"/>
            <a:ext cx="1554480" cy="1188720"/>
          </a:xfrm>
          <a:prstGeom prst="roundRect">
            <a:avLst/>
          </a:prstGeom>
          <a:solidFill>
            <a:srgbClr val="FFFFFF"/>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i="0">
                <a:solidFill>
                  <a:srgbClr val="2B2B2B"/>
                </a:solidFill>
                <a:latin typeface="Arial"/>
              </a:rPr>
              <a:t>modele_attrition
.joblib</a:t>
            </a:r>
          </a:p>
        </p:txBody>
      </p:sp>
      <p:sp>
        <p:nvSpPr>
          <p:cNvPr id="13" name="Right Arrow 12"/>
          <p:cNvSpPr/>
          <p:nvPr/>
        </p:nvSpPr>
        <p:spPr>
          <a:xfrm>
            <a:off x="8458200" y="2194560"/>
            <a:ext cx="274320" cy="201168"/>
          </a:xfrm>
          <a:prstGeom prst="right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4160520" y="3063240"/>
            <a:ext cx="201168" cy="548640"/>
          </a:xfrm>
          <a:prstGeom prst="down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749039"/>
            <a:ext cx="10607040" cy="457200"/>
          </a:xfrm>
          <a:prstGeom prst="roundRect">
            <a:avLst/>
          </a:prstGeom>
          <a:solidFill>
            <a:srgbClr val="1B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i="0">
                <a:solidFill>
                  <a:srgbClr val="FFFFFF"/>
                </a:solidFill>
                <a:latin typeface="Arial"/>
              </a:rPr>
              <a:t>db/</a:t>
            </a:r>
            <a:r>
              <a:rPr sz="1400" b="1" i="0">
                <a:solidFill>
                  <a:srgbClr val="FFFFFF"/>
                </a:solidFill>
                <a:latin typeface="Arial"/>
              </a:rPr>
              <a:t> — PostgreSQL (local)</a:t>
            </a:r>
          </a:p>
        </p:txBody>
      </p:sp>
      <p:sp>
        <p:nvSpPr>
          <p:cNvPr id="16" name="Rounded Rectangle 15"/>
          <p:cNvSpPr/>
          <p:nvPr/>
        </p:nvSpPr>
        <p:spPr>
          <a:xfrm>
            <a:off x="777240" y="4343400"/>
            <a:ext cx="338328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2B2B2B"/>
                </a:solidFill>
                <a:latin typeface="Arial"/>
              </a:rPr>
              <a:t>Dataset</a:t>
            </a:r>
            <a:r>
              <a:rPr sz="1200" b="0" i="0">
                <a:solidFill>
                  <a:srgbClr val="2B2B2B"/>
                </a:solidFill>
                <a:latin typeface="Arial"/>
              </a:rPr>
              <a:t>
employee · evaluation · sondage
1 470 employés</a:t>
            </a:r>
          </a:p>
        </p:txBody>
      </p:sp>
      <p:sp>
        <p:nvSpPr>
          <p:cNvPr id="17" name="Rounded Rectangle 16"/>
          <p:cNvSpPr/>
          <p:nvPr/>
        </p:nvSpPr>
        <p:spPr>
          <a:xfrm>
            <a:off x="4389120" y="4343400"/>
            <a:ext cx="338328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2B2B2B"/>
                </a:solidFill>
                <a:latin typeface="Arial"/>
              </a:rPr>
              <a:t>Traçabilité</a:t>
            </a:r>
            <a:r>
              <a:rPr sz="1200" b="0" i="0">
                <a:solidFill>
                  <a:srgbClr val="2B2B2B"/>
                </a:solidFill>
                <a:latin typeface="Arial"/>
              </a:rPr>
              <a:t>
prediction_input · prediction_output
1 ligne par appel</a:t>
            </a:r>
          </a:p>
        </p:txBody>
      </p:sp>
      <p:sp>
        <p:nvSpPr>
          <p:cNvPr id="18" name="Rounded Rectangle 17"/>
          <p:cNvSpPr/>
          <p:nvPr/>
        </p:nvSpPr>
        <p:spPr>
          <a:xfrm>
            <a:off x="8001000" y="4343400"/>
            <a:ext cx="338328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2B2B2B"/>
                </a:solidFill>
                <a:latin typeface="Arial"/>
              </a:rPr>
              <a:t>Registre du modèle</a:t>
            </a:r>
            <a:r>
              <a:rPr sz="1200" b="0" i="0">
                <a:solidFill>
                  <a:srgbClr val="2B2B2B"/>
                </a:solidFill>
                <a:latin typeface="Arial"/>
              </a:rPr>
              <a:t>
model_version
fichier + seuil</a:t>
            </a:r>
          </a:p>
        </p:txBody>
      </p:sp>
      <p:sp>
        <p:nvSpPr>
          <p:cNvPr id="19" name="TextBox 18"/>
          <p:cNvSpPr txBox="1"/>
          <p:nvPr/>
        </p:nvSpPr>
        <p:spPr>
          <a:xfrm>
            <a:off x="777240" y="5577840"/>
            <a:ext cx="10637215" cy="548640"/>
          </a:xfrm>
          <a:prstGeom prst="rect">
            <a:avLst/>
          </a:prstGeom>
          <a:noFill/>
        </p:spPr>
        <p:txBody>
          <a:bodyPr wrap="square">
            <a:spAutoFit/>
          </a:bodyPr>
          <a:lstStyle/>
          <a:p>
            <a:r>
              <a:rPr sz="1300" b="0" i="0">
                <a:solidFill>
                  <a:srgbClr val="2B2B2B"/>
                </a:solidFill>
                <a:latin typeface="Arial"/>
              </a:rPr>
              <a:t>Chaque package a un seul rôle : </a:t>
            </a:r>
            <a:r>
              <a:rPr sz="1300" b="1" i="0">
                <a:solidFill>
                  <a:srgbClr val="2B2B2B"/>
                </a:solidFill>
                <a:latin typeface="Arial"/>
              </a:rPr>
              <a:t>app/</a:t>
            </a:r>
            <a:r>
              <a:rPr sz="1300" b="0" i="0">
                <a:solidFill>
                  <a:srgbClr val="2B2B2B"/>
                </a:solidFill>
                <a:latin typeface="Arial"/>
              </a:rPr>
              <a:t> parle HTTP, </a:t>
            </a:r>
            <a:r>
              <a:rPr sz="1300" b="1" i="0">
                <a:solidFill>
                  <a:srgbClr val="2B2B2B"/>
                </a:solidFill>
                <a:latin typeface="Arial"/>
              </a:rPr>
              <a:t>modele/</a:t>
            </a:r>
            <a:r>
              <a:rPr sz="1300" b="0" i="0">
                <a:solidFill>
                  <a:srgbClr val="2B2B2B"/>
                </a:solidFill>
                <a:latin typeface="Arial"/>
              </a:rPr>
              <a:t> prédit, </a:t>
            </a:r>
            <a:r>
              <a:rPr sz="1300" b="1" i="0">
                <a:solidFill>
                  <a:srgbClr val="2B2B2B"/>
                </a:solidFill>
                <a:latin typeface="Arial"/>
              </a:rPr>
              <a:t>db/</a:t>
            </a:r>
            <a:r>
              <a:rPr sz="1300" b="0" i="0">
                <a:solidFill>
                  <a:srgbClr val="2B2B2B"/>
                </a:solidFill>
                <a:latin typeface="Arial"/>
              </a:rPr>
              <a:t> mémorise. Aucun ne connaît l'intérieur des autres.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Le modèle servi</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Entraîné en amont — ce projet le consomme, il ne le ré-entraîne jamais</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4</a:t>
            </a:r>
          </a:p>
        </p:txBody>
      </p:sp>
      <p:sp>
        <p:nvSpPr>
          <p:cNvPr id="7" name="TextBox 6"/>
          <p:cNvSpPr txBox="1"/>
          <p:nvPr/>
        </p:nvSpPr>
        <p:spPr>
          <a:xfrm>
            <a:off x="777240" y="1783080"/>
            <a:ext cx="10637215" cy="4343400"/>
          </a:xfrm>
          <a:prstGeom prst="rect">
            <a:avLst/>
          </a:prstGeom>
          <a:noFill/>
        </p:spPr>
        <p:txBody>
          <a:bodyPr wrap="square">
            <a:spAutoFit/>
          </a:bodyPr>
          <a:lstStyle/>
          <a:p>
            <a:pPr>
              <a:spcAft>
                <a:spcPts val="832"/>
              </a:spcAft>
            </a:pPr>
            <a:r>
              <a:rPr sz="1600" b="0" i="0">
                <a:solidFill>
                  <a:srgbClr val="2B2B2B"/>
                </a:solidFill>
                <a:latin typeface="Arial"/>
              </a:rPr>
              <a:t>•  Chargé une seule fois au démarrage depuis </a:t>
            </a:r>
            <a:r>
              <a:rPr sz="1600" b="1" i="0">
                <a:solidFill>
                  <a:srgbClr val="2B2B2B"/>
                </a:solidFill>
                <a:latin typeface="Arial"/>
              </a:rPr>
              <a:t>modele_attrition.joblib</a:t>
            </a:r>
          </a:p>
          <a:p>
            <a:pPr>
              <a:spcAft>
                <a:spcPts val="832"/>
              </a:spcAft>
            </a:pPr>
            <a:r>
              <a:rPr sz="1600" b="0" i="0">
                <a:solidFill>
                  <a:srgbClr val="2B2B2B"/>
                </a:solidFill>
                <a:latin typeface="Arial"/>
              </a:rPr>
              <a:t>•  Le fichier contient le </a:t>
            </a:r>
            <a:r>
              <a:rPr sz="1600" b="1" i="0">
                <a:solidFill>
                  <a:srgbClr val="2B2B2B"/>
                </a:solidFill>
                <a:latin typeface="Arial"/>
              </a:rPr>
              <a:t>pipeline</a:t>
            </a:r>
            <a:r>
              <a:rPr sz="1600" b="0" i="0">
                <a:solidFill>
                  <a:srgbClr val="2B2B2B"/>
                </a:solidFill>
                <a:latin typeface="Arial"/>
              </a:rPr>
              <a:t>, le </a:t>
            </a:r>
            <a:r>
              <a:rPr sz="1600" b="1" i="0">
                <a:solidFill>
                  <a:srgbClr val="2B2B2B"/>
                </a:solidFill>
                <a:latin typeface="Arial"/>
              </a:rPr>
              <a:t>seuil</a:t>
            </a:r>
            <a:r>
              <a:rPr sz="1600" b="0" i="0">
                <a:solidFill>
                  <a:srgbClr val="2B2B2B"/>
                </a:solidFill>
                <a:latin typeface="Arial"/>
              </a:rPr>
              <a:t>, les </a:t>
            </a:r>
            <a:r>
              <a:rPr sz="1600" b="1" i="0">
                <a:solidFill>
                  <a:srgbClr val="2B2B2B"/>
                </a:solidFill>
                <a:latin typeface="Arial"/>
              </a:rPr>
              <a:t>37 colonnes attendues</a:t>
            </a:r>
            <a:r>
              <a:rPr sz="1600" b="0" i="0">
                <a:solidFill>
                  <a:srgbClr val="2B2B2B"/>
                </a:solidFill>
                <a:latin typeface="Arial"/>
              </a:rPr>
              <a:t> et les </a:t>
            </a:r>
            <a:r>
              <a:rPr sz="1600" b="1" i="0">
                <a:solidFill>
                  <a:srgbClr val="2B2B2B"/>
                </a:solidFill>
                <a:latin typeface="Arial"/>
              </a:rPr>
              <a:t>versions des librairies</a:t>
            </a:r>
          </a:p>
          <a:p>
            <a:pPr>
              <a:spcAft>
                <a:spcPts val="832"/>
              </a:spcAft>
            </a:pPr>
            <a:r>
              <a:rPr sz="1600" b="0" i="0">
                <a:solidFill>
                  <a:srgbClr val="2B2B2B"/>
                </a:solidFill>
                <a:latin typeface="Arial"/>
              </a:rPr>
              <a:t>•  Seuil de décision </a:t>
            </a:r>
            <a:r>
              <a:rPr sz="1600" b="1" i="0">
                <a:solidFill>
                  <a:srgbClr val="2B2B2B"/>
                </a:solidFill>
                <a:latin typeface="Arial"/>
              </a:rPr>
              <a:t>0,2941</a:t>
            </a:r>
            <a:r>
              <a:rPr sz="1600" b="0" i="0">
                <a:solidFill>
                  <a:srgbClr val="2B2B2B"/>
                </a:solidFill>
                <a:latin typeface="Arial"/>
              </a:rPr>
              <a:t> et non 0,5 — choisi pour détecter davantage de départs réels</a:t>
            </a:r>
          </a:p>
        </p:txBody>
      </p:sp>
      <p:graphicFrame>
        <p:nvGraphicFramePr>
          <p:cNvPr id="8" name="Table 7"/>
          <p:cNvGraphicFramePr>
            <a:graphicFrameLocks noGrp="1"/>
          </p:cNvGraphicFramePr>
          <p:nvPr/>
        </p:nvGraphicFramePr>
        <p:xfrm>
          <a:off x="777240" y="3200400"/>
          <a:ext cx="10607040" cy="914400"/>
        </p:xfrm>
        <a:graphic>
          <a:graphicData uri="http://schemas.openxmlformats.org/drawingml/2006/table">
            <a:tbl>
              <a:tblPr firstRow="1" bandRow="1">
                <a:tableStyleId>{5C22544A-7EE6-4342-B048-85BDC9FD1C3A}</a:tableStyleId>
              </a:tblPr>
              <a:tblGrid>
                <a:gridCol w="2121408"/>
                <a:gridCol w="2121408"/>
                <a:gridCol w="2121408"/>
                <a:gridCol w="2121408"/>
                <a:gridCol w="2121408"/>
              </a:tblGrid>
              <a:tr h="457200">
                <a:tc>
                  <a:txBody>
                    <a:bodyPr/>
                    <a:lstStyle/>
                    <a:p>
                      <a:r>
                        <a:rPr sz="1500" b="1" i="0">
                          <a:solidFill>
                            <a:srgbClr val="FFFFFF"/>
                          </a:solidFill>
                          <a:latin typeface="Arial"/>
                        </a:rPr>
                        <a:t>Précision</a:t>
                      </a:r>
                    </a:p>
                  </a:txBody>
                  <a:tcPr anchor="ctr" marL="109728" marT="36576" marB="36576">
                    <a:solidFill>
                      <a:srgbClr val="1B3A5B"/>
                    </a:solidFill>
                  </a:tcPr>
                </a:tc>
                <a:tc>
                  <a:txBody>
                    <a:bodyPr/>
                    <a:lstStyle/>
                    <a:p>
                      <a:r>
                        <a:rPr sz="1500" b="1" i="0">
                          <a:solidFill>
                            <a:srgbClr val="FFFFFF"/>
                          </a:solidFill>
                          <a:latin typeface="Arial"/>
                        </a:rPr>
                        <a:t>Rappel</a:t>
                      </a:r>
                    </a:p>
                  </a:txBody>
                  <a:tcPr anchor="ctr" marL="109728" marT="36576" marB="36576">
                    <a:solidFill>
                      <a:srgbClr val="1B3A5B"/>
                    </a:solidFill>
                  </a:tcPr>
                </a:tc>
                <a:tc>
                  <a:txBody>
                    <a:bodyPr/>
                    <a:lstStyle/>
                    <a:p>
                      <a:r>
                        <a:rPr sz="1500" b="1" i="0">
                          <a:solidFill>
                            <a:srgbClr val="FFFFFF"/>
                          </a:solidFill>
                          <a:latin typeface="Arial"/>
                        </a:rPr>
                        <a:t>F1-score</a:t>
                      </a:r>
                    </a:p>
                  </a:txBody>
                  <a:tcPr anchor="ctr" marL="109728" marT="36576" marB="36576">
                    <a:solidFill>
                      <a:srgbClr val="1B3A5B"/>
                    </a:solidFill>
                  </a:tcPr>
                </a:tc>
                <a:tc>
                  <a:txBody>
                    <a:bodyPr/>
                    <a:lstStyle/>
                    <a:p>
                      <a:r>
                        <a:rPr sz="1500" b="1" i="0">
                          <a:solidFill>
                            <a:srgbClr val="FFFFFF"/>
                          </a:solidFill>
                          <a:latin typeface="Arial"/>
                        </a:rPr>
                        <a:t>AUROC</a:t>
                      </a:r>
                    </a:p>
                  </a:txBody>
                  <a:tcPr anchor="ctr" marL="109728" marT="36576" marB="36576">
                    <a:solidFill>
                      <a:srgbClr val="1B3A5B"/>
                    </a:solidFill>
                  </a:tcPr>
                </a:tc>
                <a:tc>
                  <a:txBody>
                    <a:bodyPr/>
                    <a:lstStyle/>
                    <a:p>
                      <a:r>
                        <a:rPr sz="1500" b="1" i="0">
                          <a:solidFill>
                            <a:srgbClr val="FFFFFF"/>
                          </a:solidFill>
                          <a:latin typeface="Arial"/>
                        </a:rPr>
                        <a:t>AUPRC</a:t>
                      </a:r>
                    </a:p>
                  </a:txBody>
                  <a:tcPr anchor="ctr" marL="109728" marT="36576" marB="36576">
                    <a:solidFill>
                      <a:srgbClr val="1B3A5B"/>
                    </a:solidFill>
                  </a:tcPr>
                </a:tc>
              </a:tr>
              <a:tr h="457200">
                <a:tc>
                  <a:txBody>
                    <a:bodyPr/>
                    <a:lstStyle/>
                    <a:p>
                      <a:r>
                        <a:rPr sz="1500" b="0" i="0">
                          <a:solidFill>
                            <a:srgbClr val="2B2B2B"/>
                          </a:solidFill>
                          <a:latin typeface="Arial"/>
                        </a:rPr>
                        <a:t>0,54</a:t>
                      </a:r>
                    </a:p>
                  </a:txBody>
                  <a:tcPr anchor="ctr" marL="109728" marT="36576" marB="36576">
                    <a:solidFill>
                      <a:srgbClr val="FFFFFF"/>
                    </a:solidFill>
                  </a:tcPr>
                </a:tc>
                <a:tc>
                  <a:txBody>
                    <a:bodyPr/>
                    <a:lstStyle/>
                    <a:p>
                      <a:r>
                        <a:rPr sz="1500" b="0" i="0">
                          <a:solidFill>
                            <a:srgbClr val="2B2B2B"/>
                          </a:solidFill>
                          <a:latin typeface="Arial"/>
                        </a:rPr>
                        <a:t>0,57</a:t>
                      </a:r>
                    </a:p>
                  </a:txBody>
                  <a:tcPr anchor="ctr" marL="109728" marT="36576" marB="36576">
                    <a:solidFill>
                      <a:srgbClr val="FFFFFF"/>
                    </a:solidFill>
                  </a:tcPr>
                </a:tc>
                <a:tc>
                  <a:txBody>
                    <a:bodyPr/>
                    <a:lstStyle/>
                    <a:p>
                      <a:r>
                        <a:rPr sz="1500" b="0" i="0">
                          <a:solidFill>
                            <a:srgbClr val="2B2B2B"/>
                          </a:solidFill>
                          <a:latin typeface="Arial"/>
                        </a:rPr>
                        <a:t>0,56</a:t>
                      </a:r>
                    </a:p>
                  </a:txBody>
                  <a:tcPr anchor="ctr" marL="109728" marT="36576" marB="36576">
                    <a:solidFill>
                      <a:srgbClr val="FFFFFF"/>
                    </a:solidFill>
                  </a:tcPr>
                </a:tc>
                <a:tc>
                  <a:txBody>
                    <a:bodyPr/>
                    <a:lstStyle/>
                    <a:p>
                      <a:r>
                        <a:rPr sz="1500" b="0" i="0">
                          <a:solidFill>
                            <a:srgbClr val="2B2B2B"/>
                          </a:solidFill>
                          <a:latin typeface="Arial"/>
                        </a:rPr>
                        <a:t>0,837</a:t>
                      </a:r>
                    </a:p>
                  </a:txBody>
                  <a:tcPr anchor="ctr" marL="109728" marT="36576" marB="36576">
                    <a:solidFill>
                      <a:srgbClr val="FFFFFF"/>
                    </a:solidFill>
                  </a:tcPr>
                </a:tc>
                <a:tc>
                  <a:txBody>
                    <a:bodyPr/>
                    <a:lstStyle/>
                    <a:p>
                      <a:r>
                        <a:rPr sz="1500" b="0" i="0">
                          <a:solidFill>
                            <a:srgbClr val="2B2B2B"/>
                          </a:solidFill>
                          <a:latin typeface="Arial"/>
                        </a:rPr>
                        <a:t>0,568</a:t>
                      </a:r>
                    </a:p>
                  </a:txBody>
                  <a:tcPr anchor="ctr" marL="109728" marT="36576" marB="36576">
                    <a:solidFill>
                      <a:srgbClr val="FFFFFF"/>
                    </a:solidFill>
                  </a:tcPr>
                </a:tc>
              </a:tr>
            </a:tbl>
          </a:graphicData>
        </a:graphic>
      </p:graphicFrame>
      <p:sp>
        <p:nvSpPr>
          <p:cNvPr id="9" name="TextBox 8"/>
          <p:cNvSpPr txBox="1"/>
          <p:nvPr/>
        </p:nvSpPr>
        <p:spPr>
          <a:xfrm>
            <a:off x="777240" y="4297680"/>
            <a:ext cx="10637215" cy="914400"/>
          </a:xfrm>
          <a:prstGeom prst="rect">
            <a:avLst/>
          </a:prstGeom>
          <a:noFill/>
        </p:spPr>
        <p:txBody>
          <a:bodyPr wrap="square">
            <a:spAutoFit/>
          </a:bodyPr>
          <a:lstStyle/>
          <a:p>
            <a:r>
              <a:rPr sz="1500" b="0" i="0">
                <a:solidFill>
                  <a:srgbClr val="2B2B2B"/>
                </a:solidFill>
                <a:latin typeface="Arial"/>
              </a:rPr>
              <a:t>Pourquoi le rappel compte ici : rater un employé qui part coûte bien plus cher qu'une fausse alerte. Le seuil traduit ce compromis métier, donc l'API doit l'appliquer — jamais le 0,5 par défaut.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Le piège à éviter : le décalage entraînement / production</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5</a:t>
            </a:r>
          </a:p>
        </p:txBody>
      </p:sp>
      <p:sp>
        <p:nvSpPr>
          <p:cNvPr id="6" name="TextBox 5"/>
          <p:cNvSpPr txBox="1"/>
          <p:nvPr/>
        </p:nvSpPr>
        <p:spPr>
          <a:xfrm>
            <a:off x="777240" y="1417320"/>
            <a:ext cx="10637215" cy="4709160"/>
          </a:xfrm>
          <a:prstGeom prst="rect">
            <a:avLst/>
          </a:prstGeom>
          <a:noFill/>
        </p:spPr>
        <p:txBody>
          <a:bodyPr wrap="square">
            <a:spAutoFit/>
          </a:bodyPr>
          <a:lstStyle/>
          <a:p>
            <a:pPr>
              <a:spcAft>
                <a:spcPts val="832"/>
              </a:spcAft>
            </a:pPr>
            <a:r>
              <a:rPr sz="1600" b="0" i="0">
                <a:solidFill>
                  <a:srgbClr val="2B2B2B"/>
                </a:solidFill>
                <a:latin typeface="Arial"/>
              </a:rPr>
              <a:t>•  Le modèle attend </a:t>
            </a:r>
            <a:r>
              <a:rPr sz="1600" b="1" i="0">
                <a:solidFill>
                  <a:srgbClr val="2B2B2B"/>
                </a:solidFill>
                <a:latin typeface="Arial"/>
              </a:rPr>
              <a:t>37 colonnes</a:t>
            </a:r>
            <a:r>
              <a:rPr sz="1600" b="0" i="0">
                <a:solidFill>
                  <a:srgbClr val="2B2B2B"/>
                </a:solidFill>
                <a:latin typeface="Arial"/>
              </a:rPr>
              <a:t> : 27 champs bruts + </a:t>
            </a:r>
            <a:r>
              <a:rPr sz="1600" b="1" i="0">
                <a:solidFill>
                  <a:srgbClr val="2B2B2B"/>
                </a:solidFill>
                <a:latin typeface="Arial"/>
              </a:rPr>
              <a:t>10 calculées</a:t>
            </a:r>
            <a:r>
              <a:rPr sz="1600" b="0" i="0">
                <a:solidFill>
                  <a:srgbClr val="2B2B2B"/>
                </a:solidFill>
                <a:latin typeface="Arial"/>
              </a:rPr>
              <a:t> (taux_promotion, zone_distance…)</a:t>
            </a:r>
          </a:p>
          <a:p>
            <a:pPr>
              <a:spcAft>
                <a:spcPts val="832"/>
              </a:spcAft>
            </a:pPr>
            <a:r>
              <a:rPr sz="1600" b="0" i="0">
                <a:solidFill>
                  <a:srgbClr val="2B2B2B"/>
                </a:solidFill>
                <a:latin typeface="Arial"/>
              </a:rPr>
              <a:t>•  </a:t>
            </a:r>
            <a:r>
              <a:rPr sz="1600" b="1" i="0">
                <a:solidFill>
                  <a:srgbClr val="2B2B2B"/>
                </a:solidFill>
                <a:latin typeface="Arial"/>
              </a:rPr>
              <a:t>Risque :</a:t>
            </a:r>
            <a:r>
              <a:rPr sz="1600" b="0" i="0">
                <a:solidFill>
                  <a:srgbClr val="2B2B2B"/>
                </a:solidFill>
                <a:latin typeface="Arial"/>
              </a:rPr>
              <a:t> si l'API les calcule différemment du notebook d'entraînement, la performance baisse </a:t>
            </a:r>
            <a:r>
              <a:rPr sz="1600" b="1" i="0">
                <a:solidFill>
                  <a:srgbClr val="2B2B2B"/>
                </a:solidFill>
                <a:latin typeface="Arial"/>
              </a:rPr>
              <a:t>silencieusement</a:t>
            </a:r>
          </a:p>
          <a:p>
            <a:pPr>
              <a:spcAft>
                <a:spcPts val="832"/>
              </a:spcAft>
            </a:pPr>
            <a:r>
              <a:rPr sz="1600" b="0" i="0">
                <a:solidFill>
                  <a:srgbClr val="2B2B2B"/>
                </a:solidFill>
                <a:latin typeface="Arial"/>
              </a:rPr>
              <a:t>•  </a:t>
            </a:r>
            <a:r>
              <a:rPr sz="1600" b="1" i="0">
                <a:solidFill>
                  <a:srgbClr val="2B2B2B"/>
                </a:solidFill>
                <a:latin typeface="Arial"/>
              </a:rPr>
              <a:t>Solution :</a:t>
            </a:r>
            <a:r>
              <a:rPr sz="1600" b="0" i="0">
                <a:solidFill>
                  <a:srgbClr val="2B2B2B"/>
                </a:solidFill>
                <a:latin typeface="Arial"/>
              </a:rPr>
              <a:t> une seule fonction partagée, </a:t>
            </a:r>
            <a:r>
              <a:rPr sz="1600" b="1" i="0">
                <a:solidFill>
                  <a:srgbClr val="2B2B2B"/>
                </a:solidFill>
                <a:latin typeface="Arial"/>
              </a:rPr>
              <a:t>modele/features.py</a:t>
            </a:r>
            <a:r>
              <a:rPr sz="1600" b="0" i="0">
                <a:solidFill>
                  <a:srgbClr val="2B2B2B"/>
                </a:solidFill>
                <a:latin typeface="Arial"/>
              </a:rPr>
              <a:t>, avec les formules exactes du notebook</a:t>
            </a:r>
          </a:p>
          <a:p>
            <a:pPr>
              <a:spcAft>
                <a:spcPts val="832"/>
              </a:spcAft>
            </a:pPr>
            <a:r>
              <a:rPr sz="1600" b="0" i="0">
                <a:solidFill>
                  <a:srgbClr val="2B2B2B"/>
                </a:solidFill>
                <a:latin typeface="Arial"/>
              </a:rPr>
              <a:t>•  </a:t>
            </a:r>
            <a:r>
              <a:rPr sz="1600" b="1" i="0">
                <a:solidFill>
                  <a:srgbClr val="2B2B2B"/>
                </a:solidFill>
                <a:latin typeface="Arial"/>
              </a:rPr>
              <a:t>Vérification :</a:t>
            </a:r>
            <a:r>
              <a:rPr sz="1600" b="0" i="0">
                <a:solidFill>
                  <a:srgbClr val="2B2B2B"/>
                </a:solidFill>
                <a:latin typeface="Arial"/>
              </a:rPr>
              <a:t> features et probabilités identiques au notebook sur les </a:t>
            </a:r>
            <a:r>
              <a:rPr sz="1600" b="1" i="0">
                <a:solidFill>
                  <a:srgbClr val="2B2B2B"/>
                </a:solidFill>
                <a:latin typeface="Arial"/>
              </a:rPr>
              <a:t>1 470 employés</a:t>
            </a:r>
            <a:r>
              <a:rPr sz="1600" b="0" i="0">
                <a:solidFill>
                  <a:srgbClr val="2B2B2B"/>
                </a:solidFill>
                <a:latin typeface="Arial"/>
              </a:rPr>
              <a:t> (écart max 0,0)</a:t>
            </a:r>
          </a:p>
          <a:p>
            <a:pPr>
              <a:spcAft>
                <a:spcPts val="832"/>
              </a:spcAft>
            </a:pPr>
            <a:r>
              <a:rPr sz="1600" b="0" i="0">
                <a:solidFill>
                  <a:srgbClr val="2B2B2B"/>
                </a:solidFill>
                <a:latin typeface="Arial"/>
              </a:rPr>
              <a:t>•  L'API </a:t>
            </a:r>
            <a:r>
              <a:rPr sz="1600" b="1" i="0">
                <a:solidFill>
                  <a:srgbClr val="2B2B2B"/>
                </a:solidFill>
                <a:latin typeface="Arial"/>
              </a:rPr>
              <a:t>refuse</a:t>
            </a:r>
            <a:r>
              <a:rPr sz="1600" b="0" i="0">
                <a:solidFill>
                  <a:srgbClr val="2B2B2B"/>
                </a:solidFill>
                <a:latin typeface="Arial"/>
              </a:rPr>
              <a:t> une feature calculée envoyée par un client (HTTP 422) — c'est elle qui la calcule</a:t>
            </a:r>
          </a:p>
        </p:txBody>
      </p:sp>
      <p:sp>
        <p:nvSpPr>
          <p:cNvPr id="7" name="Rectangle 6"/>
          <p:cNvSpPr/>
          <p:nvPr/>
        </p:nvSpPr>
        <p:spPr>
          <a:xfrm>
            <a:off x="777240" y="4069080"/>
            <a:ext cx="10637215" cy="548640"/>
          </a:xfrm>
          <a:prstGeom prst="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i="0">
                <a:solidFill>
                  <a:srgbClr val="2B2B2B"/>
                </a:solidFill>
                <a:latin typeface="Arial"/>
              </a:rPr>
              <a:t>df["taux_promotion"] = df["annees_depuis_la_derniere_promotion"] / (df["annees_dans_l_entreprise"] + 1)</a:t>
            </a:r>
          </a:p>
        </p:txBody>
      </p:sp>
      <p:sp>
        <p:nvSpPr>
          <p:cNvPr id="8" name="TextBox 7"/>
          <p:cNvSpPr txBox="1"/>
          <p:nvPr/>
        </p:nvSpPr>
        <p:spPr>
          <a:xfrm>
            <a:off x="777240" y="4709160"/>
            <a:ext cx="10637215" cy="548640"/>
          </a:xfrm>
          <a:prstGeom prst="rect">
            <a:avLst/>
          </a:prstGeom>
          <a:noFill/>
        </p:spPr>
        <p:txBody>
          <a:bodyPr wrap="square">
            <a:spAutoFit/>
          </a:bodyPr>
          <a:lstStyle/>
          <a:p>
            <a:r>
              <a:rPr sz="1400" b="1" i="0">
                <a:solidFill>
                  <a:srgbClr val="2F7D7A"/>
                </a:solidFill>
                <a:latin typeface="Arial"/>
              </a:rPr>
              <a:t>Un seul chemin de code pour l'entraînement et la production = aucune divergence possible.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L'API</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6</a:t>
            </a:r>
          </a:p>
        </p:txBody>
      </p:sp>
      <p:graphicFrame>
        <p:nvGraphicFramePr>
          <p:cNvPr id="6" name="Table 5"/>
          <p:cNvGraphicFramePr>
            <a:graphicFrameLocks noGrp="1"/>
          </p:cNvGraphicFramePr>
          <p:nvPr/>
        </p:nvGraphicFramePr>
        <p:xfrm>
          <a:off x="777240" y="1417320"/>
          <a:ext cx="10607040" cy="2057400"/>
        </p:xfrm>
        <a:graphic>
          <a:graphicData uri="http://schemas.openxmlformats.org/drawingml/2006/table">
            <a:tbl>
              <a:tblPr firstRow="1" bandRow="1">
                <a:tableStyleId>{5C22544A-7EE6-4342-B048-85BDC9FD1C3A}</a:tableStyleId>
              </a:tblPr>
              <a:tblGrid>
                <a:gridCol w="2377440"/>
                <a:gridCol w="1645920"/>
                <a:gridCol w="6583680"/>
              </a:tblGrid>
              <a:tr h="411480">
                <a:tc>
                  <a:txBody>
                    <a:bodyPr/>
                    <a:lstStyle/>
                    <a:p>
                      <a:r>
                        <a:rPr sz="1400" b="1" i="0">
                          <a:solidFill>
                            <a:srgbClr val="FFFFFF"/>
                          </a:solidFill>
                          <a:latin typeface="Arial"/>
                        </a:rPr>
                        <a:t>Route</a:t>
                      </a:r>
                    </a:p>
                  </a:txBody>
                  <a:tcPr anchor="ctr" marL="109728" marT="36576" marB="36576">
                    <a:solidFill>
                      <a:srgbClr val="1B3A5B"/>
                    </a:solidFill>
                  </a:tcPr>
                </a:tc>
                <a:tc>
                  <a:txBody>
                    <a:bodyPr/>
                    <a:lstStyle/>
                    <a:p>
                      <a:r>
                        <a:rPr sz="1400" b="1" i="0">
                          <a:solidFill>
                            <a:srgbClr val="FFFFFF"/>
                          </a:solidFill>
                          <a:latin typeface="Arial"/>
                        </a:rPr>
                        <a:t>Méthode</a:t>
                      </a:r>
                    </a:p>
                  </a:txBody>
                  <a:tcPr anchor="ctr" marL="109728" marT="36576" marB="36576">
                    <a:solidFill>
                      <a:srgbClr val="1B3A5B"/>
                    </a:solidFill>
                  </a:tcPr>
                </a:tc>
                <a:tc>
                  <a:txBody>
                    <a:bodyPr/>
                    <a:lstStyle/>
                    <a:p>
                      <a:r>
                        <a:rPr sz="1400" b="1" i="0">
                          <a:solidFill>
                            <a:srgbClr val="FFFFFF"/>
                          </a:solidFill>
                          <a:latin typeface="Arial"/>
                        </a:rPr>
                        <a:t>Rôle</a:t>
                      </a:r>
                    </a:p>
                  </a:txBody>
                  <a:tcPr anchor="ctr" marL="109728" marT="36576" marB="36576">
                    <a:solidFill>
                      <a:srgbClr val="1B3A5B"/>
                    </a:solidFill>
                  </a:tcPr>
                </a:tc>
              </a:tr>
              <a:tr h="411480">
                <a:tc>
                  <a:txBody>
                    <a:bodyPr/>
                    <a:lstStyle/>
                    <a:p>
                      <a:r>
                        <a:rPr sz="1400" b="0" i="0">
                          <a:solidFill>
                            <a:srgbClr val="2B2B2B"/>
                          </a:solidFill>
                          <a:latin typeface="Arial"/>
                        </a:rPr>
                        <a:t>/</a:t>
                      </a:r>
                    </a:p>
                  </a:txBody>
                  <a:tcPr anchor="ctr" marL="109728" marT="36576" marB="36576">
                    <a:solidFill>
                      <a:srgbClr val="FFFFFF"/>
                    </a:solidFill>
                  </a:tcPr>
                </a:tc>
                <a:tc>
                  <a:txBody>
                    <a:bodyPr/>
                    <a:lstStyle/>
                    <a:p>
                      <a:r>
                        <a:rPr sz="1400" b="0" i="0">
                          <a:solidFill>
                            <a:srgbClr val="2B2B2B"/>
                          </a:solidFill>
                          <a:latin typeface="Arial"/>
                        </a:rPr>
                        <a:t>GET</a:t>
                      </a:r>
                    </a:p>
                  </a:txBody>
                  <a:tcPr anchor="ctr" marL="109728" marT="36576" marB="36576">
                    <a:solidFill>
                      <a:srgbClr val="FFFFFF"/>
                    </a:solidFill>
                  </a:tcPr>
                </a:tc>
                <a:tc>
                  <a:txBody>
                    <a:bodyPr/>
                    <a:lstStyle/>
                    <a:p>
                      <a:r>
                        <a:rPr sz="1400" b="0" i="0">
                          <a:solidFill>
                            <a:srgbClr val="2B2B2B"/>
                          </a:solidFill>
                          <a:latin typeface="Arial"/>
                        </a:rPr>
                        <a:t>message d'accueil</a:t>
                      </a:r>
                    </a:p>
                  </a:txBody>
                  <a:tcPr anchor="ctr" marL="109728" marT="36576" marB="36576">
                    <a:solidFill>
                      <a:srgbClr val="FFFFFF"/>
                    </a:solidFill>
                  </a:tcPr>
                </a:tc>
              </a:tr>
              <a:tr h="411480">
                <a:tc>
                  <a:txBody>
                    <a:bodyPr/>
                    <a:lstStyle/>
                    <a:p>
                      <a:r>
                        <a:rPr sz="1400" b="0" i="0">
                          <a:solidFill>
                            <a:srgbClr val="2B2B2B"/>
                          </a:solidFill>
                          <a:latin typeface="Arial"/>
                        </a:rPr>
                        <a:t>/health</a:t>
                      </a:r>
                    </a:p>
                  </a:txBody>
                  <a:tcPr anchor="ctr" marL="109728" marT="36576" marB="36576">
                    <a:solidFill>
                      <a:srgbClr val="F1F5F7"/>
                    </a:solidFill>
                  </a:tcPr>
                </a:tc>
                <a:tc>
                  <a:txBody>
                    <a:bodyPr/>
                    <a:lstStyle/>
                    <a:p>
                      <a:r>
                        <a:rPr sz="1400" b="0" i="0">
                          <a:solidFill>
                            <a:srgbClr val="2B2B2B"/>
                          </a:solidFill>
                          <a:latin typeface="Arial"/>
                        </a:rPr>
                        <a:t>GET</a:t>
                      </a:r>
                    </a:p>
                  </a:txBody>
                  <a:tcPr anchor="ctr" marL="109728" marT="36576" marB="36576">
                    <a:solidFill>
                      <a:srgbClr val="F1F5F7"/>
                    </a:solidFill>
                  </a:tcPr>
                </a:tc>
                <a:tc>
                  <a:txBody>
                    <a:bodyPr/>
                    <a:lstStyle/>
                    <a:p>
                      <a:r>
                        <a:rPr sz="1400" b="0" i="0">
                          <a:solidFill>
                            <a:srgbClr val="2B2B2B"/>
                          </a:solidFill>
                          <a:latin typeface="Arial"/>
                        </a:rPr>
                        <a:t>vérification de vie — fonctionne sans base de données</a:t>
                      </a:r>
                    </a:p>
                  </a:txBody>
                  <a:tcPr anchor="ctr" marL="109728" marT="36576" marB="36576">
                    <a:solidFill>
                      <a:srgbClr val="F1F5F7"/>
                    </a:solidFill>
                  </a:tcPr>
                </a:tc>
              </a:tr>
              <a:tr h="411480">
                <a:tc>
                  <a:txBody>
                    <a:bodyPr/>
                    <a:lstStyle/>
                    <a:p>
                      <a:r>
                        <a:rPr sz="1400" b="0" i="0">
                          <a:solidFill>
                            <a:srgbClr val="2B2B2B"/>
                          </a:solidFill>
                          <a:latin typeface="Arial"/>
                        </a:rPr>
                        <a:t>/docs</a:t>
                      </a:r>
                    </a:p>
                  </a:txBody>
                  <a:tcPr anchor="ctr" marL="109728" marT="36576" marB="36576">
                    <a:solidFill>
                      <a:srgbClr val="FFFFFF"/>
                    </a:solidFill>
                  </a:tcPr>
                </a:tc>
                <a:tc>
                  <a:txBody>
                    <a:bodyPr/>
                    <a:lstStyle/>
                    <a:p>
                      <a:r>
                        <a:rPr sz="1400" b="0" i="0">
                          <a:solidFill>
                            <a:srgbClr val="2B2B2B"/>
                          </a:solidFill>
                          <a:latin typeface="Arial"/>
                        </a:rPr>
                        <a:t>GET</a:t>
                      </a:r>
                    </a:p>
                  </a:txBody>
                  <a:tcPr anchor="ctr" marL="109728" marT="36576" marB="36576">
                    <a:solidFill>
                      <a:srgbClr val="FFFFFF"/>
                    </a:solidFill>
                  </a:tcPr>
                </a:tc>
                <a:tc>
                  <a:txBody>
                    <a:bodyPr/>
                    <a:lstStyle/>
                    <a:p>
                      <a:r>
                        <a:rPr sz="1400" b="0" i="0">
                          <a:solidFill>
                            <a:srgbClr val="2B2B2B"/>
                          </a:solidFill>
                          <a:latin typeface="Arial"/>
                        </a:rPr>
                        <a:t>documentation interactive, générée automatiquement</a:t>
                      </a:r>
                    </a:p>
                  </a:txBody>
                  <a:tcPr anchor="ctr" marL="109728" marT="36576" marB="36576">
                    <a:solidFill>
                      <a:srgbClr val="FFFFFF"/>
                    </a:solidFill>
                  </a:tcPr>
                </a:tc>
              </a:tr>
              <a:tr h="411480">
                <a:tc>
                  <a:txBody>
                    <a:bodyPr/>
                    <a:lstStyle/>
                    <a:p>
                      <a:r>
                        <a:rPr sz="1400" b="0" i="0">
                          <a:solidFill>
                            <a:srgbClr val="2B2B2B"/>
                          </a:solidFill>
                          <a:latin typeface="Arial"/>
                        </a:rPr>
                        <a:t>/predict</a:t>
                      </a:r>
                    </a:p>
                  </a:txBody>
                  <a:tcPr anchor="ctr" marL="109728" marT="36576" marB="36576">
                    <a:solidFill>
                      <a:srgbClr val="F1F5F7"/>
                    </a:solidFill>
                  </a:tcPr>
                </a:tc>
                <a:tc>
                  <a:txBody>
                    <a:bodyPr/>
                    <a:lstStyle/>
                    <a:p>
                      <a:r>
                        <a:rPr sz="1400" b="0" i="0">
                          <a:solidFill>
                            <a:srgbClr val="2B2B2B"/>
                          </a:solidFill>
                          <a:latin typeface="Arial"/>
                        </a:rPr>
                        <a:t>POST</a:t>
                      </a:r>
                    </a:p>
                  </a:txBody>
                  <a:tcPr anchor="ctr" marL="109728" marT="36576" marB="36576">
                    <a:solidFill>
                      <a:srgbClr val="F1F5F7"/>
                    </a:solidFill>
                  </a:tcPr>
                </a:tc>
                <a:tc>
                  <a:txBody>
                    <a:bodyPr/>
                    <a:lstStyle/>
                    <a:p>
                      <a:r>
                        <a:rPr sz="1400" b="0" i="0">
                          <a:solidFill>
                            <a:srgbClr val="2B2B2B"/>
                          </a:solidFill>
                          <a:latin typeface="Arial"/>
                        </a:rPr>
                        <a:t>prédiction pour un employé, enregistrée en base</a:t>
                      </a:r>
                    </a:p>
                  </a:txBody>
                  <a:tcPr anchor="ctr" marL="109728" marT="36576" marB="36576">
                    <a:solidFill>
                      <a:srgbClr val="F1F5F7"/>
                    </a:solidFill>
                  </a:tcPr>
                </a:tc>
              </a:tr>
            </a:tbl>
          </a:graphicData>
        </a:graphic>
      </p:graphicFrame>
      <p:sp>
        <p:nvSpPr>
          <p:cNvPr id="7" name="Rectangle 6"/>
          <p:cNvSpPr/>
          <p:nvPr/>
        </p:nvSpPr>
        <p:spPr>
          <a:xfrm>
            <a:off x="777240" y="3703320"/>
            <a:ext cx="4937760" cy="1828800"/>
          </a:xfrm>
          <a:prstGeom prst="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i="0">
                <a:solidFill>
                  <a:srgbClr val="2B2B2B"/>
                </a:solidFill>
                <a:latin typeface="Arial"/>
              </a:rPr>
              <a:t>{
  "id_prediction": 2,
  "probabilite_depart": 0.031,
  "seuil": 0.294,
  "prediction": 0,
  "label": "Reste probable"
}</a:t>
            </a:r>
          </a:p>
        </p:txBody>
      </p:sp>
      <p:sp>
        <p:nvSpPr>
          <p:cNvPr id="8" name="TextBox 7"/>
          <p:cNvSpPr txBox="1"/>
          <p:nvPr/>
        </p:nvSpPr>
        <p:spPr>
          <a:xfrm>
            <a:off x="6035040" y="3794760"/>
            <a:ext cx="5303520" cy="2331720"/>
          </a:xfrm>
          <a:prstGeom prst="rect">
            <a:avLst/>
          </a:prstGeom>
          <a:noFill/>
        </p:spPr>
        <p:txBody>
          <a:bodyPr wrap="square">
            <a:spAutoFit/>
          </a:bodyPr>
          <a:lstStyle/>
          <a:p>
            <a:pPr>
              <a:spcAft>
                <a:spcPts val="832"/>
              </a:spcAft>
            </a:pPr>
            <a:r>
              <a:rPr sz="1500" b="0" i="0">
                <a:solidFill>
                  <a:srgbClr val="2B2B2B"/>
                </a:solidFill>
                <a:latin typeface="Arial"/>
              </a:rPr>
              <a:t>•  Entrée : les </a:t>
            </a:r>
            <a:r>
              <a:rPr sz="1500" b="1" i="0">
                <a:solidFill>
                  <a:srgbClr val="2B2B2B"/>
                </a:solidFill>
                <a:latin typeface="Arial"/>
              </a:rPr>
              <a:t>27 champs bruts</a:t>
            </a:r>
            <a:r>
              <a:rPr sz="1500" b="0" i="0">
                <a:solidFill>
                  <a:srgbClr val="2B2B2B"/>
                </a:solidFill>
                <a:latin typeface="Arial"/>
              </a:rPr>
              <a:t> uniquement</a:t>
            </a:r>
          </a:p>
          <a:p>
            <a:pPr>
              <a:spcAft>
                <a:spcPts val="832"/>
              </a:spcAft>
            </a:pPr>
            <a:r>
              <a:rPr sz="1500" b="0" i="0">
                <a:solidFill>
                  <a:srgbClr val="2B2B2B"/>
                </a:solidFill>
                <a:latin typeface="Arial"/>
              </a:rPr>
              <a:t>•  </a:t>
            </a:r>
            <a:r>
              <a:rPr sz="1500" b="1" i="0">
                <a:solidFill>
                  <a:srgbClr val="2B2B2B"/>
                </a:solidFill>
                <a:latin typeface="Arial"/>
              </a:rPr>
              <a:t>id_prediction</a:t>
            </a:r>
            <a:r>
              <a:rPr sz="1500" b="0" i="0">
                <a:solidFill>
                  <a:srgbClr val="2B2B2B"/>
                </a:solidFill>
                <a:latin typeface="Arial"/>
              </a:rPr>
              <a:t> = l'identifiant de la ligne en base</a:t>
            </a:r>
          </a:p>
          <a:p>
            <a:pPr lvl="1">
              <a:spcAft>
                <a:spcPts val="832"/>
              </a:spcAft>
            </a:pPr>
            <a:r>
              <a:rPr sz="1300" b="0" i="0">
                <a:solidFill>
                  <a:srgbClr val="6B7280"/>
                </a:solidFill>
                <a:latin typeface="Arial"/>
              </a:rPr>
              <a:t>     –  le client peut retracer sa propre requête</a:t>
            </a:r>
          </a:p>
          <a:p>
            <a:pPr>
              <a:spcAft>
                <a:spcPts val="832"/>
              </a:spcAft>
            </a:pPr>
            <a:r>
              <a:rPr sz="1500" b="0" i="0">
                <a:solidFill>
                  <a:srgbClr val="2B2B2B"/>
                </a:solidFill>
                <a:latin typeface="Arial"/>
              </a:rPr>
              <a:t>•  La réponse est validée par Pydantic aussi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Deux barrières de validation</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La même règle énoncée deux fois, volontairement</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7</a:t>
            </a:r>
          </a:p>
        </p:txBody>
      </p:sp>
      <p:sp>
        <p:nvSpPr>
          <p:cNvPr id="7" name="Rounded Rectangle 6"/>
          <p:cNvSpPr/>
          <p:nvPr/>
        </p:nvSpPr>
        <p:spPr>
          <a:xfrm>
            <a:off x="777240" y="1783080"/>
            <a:ext cx="5120640" cy="23774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Barrière 1 — Pydantic (app/schemas.py)</a:t>
            </a:r>
            <a:r>
              <a:rPr sz="1300" b="0" i="0">
                <a:solidFill>
                  <a:srgbClr val="2B2B2B"/>
                </a:solidFill>
                <a:latin typeface="Arial"/>
              </a:rPr>
              <a:t>
Protège la porte HTTP
Catégorie inconnue, salaire négatif,
champ manquant, feature calculée envoyée
→ HTTP 422 avec un message clair
→ le modèle n'est jamais appelé</a:t>
            </a:r>
          </a:p>
        </p:txBody>
      </p:sp>
      <p:sp>
        <p:nvSpPr>
          <p:cNvPr id="8" name="Rounded Rectangle 7"/>
          <p:cNvSpPr/>
          <p:nvPr/>
        </p:nvSpPr>
        <p:spPr>
          <a:xfrm>
            <a:off x="6263640" y="1783080"/>
            <a:ext cx="5120640" cy="23774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Barrière 2 — PostgreSQL (db/models.py)</a:t>
            </a:r>
            <a:r>
              <a:rPr sz="1300" b="0" i="0">
                <a:solidFill>
                  <a:srgbClr val="2B2B2B"/>
                </a:solidFill>
                <a:latin typeface="Arial"/>
              </a:rPr>
              <a:t>
Protège la porte de la base
CHECK, NOT NULL, UNIQUE,
clés étrangères
→ l'écriture est refusée
→ protège toutes les entrées</a:t>
            </a:r>
          </a:p>
        </p:txBody>
      </p:sp>
      <p:sp>
        <p:nvSpPr>
          <p:cNvPr id="9" name="TextBox 8"/>
          <p:cNvSpPr txBox="1"/>
          <p:nvPr/>
        </p:nvSpPr>
        <p:spPr>
          <a:xfrm>
            <a:off x="777240" y="4389120"/>
            <a:ext cx="10637215" cy="1737360"/>
          </a:xfrm>
          <a:prstGeom prst="rect">
            <a:avLst/>
          </a:prstGeom>
          <a:noFill/>
        </p:spPr>
        <p:txBody>
          <a:bodyPr wrap="square">
            <a:spAutoFit/>
          </a:bodyPr>
          <a:lstStyle/>
          <a:p>
            <a:pPr>
              <a:spcAft>
                <a:spcPts val="832"/>
              </a:spcAft>
            </a:pPr>
            <a:r>
              <a:rPr sz="1500" b="0" i="0">
                <a:solidFill>
                  <a:srgbClr val="2B2B2B"/>
                </a:solidFill>
                <a:latin typeface="Arial"/>
              </a:rPr>
              <a:t>•  Pourquoi les deux ? Pydantic ne protège que l'API : l'import CSV, un script ou une requête SQL manuelle la contournent</a:t>
            </a:r>
          </a:p>
          <a:p>
            <a:pPr>
              <a:spcAft>
                <a:spcPts val="832"/>
              </a:spcAft>
            </a:pPr>
            <a:r>
              <a:rPr sz="1500" b="0" i="0">
                <a:solidFill>
                  <a:srgbClr val="2B2B2B"/>
                </a:solidFill>
                <a:latin typeface="Arial"/>
              </a:rPr>
              <a:t>•  Les valeurs autorisées sont exactement </a:t>
            </a:r>
            <a:r>
              <a:rPr sz="1500" b="1" i="0">
                <a:solidFill>
                  <a:srgbClr val="2B2B2B"/>
                </a:solidFill>
                <a:latin typeface="Arial"/>
              </a:rPr>
              <a:t>les catégories vues à l'entraînement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Schéma de la base de données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6 tables, 2 groupes — UML complet dans docs/db_schema.md</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8</a:t>
            </a:r>
          </a:p>
        </p:txBody>
      </p:sp>
      <p:sp>
        <p:nvSpPr>
          <p:cNvPr id="7" name="Rounded Rectangle 6"/>
          <p:cNvSpPr/>
          <p:nvPr/>
        </p:nvSpPr>
        <p:spPr>
          <a:xfrm>
            <a:off x="777240" y="1783080"/>
            <a:ext cx="5120640" cy="411480"/>
          </a:xfrm>
          <a:prstGeom prst="roundRect">
            <a:avLst/>
          </a:prstGeom>
          <a:solidFill>
            <a:srgbClr val="1B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Arial"/>
              </a:rPr>
              <a:t>DATASET</a:t>
            </a:r>
            <a:r>
              <a:rPr sz="1300" b="1" i="0">
                <a:solidFill>
                  <a:srgbClr val="FFFFFF"/>
                </a:solidFill>
                <a:latin typeface="Arial"/>
              </a:rPr>
              <a:t> (chargé une fois)</a:t>
            </a:r>
          </a:p>
        </p:txBody>
      </p:sp>
      <p:sp>
        <p:nvSpPr>
          <p:cNvPr id="8" name="Rounded Rectangle 7"/>
          <p:cNvSpPr/>
          <p:nvPr/>
        </p:nvSpPr>
        <p:spPr>
          <a:xfrm>
            <a:off x="777240" y="2286000"/>
            <a:ext cx="5120640" cy="155448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i="0">
                <a:solidFill>
                  <a:srgbClr val="2B2B2B"/>
                </a:solidFill>
                <a:latin typeface="Arial"/>
              </a:rPr>
              <a:t>employee  1 ── 1  evaluation
employee  1 ── 1  sondage  (cible)
jointes par id_employee
1 470 lignes chacune</a:t>
            </a:r>
          </a:p>
        </p:txBody>
      </p:sp>
      <p:sp>
        <p:nvSpPr>
          <p:cNvPr id="9" name="Rounded Rectangle 8"/>
          <p:cNvSpPr/>
          <p:nvPr/>
        </p:nvSpPr>
        <p:spPr>
          <a:xfrm>
            <a:off x="6263640" y="1783080"/>
            <a:ext cx="5120640" cy="411480"/>
          </a:xfrm>
          <a:prstGeom prst="roundRect">
            <a:avLst/>
          </a:prstGeom>
          <a:solidFill>
            <a:srgbClr val="1B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Arial"/>
              </a:rPr>
              <a:t>TRAÇABILITÉ</a:t>
            </a:r>
            <a:r>
              <a:rPr sz="1300" b="1" i="0">
                <a:solidFill>
                  <a:srgbClr val="FFFFFF"/>
                </a:solidFill>
                <a:latin typeface="Arial"/>
              </a:rPr>
              <a:t> (grandit à chaque appel)</a:t>
            </a:r>
          </a:p>
        </p:txBody>
      </p:sp>
      <p:sp>
        <p:nvSpPr>
          <p:cNvPr id="10" name="Rounded Rectangle 9"/>
          <p:cNvSpPr/>
          <p:nvPr/>
        </p:nvSpPr>
        <p:spPr>
          <a:xfrm>
            <a:off x="6263640" y="2286000"/>
            <a:ext cx="5120640" cy="155448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i="0">
                <a:solidFill>
                  <a:srgbClr val="2B2B2B"/>
                </a:solidFill>
                <a:latin typeface="Arial"/>
              </a:rPr>
              <a:t>prediction_input  1 ── 0..1  prediction_output
model_version  1 ── *  prediction_output
un seul output par input (UNIQUE)
supprimer des données n'efface pas l'historique</a:t>
            </a:r>
          </a:p>
        </p:txBody>
      </p:sp>
      <p:sp>
        <p:nvSpPr>
          <p:cNvPr id="11" name="TextBox 10"/>
          <p:cNvSpPr txBox="1"/>
          <p:nvPr/>
        </p:nvSpPr>
        <p:spPr>
          <a:xfrm>
            <a:off x="777240" y="4023360"/>
            <a:ext cx="10637215" cy="2103120"/>
          </a:xfrm>
          <a:prstGeom prst="rect">
            <a:avLst/>
          </a:prstGeom>
          <a:noFill/>
        </p:spPr>
        <p:txBody>
          <a:bodyPr wrap="square">
            <a:spAutoFit/>
          </a:bodyPr>
          <a:lstStyle/>
          <a:p>
            <a:pPr>
              <a:spcAft>
                <a:spcPts val="832"/>
              </a:spcAft>
            </a:pPr>
            <a:r>
              <a:rPr sz="1500" b="0" i="0">
                <a:solidFill>
                  <a:srgbClr val="2B2B2B"/>
                </a:solidFill>
                <a:latin typeface="Arial"/>
              </a:rPr>
              <a:t>•  </a:t>
            </a:r>
            <a:r>
              <a:rPr sz="1500" b="1" i="0">
                <a:solidFill>
                  <a:srgbClr val="2B2B2B"/>
                </a:solidFill>
                <a:latin typeface="Arial"/>
              </a:rPr>
              <a:t>Données brutes uniquement</a:t>
            </a:r>
            <a:r>
              <a:rPr sz="1500" b="0" i="0">
                <a:solidFill>
                  <a:srgbClr val="2B2B2B"/>
                </a:solidFill>
                <a:latin typeface="Arial"/>
              </a:rPr>
              <a:t> — les features calculées sont recalculées, jamais stockées (pas de contradiction possible)</a:t>
            </a:r>
          </a:p>
          <a:p>
            <a:pPr>
              <a:spcAft>
                <a:spcPts val="832"/>
              </a:spcAft>
            </a:pPr>
            <a:r>
              <a:rPr sz="1500" b="0" i="0">
                <a:solidFill>
                  <a:srgbClr val="2B2B2B"/>
                </a:solidFill>
                <a:latin typeface="Arial"/>
              </a:rPr>
              <a:t>•  </a:t>
            </a:r>
            <a:r>
              <a:rPr sz="1500" b="1" i="0">
                <a:solidFill>
                  <a:srgbClr val="2B2B2B"/>
                </a:solidFill>
                <a:latin typeface="Arial"/>
              </a:rPr>
              <a:t>Colonnes typées plutôt qu'un JSON</a:t>
            </a:r>
            <a:r>
              <a:rPr sz="1500" b="0" i="0">
                <a:solidFill>
                  <a:srgbClr val="2B2B2B"/>
                </a:solidFill>
                <a:latin typeface="Arial"/>
              </a:rPr>
              <a:t> — la base refuse les valeurs invalides et les données restent interrogeables</a:t>
            </a:r>
          </a:p>
          <a:p>
            <a:pPr>
              <a:spcAft>
                <a:spcPts val="832"/>
              </a:spcAft>
            </a:pPr>
            <a:r>
              <a:rPr sz="1500" b="0" i="0">
                <a:solidFill>
                  <a:srgbClr val="2B2B2B"/>
                </a:solidFill>
                <a:latin typeface="Arial"/>
              </a:rPr>
              <a:t>•  </a:t>
            </a:r>
            <a:r>
              <a:rPr sz="1500" b="1" i="0">
                <a:solidFill>
                  <a:srgbClr val="2B2B2B"/>
                </a:solidFill>
                <a:latin typeface="Arial"/>
              </a:rPr>
              <a:t>VARCHAR + CHECK plutôt qu'un ENUM PostgreSQL</a:t>
            </a:r>
            <a:r>
              <a:rPr sz="1500" b="0" i="0">
                <a:solidFill>
                  <a:srgbClr val="2B2B2B"/>
                </a:solidFill>
                <a:latin typeface="Arial"/>
              </a:rPr>
              <a:t> — même sécurité, bien plus simple à faire évoluer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La traçabilité en pratique</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Ce qui est enregistré dans chaque cas de figure</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9</a:t>
            </a:r>
          </a:p>
        </p:txBody>
      </p:sp>
      <p:graphicFrame>
        <p:nvGraphicFramePr>
          <p:cNvPr id="7" name="Table 6"/>
          <p:cNvGraphicFramePr>
            <a:graphicFrameLocks noGrp="1"/>
          </p:cNvGraphicFramePr>
          <p:nvPr/>
        </p:nvGraphicFramePr>
        <p:xfrm>
          <a:off x="777240" y="1783080"/>
          <a:ext cx="10607040" cy="2194560"/>
        </p:xfrm>
        <a:graphic>
          <a:graphicData uri="http://schemas.openxmlformats.org/drawingml/2006/table">
            <a:tbl>
              <a:tblPr firstRow="1" bandRow="1">
                <a:tableStyleId>{5C22544A-7EE6-4342-B048-85BDC9FD1C3A}</a:tableStyleId>
              </a:tblPr>
              <a:tblGrid>
                <a:gridCol w="3657600"/>
                <a:gridCol w="1371600"/>
                <a:gridCol w="5577840"/>
              </a:tblGrid>
              <a:tr h="438912">
                <a:tc>
                  <a:txBody>
                    <a:bodyPr/>
                    <a:lstStyle/>
                    <a:p>
                      <a:r>
                        <a:rPr sz="1400" b="1" i="0">
                          <a:solidFill>
                            <a:srgbClr val="FFFFFF"/>
                          </a:solidFill>
                          <a:latin typeface="Arial"/>
                        </a:rPr>
                        <a:t>Cas</a:t>
                      </a:r>
                    </a:p>
                  </a:txBody>
                  <a:tcPr anchor="ctr" marL="109728" marT="36576" marB="36576">
                    <a:solidFill>
                      <a:srgbClr val="1B3A5B"/>
                    </a:solidFill>
                  </a:tcPr>
                </a:tc>
                <a:tc>
                  <a:txBody>
                    <a:bodyPr/>
                    <a:lstStyle/>
                    <a:p>
                      <a:r>
                        <a:rPr sz="1400" b="1" i="0">
                          <a:solidFill>
                            <a:srgbClr val="FFFFFF"/>
                          </a:solidFill>
                          <a:latin typeface="Arial"/>
                        </a:rPr>
                        <a:t>HTTP</a:t>
                      </a:r>
                    </a:p>
                  </a:txBody>
                  <a:tcPr anchor="ctr" marL="109728" marT="36576" marB="36576">
                    <a:solidFill>
                      <a:srgbClr val="1B3A5B"/>
                    </a:solidFill>
                  </a:tcPr>
                </a:tc>
                <a:tc>
                  <a:txBody>
                    <a:bodyPr/>
                    <a:lstStyle/>
                    <a:p>
                      <a:r>
                        <a:rPr sz="1400" b="1" i="0">
                          <a:solidFill>
                            <a:srgbClr val="FFFFFF"/>
                          </a:solidFill>
                          <a:latin typeface="Arial"/>
                        </a:rPr>
                        <a:t>Enregistré en base</a:t>
                      </a:r>
                    </a:p>
                  </a:txBody>
                  <a:tcPr anchor="ctr" marL="109728" marT="36576" marB="36576">
                    <a:solidFill>
                      <a:srgbClr val="1B3A5B"/>
                    </a:solidFill>
                  </a:tcPr>
                </a:tc>
              </a:tr>
              <a:tr h="438912">
                <a:tc>
                  <a:txBody>
                    <a:bodyPr/>
                    <a:lstStyle/>
                    <a:p>
                      <a:r>
                        <a:rPr sz="1400" b="0" i="0">
                          <a:solidFill>
                            <a:srgbClr val="2B2B2B"/>
                          </a:solidFill>
                          <a:latin typeface="Arial"/>
                        </a:rPr>
                        <a:t>Succès</a:t>
                      </a:r>
                    </a:p>
                  </a:txBody>
                  <a:tcPr anchor="ctr" marL="109728" marT="36576" marB="36576">
                    <a:solidFill>
                      <a:srgbClr val="FFFFFF"/>
                    </a:solidFill>
                  </a:tcPr>
                </a:tc>
                <a:tc>
                  <a:txBody>
                    <a:bodyPr/>
                    <a:lstStyle/>
                    <a:p>
                      <a:r>
                        <a:rPr sz="1400" b="0" i="0">
                          <a:solidFill>
                            <a:srgbClr val="2B2B2B"/>
                          </a:solidFill>
                          <a:latin typeface="Arial"/>
                        </a:rPr>
                        <a:t>200</a:t>
                      </a:r>
                    </a:p>
                  </a:txBody>
                  <a:tcPr anchor="ctr" marL="109728" marT="36576" marB="36576">
                    <a:solidFill>
                      <a:srgbClr val="FFFFFF"/>
                    </a:solidFill>
                  </a:tcPr>
                </a:tc>
                <a:tc>
                  <a:txBody>
                    <a:bodyPr/>
                    <a:lstStyle/>
                    <a:p>
                      <a:r>
                        <a:rPr sz="1400" b="0" i="0">
                          <a:solidFill>
                            <a:srgbClr val="2B2B2B"/>
                          </a:solidFill>
                          <a:latin typeface="Arial"/>
                        </a:rPr>
                        <a:t>input + output, status = success</a:t>
                      </a:r>
                    </a:p>
                  </a:txBody>
                  <a:tcPr anchor="ctr" marL="109728" marT="36576" marB="36576">
                    <a:solidFill>
                      <a:srgbClr val="FFFFFF"/>
                    </a:solidFill>
                  </a:tcPr>
                </a:tc>
              </a:tr>
              <a:tr h="438912">
                <a:tc>
                  <a:txBody>
                    <a:bodyPr/>
                    <a:lstStyle/>
                    <a:p>
                      <a:r>
                        <a:rPr sz="1400" b="0" i="0">
                          <a:solidFill>
                            <a:srgbClr val="2B2B2B"/>
                          </a:solidFill>
                          <a:latin typeface="Arial"/>
                        </a:rPr>
                        <a:t>Données invalides</a:t>
                      </a:r>
                    </a:p>
                  </a:txBody>
                  <a:tcPr anchor="ctr" marL="109728" marT="36576" marB="36576">
                    <a:solidFill>
                      <a:srgbClr val="F1F5F7"/>
                    </a:solidFill>
                  </a:tcPr>
                </a:tc>
                <a:tc>
                  <a:txBody>
                    <a:bodyPr/>
                    <a:lstStyle/>
                    <a:p>
                      <a:r>
                        <a:rPr sz="1400" b="0" i="0">
                          <a:solidFill>
                            <a:srgbClr val="2B2B2B"/>
                          </a:solidFill>
                          <a:latin typeface="Arial"/>
                        </a:rPr>
                        <a:t>422</a:t>
                      </a:r>
                    </a:p>
                  </a:txBody>
                  <a:tcPr anchor="ctr" marL="109728" marT="36576" marB="36576">
                    <a:solidFill>
                      <a:srgbClr val="F1F5F7"/>
                    </a:solidFill>
                  </a:tcPr>
                </a:tc>
                <a:tc>
                  <a:txBody>
                    <a:bodyPr/>
                    <a:lstStyle/>
                    <a:p>
                      <a:r>
                        <a:rPr sz="1400" b="0" i="0">
                          <a:solidFill>
                            <a:srgbClr val="2B2B2B"/>
                          </a:solidFill>
                          <a:latin typeface="Arial"/>
                        </a:rPr>
                        <a:t>rien — le modèle n'a pas été appelé</a:t>
                      </a:r>
                    </a:p>
                  </a:txBody>
                  <a:tcPr anchor="ctr" marL="109728" marT="36576" marB="36576">
                    <a:solidFill>
                      <a:srgbClr val="F1F5F7"/>
                    </a:solidFill>
                  </a:tcPr>
                </a:tc>
              </a:tr>
              <a:tr h="438912">
                <a:tc>
                  <a:txBody>
                    <a:bodyPr/>
                    <a:lstStyle/>
                    <a:p>
                      <a:r>
                        <a:rPr sz="1400" b="0" i="0">
                          <a:solidFill>
                            <a:srgbClr val="2B2B2B"/>
                          </a:solidFill>
                          <a:latin typeface="Arial"/>
                        </a:rPr>
                        <a:t>Échec du modèle</a:t>
                      </a:r>
                    </a:p>
                  </a:txBody>
                  <a:tcPr anchor="ctr" marL="109728" marT="36576" marB="36576">
                    <a:solidFill>
                      <a:srgbClr val="FFFFFF"/>
                    </a:solidFill>
                  </a:tcPr>
                </a:tc>
                <a:tc>
                  <a:txBody>
                    <a:bodyPr/>
                    <a:lstStyle/>
                    <a:p>
                      <a:r>
                        <a:rPr sz="1400" b="0" i="0">
                          <a:solidFill>
                            <a:srgbClr val="2B2B2B"/>
                          </a:solidFill>
                          <a:latin typeface="Arial"/>
                        </a:rPr>
                        <a:t>500</a:t>
                      </a:r>
                    </a:p>
                  </a:txBody>
                  <a:tcPr anchor="ctr" marL="109728" marT="36576" marB="36576">
                    <a:solidFill>
                      <a:srgbClr val="FFFFFF"/>
                    </a:solidFill>
                  </a:tcPr>
                </a:tc>
                <a:tc>
                  <a:txBody>
                    <a:bodyPr/>
                    <a:lstStyle/>
                    <a:p>
                      <a:r>
                        <a:rPr sz="1400" b="0" i="0">
                          <a:solidFill>
                            <a:srgbClr val="2B2B2B"/>
                          </a:solidFill>
                          <a:latin typeface="Arial"/>
                        </a:rPr>
                        <a:t>input + output, status = error + message</a:t>
                      </a:r>
                    </a:p>
                  </a:txBody>
                  <a:tcPr anchor="ctr" marL="109728" marT="36576" marB="36576">
                    <a:solidFill>
                      <a:srgbClr val="FFFFFF"/>
                    </a:solidFill>
                  </a:tcPr>
                </a:tc>
              </a:tr>
              <a:tr h="438912">
                <a:tc>
                  <a:txBody>
                    <a:bodyPr/>
                    <a:lstStyle/>
                    <a:p>
                      <a:r>
                        <a:rPr sz="1400" b="0" i="0">
                          <a:solidFill>
                            <a:srgbClr val="2B2B2B"/>
                          </a:solidFill>
                          <a:latin typeface="Arial"/>
                        </a:rPr>
                        <a:t>Base indisponible</a:t>
                      </a:r>
                    </a:p>
                  </a:txBody>
                  <a:tcPr anchor="ctr" marL="109728" marT="36576" marB="36576">
                    <a:solidFill>
                      <a:srgbClr val="F1F5F7"/>
                    </a:solidFill>
                  </a:tcPr>
                </a:tc>
                <a:tc>
                  <a:txBody>
                    <a:bodyPr/>
                    <a:lstStyle/>
                    <a:p>
                      <a:r>
                        <a:rPr sz="1400" b="0" i="0">
                          <a:solidFill>
                            <a:srgbClr val="2B2B2B"/>
                          </a:solidFill>
                          <a:latin typeface="Arial"/>
                        </a:rPr>
                        <a:t>503</a:t>
                      </a:r>
                    </a:p>
                  </a:txBody>
                  <a:tcPr anchor="ctr" marL="109728" marT="36576" marB="36576">
                    <a:solidFill>
                      <a:srgbClr val="F1F5F7"/>
                    </a:solidFill>
                  </a:tcPr>
                </a:tc>
                <a:tc>
                  <a:txBody>
                    <a:bodyPr/>
                    <a:lstStyle/>
                    <a:p>
                      <a:r>
                        <a:rPr sz="1400" b="0" i="0">
                          <a:solidFill>
                            <a:srgbClr val="2B2B2B"/>
                          </a:solidFill>
                          <a:latin typeface="Arial"/>
                        </a:rPr>
                        <a:t>rien — et aucune prédiction n'est renvoyée</a:t>
                      </a:r>
                    </a:p>
                  </a:txBody>
                  <a:tcPr anchor="ctr" marL="109728" marT="36576" marB="36576">
                    <a:solidFill>
                      <a:srgbClr val="F1F5F7"/>
                    </a:solidFill>
                  </a:tcPr>
                </a:tc>
              </a:tr>
            </a:tbl>
          </a:graphicData>
        </a:graphic>
      </p:graphicFrame>
      <p:sp>
        <p:nvSpPr>
          <p:cNvPr id="8" name="TextBox 7"/>
          <p:cNvSpPr txBox="1"/>
          <p:nvPr/>
        </p:nvSpPr>
        <p:spPr>
          <a:xfrm>
            <a:off x="777240" y="4160520"/>
            <a:ext cx="10637215" cy="1965960"/>
          </a:xfrm>
          <a:prstGeom prst="rect">
            <a:avLst/>
          </a:prstGeom>
          <a:noFill/>
        </p:spPr>
        <p:txBody>
          <a:bodyPr wrap="square">
            <a:spAutoFit/>
          </a:bodyPr>
          <a:lstStyle/>
          <a:p>
            <a:pPr>
              <a:spcAft>
                <a:spcPts val="832"/>
              </a:spcAft>
            </a:pPr>
            <a:r>
              <a:rPr sz="1500" b="0" i="0">
                <a:solidFill>
                  <a:srgbClr val="2B2B2B"/>
                </a:solidFill>
                <a:latin typeface="Arial"/>
              </a:rPr>
              <a:t>•  Input et output sont écrits dans </a:t>
            </a:r>
            <a:r>
              <a:rPr sz="1500" b="1" i="0">
                <a:solidFill>
                  <a:srgbClr val="2B2B2B"/>
                </a:solidFill>
                <a:latin typeface="Arial"/>
              </a:rPr>
              <a:t>une seule transaction</a:t>
            </a:r>
            <a:r>
              <a:rPr sz="1500" b="0" i="0">
                <a:solidFill>
                  <a:srgbClr val="2B2B2B"/>
                </a:solidFill>
                <a:latin typeface="Arial"/>
              </a:rPr>
              <a:t> : un input ne peut pas rester orphelin</a:t>
            </a:r>
          </a:p>
          <a:p>
            <a:pPr>
              <a:spcAft>
                <a:spcPts val="832"/>
              </a:spcAft>
            </a:pPr>
            <a:r>
              <a:rPr sz="1500" b="0" i="0">
                <a:solidFill>
                  <a:srgbClr val="2B2B2B"/>
                </a:solidFill>
                <a:latin typeface="Arial"/>
              </a:rPr>
              <a:t>•  Un CHECK rend </a:t>
            </a:r>
            <a:r>
              <a:rPr sz="1500" b="1" i="0">
                <a:solidFill>
                  <a:srgbClr val="2B2B2B"/>
                </a:solidFill>
                <a:latin typeface="Arial"/>
              </a:rPr>
              <a:t>impossible</a:t>
            </a:r>
            <a:r>
              <a:rPr sz="1500" b="0" i="0">
                <a:solidFill>
                  <a:srgbClr val="2B2B2B"/>
                </a:solidFill>
                <a:latin typeface="Arial"/>
              </a:rPr>
              <a:t> « succès sans probabilité » ou « erreur sans message »</a:t>
            </a:r>
          </a:p>
          <a:p>
            <a:pPr>
              <a:spcAft>
                <a:spcPts val="832"/>
              </a:spcAft>
            </a:pPr>
            <a:r>
              <a:rPr sz="1500" b="0" i="0">
                <a:solidFill>
                  <a:srgbClr val="2B2B2B"/>
                </a:solidFill>
                <a:latin typeface="Arial"/>
              </a:rPr>
              <a:t>•  Preuve : db/verify.sql liste chaque appel avec sa probabilité, sa date et la version du modèle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Chargement du dataset</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Deux scripts, relançables sans risque</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10</a:t>
            </a:r>
          </a:p>
        </p:txBody>
      </p:sp>
      <p:sp>
        <p:nvSpPr>
          <p:cNvPr id="7" name="TextBox 6"/>
          <p:cNvSpPr txBox="1"/>
          <p:nvPr/>
        </p:nvSpPr>
        <p:spPr>
          <a:xfrm>
            <a:off x="777240" y="1783080"/>
            <a:ext cx="10637215" cy="4343400"/>
          </a:xfrm>
          <a:prstGeom prst="rect">
            <a:avLst/>
          </a:prstGeom>
          <a:noFill/>
        </p:spPr>
        <p:txBody>
          <a:bodyPr wrap="square">
            <a:spAutoFit/>
          </a:bodyPr>
          <a:lstStyle/>
          <a:p>
            <a:pPr>
              <a:spcAft>
                <a:spcPts val="832"/>
              </a:spcAft>
            </a:pPr>
            <a:r>
              <a:rPr sz="1600" b="0" i="0">
                <a:solidFill>
                  <a:srgbClr val="2B2B2B"/>
                </a:solidFill>
                <a:latin typeface="Arial"/>
              </a:rPr>
              <a:t>•  </a:t>
            </a:r>
            <a:r>
              <a:rPr sz="1600" b="1" i="0">
                <a:solidFill>
                  <a:srgbClr val="2B2B2B"/>
                </a:solidFill>
                <a:latin typeface="Arial"/>
              </a:rPr>
              <a:t>db/create_db.py</a:t>
            </a:r>
            <a:r>
              <a:rPr sz="1600" b="0" i="0">
                <a:solidFill>
                  <a:srgbClr val="2B2B2B"/>
                </a:solidFill>
                <a:latin typeface="Arial"/>
              </a:rPr>
              <a:t> — crée la base, les 6 tables, et enregistre la version du modèle</a:t>
            </a:r>
          </a:p>
          <a:p>
            <a:pPr>
              <a:spcAft>
                <a:spcPts val="832"/>
              </a:spcAft>
            </a:pPr>
            <a:r>
              <a:rPr sz="1600" b="0" i="0">
                <a:solidFill>
                  <a:srgbClr val="2B2B2B"/>
                </a:solidFill>
                <a:latin typeface="Arial"/>
              </a:rPr>
              <a:t>•  </a:t>
            </a:r>
            <a:r>
              <a:rPr sz="1600" b="1" i="0">
                <a:solidFill>
                  <a:srgbClr val="2B2B2B"/>
                </a:solidFill>
                <a:latin typeface="Arial"/>
              </a:rPr>
              <a:t>db/import_csv.py</a:t>
            </a:r>
            <a:r>
              <a:rPr sz="1600" b="0" i="0">
                <a:solidFill>
                  <a:srgbClr val="2B2B2B"/>
                </a:solidFill>
                <a:latin typeface="Arial"/>
              </a:rPr>
              <a:t> — charge les 3 fichiers RH source : 1 470 lignes dans chaque table</a:t>
            </a:r>
          </a:p>
        </p:txBody>
      </p:sp>
      <p:graphicFrame>
        <p:nvGraphicFramePr>
          <p:cNvPr id="8" name="Table 7"/>
          <p:cNvGraphicFramePr>
            <a:graphicFrameLocks noGrp="1"/>
          </p:cNvGraphicFramePr>
          <p:nvPr/>
        </p:nvGraphicFramePr>
        <p:xfrm>
          <a:off x="777240" y="2880360"/>
          <a:ext cx="10607040" cy="2057400"/>
        </p:xfrm>
        <a:graphic>
          <a:graphicData uri="http://schemas.openxmlformats.org/drawingml/2006/table">
            <a:tbl>
              <a:tblPr firstRow="1" bandRow="1">
                <a:tableStyleId>{5C22544A-7EE6-4342-B048-85BDC9FD1C3A}</a:tableStyleId>
              </a:tblPr>
              <a:tblGrid>
                <a:gridCol w="3017520"/>
                <a:gridCol w="3931920"/>
                <a:gridCol w="3657600"/>
              </a:tblGrid>
              <a:tr h="411480">
                <a:tc>
                  <a:txBody>
                    <a:bodyPr/>
                    <a:lstStyle/>
                    <a:p>
                      <a:r>
                        <a:rPr sz="1300" b="1" i="0">
                          <a:solidFill>
                            <a:srgbClr val="FFFFFF"/>
                          </a:solidFill>
                          <a:latin typeface="Arial"/>
                        </a:rPr>
                        <a:t>Fichier source</a:t>
                      </a:r>
                    </a:p>
                  </a:txBody>
                  <a:tcPr anchor="ctr" marL="109728" marT="36576" marB="36576">
                    <a:solidFill>
                      <a:srgbClr val="1B3A5B"/>
                    </a:solidFill>
                  </a:tcPr>
                </a:tc>
                <a:tc>
                  <a:txBody>
                    <a:bodyPr/>
                    <a:lstStyle/>
                    <a:p>
                      <a:r>
                        <a:rPr sz="1300" b="1" i="0">
                          <a:solidFill>
                            <a:srgbClr val="FFFFFF"/>
                          </a:solidFill>
                          <a:latin typeface="Arial"/>
                        </a:rPr>
                        <a:t>Conversion appliquée</a:t>
                      </a:r>
                    </a:p>
                  </a:txBody>
                  <a:tcPr anchor="ctr" marL="109728" marT="36576" marB="36576">
                    <a:solidFill>
                      <a:srgbClr val="1B3A5B"/>
                    </a:solidFill>
                  </a:tcPr>
                </a:tc>
                <a:tc>
                  <a:txBody>
                    <a:bodyPr/>
                    <a:lstStyle/>
                    <a:p>
                      <a:r>
                        <a:rPr sz="1300" b="1" i="0">
                          <a:solidFill>
                            <a:srgbClr val="FFFFFF"/>
                          </a:solidFill>
                          <a:latin typeface="Arial"/>
                        </a:rPr>
                        <a:t>Pourquoi</a:t>
                      </a:r>
                    </a:p>
                  </a:txBody>
                  <a:tcPr anchor="ctr" marL="109728" marT="36576" marB="36576">
                    <a:solidFill>
                      <a:srgbClr val="1B3A5B"/>
                    </a:solidFill>
                  </a:tcPr>
                </a:tc>
              </a:tr>
              <a:tr h="411480">
                <a:tc>
                  <a:txBody>
                    <a:bodyPr/>
                    <a:lstStyle/>
                    <a:p>
                      <a:r>
                        <a:rPr sz="1300" b="0" i="0">
                          <a:solidFill>
                            <a:srgbClr val="2B2B2B"/>
                          </a:solidFill>
                          <a:latin typeface="Arial"/>
                        </a:rPr>
                        <a:t>extrait_eval.csv</a:t>
                      </a:r>
                    </a:p>
                  </a:txBody>
                  <a:tcPr anchor="ctr" marL="109728" marT="36576" marB="36576">
                    <a:solidFill>
                      <a:srgbClr val="FFFFFF"/>
                    </a:solidFill>
                  </a:tcPr>
                </a:tc>
                <a:tc>
                  <a:txBody>
                    <a:bodyPr/>
                    <a:lstStyle/>
                    <a:p>
                      <a:r>
                        <a:rPr sz="1300" b="0" i="0">
                          <a:solidFill>
                            <a:srgbClr val="2B2B2B"/>
                          </a:solidFill>
                          <a:latin typeface="Arial"/>
                        </a:rPr>
                        <a:t>eval_number « E_123 » → 123</a:t>
                      </a:r>
                    </a:p>
                  </a:txBody>
                  <a:tcPr anchor="ctr" marL="109728" marT="36576" marB="36576">
                    <a:solidFill>
                      <a:srgbClr val="FFFFFF"/>
                    </a:solidFill>
                  </a:tcPr>
                </a:tc>
                <a:tc>
                  <a:txBody>
                    <a:bodyPr/>
                    <a:lstStyle/>
                    <a:p>
                      <a:r>
                        <a:rPr sz="1300" b="0" i="0">
                          <a:solidFill>
                            <a:srgbClr val="2B2B2B"/>
                          </a:solidFill>
                          <a:latin typeface="Arial"/>
                        </a:rPr>
                        <a:t>une seule clé entière pour les 3 fichiers</a:t>
                      </a:r>
                    </a:p>
                  </a:txBody>
                  <a:tcPr anchor="ctr" marL="109728" marT="36576" marB="36576">
                    <a:solidFill>
                      <a:srgbClr val="FFFFFF"/>
                    </a:solidFill>
                  </a:tcPr>
                </a:tc>
              </a:tr>
              <a:tr h="411480">
                <a:tc>
                  <a:txBody>
                    <a:bodyPr/>
                    <a:lstStyle/>
                    <a:p>
                      <a:r>
                        <a:rPr sz="1300" b="0" i="0">
                          <a:solidFill>
                            <a:srgbClr val="2B2B2B"/>
                          </a:solidFill>
                          <a:latin typeface="Arial"/>
                        </a:rPr>
                        <a:t>extrait_sondage.csv</a:t>
                      </a:r>
                    </a:p>
                  </a:txBody>
                  <a:tcPr anchor="ctr" marL="109728" marT="36576" marB="36576">
                    <a:solidFill>
                      <a:srgbClr val="F1F5F7"/>
                    </a:solidFill>
                  </a:tcPr>
                </a:tc>
                <a:tc>
                  <a:txBody>
                    <a:bodyPr/>
                    <a:lstStyle/>
                    <a:p>
                      <a:r>
                        <a:rPr sz="1300" b="0" i="0">
                          <a:solidFill>
                            <a:srgbClr val="2B2B2B"/>
                          </a:solidFill>
                          <a:latin typeface="Arial"/>
                        </a:rPr>
                        <a:t>code_sondage → id_employee</a:t>
                      </a:r>
                    </a:p>
                  </a:txBody>
                  <a:tcPr anchor="ctr" marL="109728" marT="36576" marB="36576">
                    <a:solidFill>
                      <a:srgbClr val="F1F5F7"/>
                    </a:solidFill>
                  </a:tcPr>
                </a:tc>
                <a:tc>
                  <a:txBody>
                    <a:bodyPr/>
                    <a:lstStyle/>
                    <a:p>
                      <a:r>
                        <a:rPr sz="1300" b="0" i="0">
                          <a:solidFill>
                            <a:srgbClr val="2B2B2B"/>
                          </a:solidFill>
                          <a:latin typeface="Arial"/>
                        </a:rPr>
                        <a:t>la même clé partout</a:t>
                      </a:r>
                    </a:p>
                  </a:txBody>
                  <a:tcPr anchor="ctr" marL="109728" marT="36576" marB="36576">
                    <a:solidFill>
                      <a:srgbClr val="F1F5F7"/>
                    </a:solidFill>
                  </a:tcPr>
                </a:tc>
              </a:tr>
              <a:tr h="411480">
                <a:tc>
                  <a:txBody>
                    <a:bodyPr/>
                    <a:lstStyle/>
                    <a:p>
                      <a:r>
                        <a:rPr sz="1300" b="0" i="0">
                          <a:solidFill>
                            <a:srgbClr val="2B2B2B"/>
                          </a:solidFill>
                          <a:latin typeface="Arial"/>
                        </a:rPr>
                        <a:t>extrait_eval.csv</a:t>
                      </a:r>
                    </a:p>
                  </a:txBody>
                  <a:tcPr anchor="ctr" marL="109728" marT="36576" marB="36576">
                    <a:solidFill>
                      <a:srgbClr val="FFFFFF"/>
                    </a:solidFill>
                  </a:tcPr>
                </a:tc>
                <a:tc>
                  <a:txBody>
                    <a:bodyPr/>
                    <a:lstStyle/>
                    <a:p>
                      <a:r>
                        <a:rPr sz="1300" b="0" i="0">
                          <a:solidFill>
                            <a:srgbClr val="2B2B2B"/>
                          </a:solidFill>
                          <a:latin typeface="Arial"/>
                        </a:rPr>
                        <a:t>« 11 % » → 11.0</a:t>
                      </a:r>
                    </a:p>
                  </a:txBody>
                  <a:tcPr anchor="ctr" marL="109728" marT="36576" marB="36576">
                    <a:solidFill>
                      <a:srgbClr val="FFFFFF"/>
                    </a:solidFill>
                  </a:tcPr>
                </a:tc>
                <a:tc>
                  <a:txBody>
                    <a:bodyPr/>
                    <a:lstStyle/>
                    <a:p>
                      <a:r>
                        <a:rPr sz="1300" b="0" i="0">
                          <a:solidFill>
                            <a:srgbClr val="2B2B2B"/>
                          </a:solidFill>
                          <a:latin typeface="Arial"/>
                        </a:rPr>
                        <a:t>un nombre, avec lequel on peut calculer</a:t>
                      </a:r>
                    </a:p>
                  </a:txBody>
                  <a:tcPr anchor="ctr" marL="109728" marT="36576" marB="36576">
                    <a:solidFill>
                      <a:srgbClr val="FFFFFF"/>
                    </a:solidFill>
                  </a:tcPr>
                </a:tc>
              </a:tr>
              <a:tr h="411480">
                <a:tc>
                  <a:txBody>
                    <a:bodyPr/>
                    <a:lstStyle/>
                    <a:p>
                      <a:r>
                        <a:rPr sz="1300" b="0" i="0">
                          <a:solidFill>
                            <a:srgbClr val="2B2B2B"/>
                          </a:solidFill>
                          <a:latin typeface="Arial"/>
                        </a:rPr>
                        <a:t>extrait_sondage.csv</a:t>
                      </a:r>
                    </a:p>
                  </a:txBody>
                  <a:tcPr anchor="ctr" marL="109728" marT="36576" marB="36576">
                    <a:solidFill>
                      <a:srgbClr val="F1F5F7"/>
                    </a:solidFill>
                  </a:tcPr>
                </a:tc>
                <a:tc>
                  <a:txBody>
                    <a:bodyPr/>
                    <a:lstStyle/>
                    <a:p>
                      <a:r>
                        <a:rPr sz="1300" b="0" i="0">
                          <a:solidFill>
                            <a:srgbClr val="2B2B2B"/>
                          </a:solidFill>
                          <a:latin typeface="Arial"/>
                        </a:rPr>
                        <a:t>« Oui » / « Non » → true / false</a:t>
                      </a:r>
                    </a:p>
                  </a:txBody>
                  <a:tcPr anchor="ctr" marL="109728" marT="36576" marB="36576">
                    <a:solidFill>
                      <a:srgbClr val="F1F5F7"/>
                    </a:solidFill>
                  </a:tcPr>
                </a:tc>
                <a:tc>
                  <a:txBody>
                    <a:bodyPr/>
                    <a:lstStyle/>
                    <a:p>
                      <a:r>
                        <a:rPr sz="1300" b="0" i="0">
                          <a:solidFill>
                            <a:srgbClr val="2B2B2B"/>
                          </a:solidFill>
                          <a:latin typeface="Arial"/>
                        </a:rPr>
                        <a:t>la cible en booléen</a:t>
                      </a:r>
                    </a:p>
                  </a:txBody>
                  <a:tcPr anchor="ctr" marL="109728" marT="36576" marB="36576">
                    <a:solidFill>
                      <a:srgbClr val="F1F5F7"/>
                    </a:solidFill>
                  </a:tcPr>
                </a:tc>
              </a:tr>
            </a:tbl>
          </a:graphicData>
        </a:graphic>
      </p:graphicFrame>
      <p:sp>
        <p:nvSpPr>
          <p:cNvPr id="9" name="TextBox 8"/>
          <p:cNvSpPr txBox="1"/>
          <p:nvPr/>
        </p:nvSpPr>
        <p:spPr>
          <a:xfrm>
            <a:off x="777240" y="5074920"/>
            <a:ext cx="10637215" cy="1051560"/>
          </a:xfrm>
          <a:prstGeom prst="rect">
            <a:avLst/>
          </a:prstGeom>
          <a:noFill/>
        </p:spPr>
        <p:txBody>
          <a:bodyPr wrap="square">
            <a:spAutoFit/>
          </a:bodyPr>
          <a:lstStyle/>
          <a:p>
            <a:pPr>
              <a:spcAft>
                <a:spcPts val="832"/>
              </a:spcAft>
            </a:pPr>
            <a:r>
              <a:rPr sz="1400" b="0" i="0">
                <a:solidFill>
                  <a:srgbClr val="2B2B2B"/>
                </a:solidFill>
                <a:latin typeface="Arial"/>
              </a:rPr>
              <a:t>•  L'import </a:t>
            </a:r>
            <a:r>
              <a:rPr sz="1400" b="1" i="0">
                <a:solidFill>
                  <a:srgbClr val="2B2B2B"/>
                </a:solidFill>
                <a:latin typeface="Arial"/>
              </a:rPr>
              <a:t>vérifie que les 3 fichiers décrivent les mêmes employés</a:t>
            </a:r>
            <a:r>
              <a:rPr sz="1400" b="0" i="0">
                <a:solidFill>
                  <a:srgbClr val="2B2B2B"/>
                </a:solidFill>
                <a:latin typeface="Arial"/>
              </a:rPr>
              <a:t> — un identifiant décalé associerait les données d'une personne au départ d'une autre, silencieusement</a:t>
            </a:r>
          </a:p>
          <a:p>
            <a:pPr>
              <a:spcAft>
                <a:spcPts val="832"/>
              </a:spcAft>
            </a:pPr>
            <a:r>
              <a:rPr sz="1400" b="0" i="0">
                <a:solidFill>
                  <a:srgbClr val="2B2B2B"/>
                </a:solidFill>
                <a:latin typeface="Arial"/>
              </a:rPr>
              <a:t>•  Une seule transaction : </a:t>
            </a:r>
            <a:r>
              <a:rPr sz="1400" b="1" i="0">
                <a:solidFill>
                  <a:srgbClr val="2B2B2B"/>
                </a:solidFill>
                <a:latin typeface="Arial"/>
              </a:rPr>
              <a:t>les 1 470 lignes ou aucune</a:t>
            </a:r>
            <a:r>
              <a:rPr sz="1400" b="0" i="0">
                <a:solidFill>
                  <a:srgbClr val="2B2B2B"/>
                </a:solidFill>
                <a:latin typeface="Arial"/>
              </a:rPr>
              <a:t> — jamais un dataset à moitié chargé, donc biaisé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Stratégie de tests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65 tests · 86 % de couverture · aucun PostgreSQL requis</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11</a:t>
            </a:r>
          </a:p>
        </p:txBody>
      </p:sp>
      <p:graphicFrame>
        <p:nvGraphicFramePr>
          <p:cNvPr id="7" name="Table 6"/>
          <p:cNvGraphicFramePr>
            <a:graphicFrameLocks noGrp="1"/>
          </p:cNvGraphicFramePr>
          <p:nvPr/>
        </p:nvGraphicFramePr>
        <p:xfrm>
          <a:off x="777240" y="1783080"/>
          <a:ext cx="11064240" cy="2011680"/>
        </p:xfrm>
        <a:graphic>
          <a:graphicData uri="http://schemas.openxmlformats.org/drawingml/2006/table">
            <a:tbl>
              <a:tblPr firstRow="1" bandRow="1">
                <a:tableStyleId>{5C22544A-7EE6-4342-B048-85BDC9FD1C3A}</a:tableStyleId>
              </a:tblPr>
              <a:tblGrid>
                <a:gridCol w="2926080"/>
                <a:gridCol w="4206240"/>
                <a:gridCol w="1005840"/>
                <a:gridCol w="2926080"/>
              </a:tblGrid>
              <a:tr h="502920">
                <a:tc>
                  <a:txBody>
                    <a:bodyPr/>
                    <a:lstStyle/>
                    <a:p>
                      <a:r>
                        <a:rPr sz="1300" b="1" i="0">
                          <a:solidFill>
                            <a:srgbClr val="FFFFFF"/>
                          </a:solidFill>
                          <a:latin typeface="Arial"/>
                        </a:rPr>
                        <a:t>Niveau</a:t>
                      </a:r>
                    </a:p>
                  </a:txBody>
                  <a:tcPr anchor="ctr" marL="109728" marT="36576" marB="36576">
                    <a:solidFill>
                      <a:srgbClr val="1B3A5B"/>
                    </a:solidFill>
                  </a:tcPr>
                </a:tc>
                <a:tc>
                  <a:txBody>
                    <a:bodyPr/>
                    <a:lstStyle/>
                    <a:p>
                      <a:r>
                        <a:rPr sz="1300" b="1" i="0">
                          <a:solidFill>
                            <a:srgbClr val="FFFFFF"/>
                          </a:solidFill>
                          <a:latin typeface="Arial"/>
                        </a:rPr>
                        <a:t>Fichiers</a:t>
                      </a:r>
                    </a:p>
                  </a:txBody>
                  <a:tcPr anchor="ctr" marL="109728" marT="36576" marB="36576">
                    <a:solidFill>
                      <a:srgbClr val="1B3A5B"/>
                    </a:solidFill>
                  </a:tcPr>
                </a:tc>
                <a:tc>
                  <a:txBody>
                    <a:bodyPr/>
                    <a:lstStyle/>
                    <a:p>
                      <a:r>
                        <a:rPr sz="1300" b="1" i="0">
                          <a:solidFill>
                            <a:srgbClr val="FFFFFF"/>
                          </a:solidFill>
                          <a:latin typeface="Arial"/>
                        </a:rPr>
                        <a:t>Tests</a:t>
                      </a:r>
                    </a:p>
                  </a:txBody>
                  <a:tcPr anchor="ctr" marL="109728" marT="36576" marB="36576">
                    <a:solidFill>
                      <a:srgbClr val="1B3A5B"/>
                    </a:solidFill>
                  </a:tcPr>
                </a:tc>
                <a:tc>
                  <a:txBody>
                    <a:bodyPr/>
                    <a:lstStyle/>
                    <a:p>
                      <a:r>
                        <a:rPr sz="1300" b="1" i="0">
                          <a:solidFill>
                            <a:srgbClr val="FFFFFF"/>
                          </a:solidFill>
                          <a:latin typeface="Arial"/>
                        </a:rPr>
                        <a:t>Ce qui est prouvé</a:t>
                      </a:r>
                    </a:p>
                  </a:txBody>
                  <a:tcPr anchor="ctr" marL="109728" marT="36576" marB="36576">
                    <a:solidFill>
                      <a:srgbClr val="1B3A5B"/>
                    </a:solidFill>
                  </a:tcPr>
                </a:tc>
              </a:tr>
              <a:tr h="502920">
                <a:tc>
                  <a:txBody>
                    <a:bodyPr/>
                    <a:lstStyle/>
                    <a:p>
                      <a:r>
                        <a:rPr sz="1300" b="0" i="0">
                          <a:solidFill>
                            <a:srgbClr val="2B2B2B"/>
                          </a:solidFill>
                          <a:latin typeface="Arial"/>
                        </a:rPr>
                        <a:t>Unitaire — côté modèle</a:t>
                      </a:r>
                    </a:p>
                  </a:txBody>
                  <a:tcPr anchor="ctr" marL="109728" marT="36576" marB="36576">
                    <a:solidFill>
                      <a:srgbClr val="FFFFFF"/>
                    </a:solidFill>
                  </a:tcPr>
                </a:tc>
                <a:tc>
                  <a:txBody>
                    <a:bodyPr/>
                    <a:lstStyle/>
                    <a:p>
                      <a:r>
                        <a:rPr sz="1300" b="0" i="0">
                          <a:solidFill>
                            <a:srgbClr val="2B2B2B"/>
                          </a:solidFill>
                          <a:latin typeface="Arial"/>
                        </a:rPr>
                        <a:t>test_schemas · test_features · test_pred</a:t>
                      </a:r>
                    </a:p>
                  </a:txBody>
                  <a:tcPr anchor="ctr" marL="109728" marT="36576" marB="36576">
                    <a:solidFill>
                      <a:srgbClr val="FFFFFF"/>
                    </a:solidFill>
                  </a:tcPr>
                </a:tc>
                <a:tc>
                  <a:txBody>
                    <a:bodyPr/>
                    <a:lstStyle/>
                    <a:p>
                      <a:r>
                        <a:rPr sz="1300" b="0" i="0">
                          <a:solidFill>
                            <a:srgbClr val="2B2B2B"/>
                          </a:solidFill>
                          <a:latin typeface="Arial"/>
                        </a:rPr>
                        <a:t>16</a:t>
                      </a:r>
                    </a:p>
                  </a:txBody>
                  <a:tcPr anchor="ctr" marL="109728" marT="36576" marB="36576">
                    <a:solidFill>
                      <a:srgbClr val="FFFFFF"/>
                    </a:solidFill>
                  </a:tcPr>
                </a:tc>
                <a:tc>
                  <a:txBody>
                    <a:bodyPr/>
                    <a:lstStyle/>
                    <a:p>
                      <a:r>
                        <a:rPr sz="1300" b="0" i="0">
                          <a:solidFill>
                            <a:srgbClr val="2B2B2B"/>
                          </a:solidFill>
                          <a:latin typeface="Arial"/>
                        </a:rPr>
                        <a:t>validation, formules, seuil</a:t>
                      </a:r>
                    </a:p>
                  </a:txBody>
                  <a:tcPr anchor="ctr" marL="109728" marT="36576" marB="36576">
                    <a:solidFill>
                      <a:srgbClr val="FFFFFF"/>
                    </a:solidFill>
                  </a:tcPr>
                </a:tc>
              </a:tr>
              <a:tr h="502920">
                <a:tc>
                  <a:txBody>
                    <a:bodyPr/>
                    <a:lstStyle/>
                    <a:p>
                      <a:r>
                        <a:rPr sz="1300" b="0" i="0">
                          <a:solidFill>
                            <a:srgbClr val="2B2B2B"/>
                          </a:solidFill>
                          <a:latin typeface="Arial"/>
                        </a:rPr>
                        <a:t>Unitaire — côté base</a:t>
                      </a:r>
                    </a:p>
                  </a:txBody>
                  <a:tcPr anchor="ctr" marL="109728" marT="36576" marB="36576">
                    <a:solidFill>
                      <a:srgbClr val="F1F5F7"/>
                    </a:solidFill>
                  </a:tcPr>
                </a:tc>
                <a:tc>
                  <a:txBody>
                    <a:bodyPr/>
                    <a:lstStyle/>
                    <a:p>
                      <a:r>
                        <a:rPr sz="1300" b="0" i="0">
                          <a:solidFill>
                            <a:srgbClr val="2B2B2B"/>
                          </a:solidFill>
                          <a:latin typeface="Arial"/>
                        </a:rPr>
                        <a:t>test_db_models · test_create_db · test_import_csv</a:t>
                      </a:r>
                    </a:p>
                  </a:txBody>
                  <a:tcPr anchor="ctr" marL="109728" marT="36576" marB="36576">
                    <a:solidFill>
                      <a:srgbClr val="F1F5F7"/>
                    </a:solidFill>
                  </a:tcPr>
                </a:tc>
                <a:tc>
                  <a:txBody>
                    <a:bodyPr/>
                    <a:lstStyle/>
                    <a:p>
                      <a:r>
                        <a:rPr sz="1300" b="0" i="0">
                          <a:solidFill>
                            <a:srgbClr val="2B2B2B"/>
                          </a:solidFill>
                          <a:latin typeface="Arial"/>
                        </a:rPr>
                        <a:t>18</a:t>
                      </a:r>
                    </a:p>
                  </a:txBody>
                  <a:tcPr anchor="ctr" marL="109728" marT="36576" marB="36576">
                    <a:solidFill>
                      <a:srgbClr val="F1F5F7"/>
                    </a:solidFill>
                  </a:tcPr>
                </a:tc>
                <a:tc>
                  <a:txBody>
                    <a:bodyPr/>
                    <a:lstStyle/>
                    <a:p>
                      <a:r>
                        <a:rPr sz="1300" b="0" i="0">
                          <a:solidFill>
                            <a:srgbClr val="2B2B2B"/>
                          </a:solidFill>
                          <a:latin typeface="Arial"/>
                        </a:rPr>
                        <a:t>contraintes, création, import</a:t>
                      </a:r>
                    </a:p>
                  </a:txBody>
                  <a:tcPr anchor="ctr" marL="109728" marT="36576" marB="36576">
                    <a:solidFill>
                      <a:srgbClr val="F1F5F7"/>
                    </a:solidFill>
                  </a:tcPr>
                </a:tc>
              </a:tr>
              <a:tr h="502920">
                <a:tc>
                  <a:txBody>
                    <a:bodyPr/>
                    <a:lstStyle/>
                    <a:p>
                      <a:r>
                        <a:rPr sz="1300" b="0" i="0">
                          <a:solidFill>
                            <a:srgbClr val="2B2B2B"/>
                          </a:solidFill>
                          <a:latin typeface="Arial"/>
                        </a:rPr>
                        <a:t>Fonctionnel — API</a:t>
                      </a:r>
                    </a:p>
                  </a:txBody>
                  <a:tcPr anchor="ctr" marL="109728" marT="36576" marB="36576">
                    <a:solidFill>
                      <a:srgbClr val="FFFFFF"/>
                    </a:solidFill>
                  </a:tcPr>
                </a:tc>
                <a:tc>
                  <a:txBody>
                    <a:bodyPr/>
                    <a:lstStyle/>
                    <a:p>
                      <a:r>
                        <a:rPr sz="1300" b="0" i="0">
                          <a:solidFill>
                            <a:srgbClr val="2B2B2B"/>
                          </a:solidFill>
                          <a:latin typeface="Arial"/>
                        </a:rPr>
                        <a:t>test_api</a:t>
                      </a:r>
                    </a:p>
                  </a:txBody>
                  <a:tcPr anchor="ctr" marL="109728" marT="36576" marB="36576">
                    <a:solidFill>
                      <a:srgbClr val="FFFFFF"/>
                    </a:solidFill>
                  </a:tcPr>
                </a:tc>
                <a:tc>
                  <a:txBody>
                    <a:bodyPr/>
                    <a:lstStyle/>
                    <a:p>
                      <a:r>
                        <a:rPr sz="1300" b="0" i="0">
                          <a:solidFill>
                            <a:srgbClr val="2B2B2B"/>
                          </a:solidFill>
                          <a:latin typeface="Arial"/>
                        </a:rPr>
                        <a:t>11</a:t>
                      </a:r>
                    </a:p>
                  </a:txBody>
                  <a:tcPr anchor="ctr" marL="109728" marT="36576" marB="36576">
                    <a:solidFill>
                      <a:srgbClr val="FFFFFF"/>
                    </a:solidFill>
                  </a:tcPr>
                </a:tc>
                <a:tc>
                  <a:txBody>
                    <a:bodyPr/>
                    <a:lstStyle/>
                    <a:p>
                      <a:r>
                        <a:rPr sz="1300" b="0" i="0">
                          <a:solidFill>
                            <a:srgbClr val="2B2B2B"/>
                          </a:solidFill>
                          <a:latin typeface="Arial"/>
                        </a:rPr>
                        <a:t>routes + traçabilité + pannes</a:t>
                      </a:r>
                    </a:p>
                  </a:txBody>
                  <a:tcPr anchor="ctr" marL="109728" marT="36576" marB="36576">
                    <a:solidFill>
                      <a:srgbClr val="FFFFFF"/>
                    </a:solidFill>
                  </a:tcPr>
                </a:tc>
              </a:tr>
            </a:tbl>
          </a:graphicData>
        </a:graphic>
      </p:graphicFrame>
      <p:sp>
        <p:nvSpPr>
          <p:cNvPr id="8" name="TextBox 7"/>
          <p:cNvSpPr txBox="1"/>
          <p:nvPr/>
        </p:nvSpPr>
        <p:spPr>
          <a:xfrm>
            <a:off x="777240" y="3886200"/>
            <a:ext cx="10637215" cy="2240280"/>
          </a:xfrm>
          <a:prstGeom prst="rect">
            <a:avLst/>
          </a:prstGeom>
          <a:noFill/>
        </p:spPr>
        <p:txBody>
          <a:bodyPr wrap="square">
            <a:spAutoFit/>
          </a:bodyPr>
          <a:lstStyle/>
          <a:p>
            <a:pPr>
              <a:spcAft>
                <a:spcPts val="832"/>
              </a:spcAft>
            </a:pPr>
            <a:r>
              <a:rPr sz="1500" b="0" i="0">
                <a:solidFill>
                  <a:srgbClr val="2B2B2B"/>
                </a:solidFill>
                <a:latin typeface="Arial"/>
              </a:rPr>
              <a:t>•  Les tests tournent sur une base </a:t>
            </a:r>
            <a:r>
              <a:rPr sz="1500" b="1" i="0">
                <a:solidFill>
                  <a:srgbClr val="2B2B2B"/>
                </a:solidFill>
                <a:latin typeface="Arial"/>
              </a:rPr>
              <a:t>SQLite en mémoire</a:t>
            </a:r>
            <a:r>
              <a:rPr sz="1500" b="0" i="0">
                <a:solidFill>
                  <a:srgbClr val="2B2B2B"/>
                </a:solidFill>
                <a:latin typeface="Arial"/>
              </a:rPr>
              <a:t>, créée puis détruite à chaque test</a:t>
            </a:r>
          </a:p>
          <a:p>
            <a:pPr lvl="1">
              <a:spcAft>
                <a:spcPts val="832"/>
              </a:spcAft>
            </a:pPr>
            <a:r>
              <a:rPr sz="1300" b="0" i="0">
                <a:solidFill>
                  <a:srgbClr val="6B7280"/>
                </a:solidFill>
                <a:latin typeface="Arial"/>
              </a:rPr>
              <a:t>     –  dependency_overrides de FastAPI remplace la session réelle par celle de test</a:t>
            </a:r>
          </a:p>
          <a:p>
            <a:pPr>
              <a:spcAft>
                <a:spcPts val="832"/>
              </a:spcAft>
            </a:pPr>
            <a:r>
              <a:rPr sz="1500" b="0" i="0">
                <a:solidFill>
                  <a:srgbClr val="2B2B2B"/>
                </a:solidFill>
                <a:latin typeface="Arial"/>
              </a:rPr>
              <a:t>•  La suite tourne donc dans </a:t>
            </a:r>
            <a:r>
              <a:rPr sz="1500" b="1" i="0">
                <a:solidFill>
                  <a:srgbClr val="2B2B2B"/>
                </a:solidFill>
                <a:latin typeface="Arial"/>
              </a:rPr>
              <a:t>GitHub Actions</a:t>
            </a:r>
            <a:r>
              <a:rPr sz="1500" b="0" i="0">
                <a:solidFill>
                  <a:srgbClr val="2B2B2B"/>
                </a:solidFill>
                <a:latin typeface="Arial"/>
              </a:rPr>
              <a:t> sans serveur de base, et ne touche jamais aux vraies données</a:t>
            </a:r>
          </a:p>
          <a:p>
            <a:pPr>
              <a:spcAft>
                <a:spcPts val="832"/>
              </a:spcAft>
            </a:pPr>
            <a:r>
              <a:rPr sz="1500" b="0" i="0">
                <a:solidFill>
                  <a:srgbClr val="2B2B2B"/>
                </a:solidFill>
                <a:latin typeface="Arial"/>
              </a:rPr>
              <a:t>•  </a:t>
            </a:r>
            <a:r>
              <a:rPr sz="1500" b="1" i="0">
                <a:solidFill>
                  <a:srgbClr val="2B2B2B"/>
                </a:solidFill>
                <a:latin typeface="Arial"/>
              </a:rPr>
              <a:t>Limite assumée :</a:t>
            </a:r>
            <a:r>
              <a:rPr sz="1500" b="0" i="0">
                <a:solidFill>
                  <a:srgbClr val="2B2B2B"/>
                </a:solidFill>
                <a:latin typeface="Arial"/>
              </a:rPr>
              <a:t> SQLite n'est pas PostgreSQL — le schéma réel est vérifié à part avec db/verify.sql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Intégration et déploiement continus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12</a:t>
            </a:r>
          </a:p>
        </p:txBody>
      </p:sp>
      <p:sp>
        <p:nvSpPr>
          <p:cNvPr id="6" name="Rounded Rectangle 5"/>
          <p:cNvSpPr/>
          <p:nvPr/>
        </p:nvSpPr>
        <p:spPr>
          <a:xfrm>
            <a:off x="777240" y="1417320"/>
            <a:ext cx="310896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build_job</a:t>
            </a:r>
            <a:r>
              <a:rPr sz="1300" b="0" i="0">
                <a:solidFill>
                  <a:srgbClr val="2B2B2B"/>
                </a:solidFill>
                <a:latin typeface="Arial"/>
              </a:rPr>
              <a:t>
installe les dépendances
Python 3.11</a:t>
            </a:r>
          </a:p>
        </p:txBody>
      </p:sp>
      <p:sp>
        <p:nvSpPr>
          <p:cNvPr id="7" name="Right Arrow 6"/>
          <p:cNvSpPr/>
          <p:nvPr/>
        </p:nvSpPr>
        <p:spPr>
          <a:xfrm>
            <a:off x="4023360" y="1828800"/>
            <a:ext cx="457200" cy="201168"/>
          </a:xfrm>
          <a:prstGeom prst="right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17720" y="1417320"/>
            <a:ext cx="310896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test_job</a:t>
            </a:r>
            <a:r>
              <a:rPr sz="1300" b="0" i="0">
                <a:solidFill>
                  <a:srgbClr val="2B2B2B"/>
                </a:solidFill>
                <a:latin typeface="Arial"/>
              </a:rPr>
              <a:t>
65 tests + couverture</a:t>
            </a:r>
          </a:p>
        </p:txBody>
      </p:sp>
      <p:sp>
        <p:nvSpPr>
          <p:cNvPr id="9" name="Right Arrow 8"/>
          <p:cNvSpPr/>
          <p:nvPr/>
        </p:nvSpPr>
        <p:spPr>
          <a:xfrm>
            <a:off x="7863840" y="1828800"/>
            <a:ext cx="457200" cy="201168"/>
          </a:xfrm>
          <a:prstGeom prst="rightArrow">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58200" y="1417320"/>
            <a:ext cx="2926080" cy="1005840"/>
          </a:xfrm>
          <a:prstGeom prst="roundRect">
            <a:avLst/>
          </a:prstGeom>
          <a:solidFill>
            <a:srgbClr val="F1F5F7"/>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2B2B2B"/>
                </a:solidFill>
                <a:latin typeface="Arial"/>
              </a:rPr>
              <a:t>deploy_job</a:t>
            </a:r>
            <a:r>
              <a:rPr sz="1300" b="0" i="0">
                <a:solidFill>
                  <a:srgbClr val="2B2B2B"/>
                </a:solidFill>
                <a:latin typeface="Arial"/>
              </a:rPr>
              <a:t>
envoi vers Hugging Face
(uniquement main)</a:t>
            </a:r>
          </a:p>
        </p:txBody>
      </p:sp>
      <p:sp>
        <p:nvSpPr>
          <p:cNvPr id="11" name="Rectangle 10"/>
          <p:cNvSpPr/>
          <p:nvPr/>
        </p:nvSpPr>
        <p:spPr>
          <a:xfrm>
            <a:off x="777240" y="2834640"/>
            <a:ext cx="10607040" cy="1371600"/>
          </a:xfrm>
          <a:prstGeom prst="rect">
            <a:avLst/>
          </a:prstGeom>
          <a:solidFill>
            <a:srgbClr val="FBF0EA"/>
          </a:solidFill>
          <a:ln w="12700">
            <a:solidFill>
              <a:srgbClr val="1B3A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i="0">
                <a:solidFill>
                  <a:srgbClr val="2B2B2B"/>
                </a:solidFill>
                <a:latin typeface="Arial"/>
              </a:rPr>
              <a:t>Incident — 24 septembre 2026 :</a:t>
            </a:r>
            <a:r>
              <a:rPr sz="1400" b="0" i="0">
                <a:solidFill>
                  <a:srgbClr val="2B2B2B"/>
                </a:solidFill>
                <a:latin typeface="Arial"/>
              </a:rPr>
              <a:t> le déploiement a cassé sans aucune modification de mon code.
L'action installait la dernière version du CLI Hugging Face, et la 2.0.0 a renommé « hf repo » en « hf repos ».
</a:t>
            </a:r>
            <a:r>
              <a:rPr sz="1400" b="1" i="0">
                <a:solidFill>
                  <a:srgbClr val="2B2B2B"/>
                </a:solidFill>
                <a:latin typeface="Arial"/>
              </a:rPr>
              <a:t>Correction :</a:t>
            </a:r>
            <a:r>
              <a:rPr sz="1400" b="0" i="0">
                <a:solidFill>
                  <a:srgbClr val="2B2B2B"/>
                </a:solidFill>
                <a:latin typeface="Arial"/>
              </a:rPr>
              <a:t> action passée en v0.3.0 </a:t>
            </a:r>
            <a:r>
              <a:rPr sz="1400" b="1" i="0">
                <a:solidFill>
                  <a:srgbClr val="2B2B2B"/>
                </a:solidFill>
                <a:latin typeface="Arial"/>
              </a:rPr>
              <a:t>et</a:t>
            </a:r>
            <a:r>
              <a:rPr sz="1400" b="0" i="0">
                <a:solidFill>
                  <a:srgbClr val="2B2B2B"/>
                </a:solidFill>
                <a:latin typeface="Arial"/>
              </a:rPr>
              <a:t> version du CLI figée, pour qu'une future publication ne puisse plus la casser.</a:t>
            </a:r>
          </a:p>
        </p:txBody>
      </p:sp>
      <p:sp>
        <p:nvSpPr>
          <p:cNvPr id="12" name="TextBox 11"/>
          <p:cNvSpPr txBox="1"/>
          <p:nvPr/>
        </p:nvSpPr>
        <p:spPr>
          <a:xfrm>
            <a:off x="777240" y="4389120"/>
            <a:ext cx="10637215" cy="1737360"/>
          </a:xfrm>
          <a:prstGeom prst="rect">
            <a:avLst/>
          </a:prstGeom>
          <a:noFill/>
        </p:spPr>
        <p:txBody>
          <a:bodyPr wrap="square">
            <a:spAutoFit/>
          </a:bodyPr>
          <a:lstStyle/>
          <a:p>
            <a:pPr>
              <a:spcAft>
                <a:spcPts val="832"/>
              </a:spcAft>
            </a:pPr>
            <a:r>
              <a:rPr sz="1500" b="0" i="0">
                <a:solidFill>
                  <a:srgbClr val="2B2B2B"/>
                </a:solidFill>
                <a:latin typeface="Arial"/>
              </a:rPr>
              <a:t>•  </a:t>
            </a:r>
            <a:r>
              <a:rPr sz="1500" b="1" i="0">
                <a:solidFill>
                  <a:srgbClr val="2B2B2B"/>
                </a:solidFill>
                <a:latin typeface="Arial"/>
              </a:rPr>
              <a:t>Leçon :</a:t>
            </a:r>
            <a:r>
              <a:rPr sz="1500" b="0" i="0">
                <a:solidFill>
                  <a:srgbClr val="2B2B2B"/>
                </a:solidFill>
                <a:latin typeface="Arial"/>
              </a:rPr>
              <a:t> figer toutes les dépendances — les librairies (requirements.txt), les versions enregistrées avec le modèle, et les outils de déploiement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Choix de déploiement</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37215" cy="411480"/>
          </a:xfrm>
          <a:prstGeom prst="rect">
            <a:avLst/>
          </a:prstGeom>
          <a:noFill/>
        </p:spPr>
        <p:txBody>
          <a:bodyPr wrap="square">
            <a:spAutoFit/>
          </a:bodyPr>
          <a:lstStyle/>
          <a:p>
            <a:r>
              <a:rPr sz="1400" b="0" i="0">
                <a:solidFill>
                  <a:srgbClr val="6B7280"/>
                </a:solidFill>
                <a:latin typeface="Arial"/>
              </a:rPr>
              <a:t>L'API est publique, la base reste locale — volontairement</a:t>
            </a:r>
          </a:p>
        </p:txBody>
      </p:sp>
      <p:sp>
        <p:nvSpPr>
          <p:cNvPr id="5" name="TextBox 4"/>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6" name="TextBox 5"/>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13</a:t>
            </a:r>
          </a:p>
        </p:txBody>
      </p:sp>
      <p:sp>
        <p:nvSpPr>
          <p:cNvPr id="7" name="TextBox 6"/>
          <p:cNvSpPr txBox="1"/>
          <p:nvPr/>
        </p:nvSpPr>
        <p:spPr>
          <a:xfrm>
            <a:off x="777240" y="1783080"/>
            <a:ext cx="10637215" cy="4343400"/>
          </a:xfrm>
          <a:prstGeom prst="rect">
            <a:avLst/>
          </a:prstGeom>
          <a:noFill/>
        </p:spPr>
        <p:txBody>
          <a:bodyPr wrap="square">
            <a:spAutoFit/>
          </a:bodyPr>
          <a:lstStyle/>
          <a:p>
            <a:pPr>
              <a:spcAft>
                <a:spcPts val="832"/>
              </a:spcAft>
            </a:pPr>
            <a:r>
              <a:rPr sz="1600" b="0" i="0">
                <a:solidFill>
                  <a:srgbClr val="2B2B2B"/>
                </a:solidFill>
                <a:latin typeface="Arial"/>
              </a:rPr>
              <a:t>•  L'API tourne dans un conteneur </a:t>
            </a:r>
            <a:r>
              <a:rPr sz="1600" b="1" i="0">
                <a:solidFill>
                  <a:srgbClr val="2B2B2B"/>
                </a:solidFill>
                <a:latin typeface="Arial"/>
              </a:rPr>
              <a:t>Docker</a:t>
            </a:r>
            <a:r>
              <a:rPr sz="1600" b="0" i="0">
                <a:solidFill>
                  <a:srgbClr val="2B2B2B"/>
                </a:solidFill>
                <a:latin typeface="Arial"/>
              </a:rPr>
              <a:t> sur un </a:t>
            </a:r>
            <a:r>
              <a:rPr sz="1600" b="1" i="0">
                <a:solidFill>
                  <a:srgbClr val="2B2B2B"/>
                </a:solidFill>
                <a:latin typeface="Arial"/>
              </a:rPr>
              <a:t>Space Hugging Face</a:t>
            </a:r>
            <a:r>
              <a:rPr sz="1600" b="0" i="0">
                <a:solidFill>
                  <a:srgbClr val="2B2B2B"/>
                </a:solidFill>
                <a:latin typeface="Arial"/>
              </a:rPr>
              <a:t> (statut : en ligne)</a:t>
            </a:r>
          </a:p>
          <a:p>
            <a:pPr>
              <a:spcAft>
                <a:spcPts val="832"/>
              </a:spcAft>
            </a:pPr>
            <a:r>
              <a:rPr sz="1600" b="0" i="0">
                <a:solidFill>
                  <a:srgbClr val="2B2B2B"/>
                </a:solidFill>
                <a:latin typeface="Arial"/>
              </a:rPr>
              <a:t>•  / , /health et /docs fonctionnent en ligne ; </a:t>
            </a:r>
            <a:r>
              <a:rPr sz="1600" b="1" i="0">
                <a:solidFill>
                  <a:srgbClr val="2B2B2B"/>
                </a:solidFill>
                <a:latin typeface="Arial"/>
              </a:rPr>
              <a:t>/predict renvoie 503</a:t>
            </a:r>
            <a:r>
              <a:rPr sz="1600" b="0" i="0">
                <a:solidFill>
                  <a:srgbClr val="2B2B2B"/>
                </a:solidFill>
                <a:latin typeface="Arial"/>
              </a:rPr>
              <a:t> là-bas</a:t>
            </a:r>
          </a:p>
          <a:p>
            <a:pPr>
              <a:spcAft>
                <a:spcPts val="832"/>
              </a:spcAft>
            </a:pPr>
            <a:r>
              <a:rPr sz="1600" b="0" i="0">
                <a:solidFill>
                  <a:srgbClr val="2B2B2B"/>
                </a:solidFill>
                <a:latin typeface="Arial"/>
              </a:rPr>
              <a:t>•  C'est un comportement documenté, pas un bug : </a:t>
            </a:r>
            <a:r>
              <a:rPr sz="1600" b="1" i="0">
                <a:solidFill>
                  <a:srgbClr val="2B2B2B"/>
                </a:solidFill>
                <a:latin typeface="Arial"/>
              </a:rPr>
              <a:t>pas de traçabilité, pas de prédiction</a:t>
            </a:r>
          </a:p>
        </p:txBody>
      </p:sp>
      <p:graphicFrame>
        <p:nvGraphicFramePr>
          <p:cNvPr id="8" name="Table 7"/>
          <p:cNvGraphicFramePr>
            <a:graphicFrameLocks noGrp="1"/>
          </p:cNvGraphicFramePr>
          <p:nvPr/>
        </p:nvGraphicFramePr>
        <p:xfrm>
          <a:off x="777240" y="3429000"/>
          <a:ext cx="10607040" cy="1828800"/>
        </p:xfrm>
        <a:graphic>
          <a:graphicData uri="http://schemas.openxmlformats.org/drawingml/2006/table">
            <a:tbl>
              <a:tblPr firstRow="1" bandRow="1">
                <a:tableStyleId>{5C22544A-7EE6-4342-B048-85BDC9FD1C3A}</a:tableStyleId>
              </a:tblPr>
              <a:tblGrid>
                <a:gridCol w="5303520"/>
                <a:gridCol w="5303520"/>
              </a:tblGrid>
              <a:tr h="457200">
                <a:tc>
                  <a:txBody>
                    <a:bodyPr/>
                    <a:lstStyle/>
                    <a:p>
                      <a:r>
                        <a:rPr sz="1300" b="1" i="0">
                          <a:solidFill>
                            <a:srgbClr val="FFFFFF"/>
                          </a:solidFill>
                          <a:latin typeface="Arial"/>
                        </a:rPr>
                        <a:t>Pourquoi la base n'est pas hébergée en ligne</a:t>
                      </a:r>
                    </a:p>
                  </a:txBody>
                  <a:tcPr anchor="ctr" marL="109728" marT="36576" marB="36576">
                    <a:solidFill>
                      <a:srgbClr val="1B3A5B"/>
                    </a:solidFill>
                  </a:tcPr>
                </a:tc>
                <a:tc>
                  <a:txBody>
                    <a:bodyPr/>
                    <a:lstStyle/>
                    <a:p>
                      <a:r>
                        <a:rPr sz="1300" b="1" i="0">
                          <a:solidFill>
                            <a:srgbClr val="FFFFFF"/>
                          </a:solidFill>
                          <a:latin typeface="Arial"/>
                        </a:rPr>
                        <a:t>Conséquence</a:t>
                      </a:r>
                    </a:p>
                  </a:txBody>
                  <a:tcPr anchor="ctr" marL="109728" marT="36576" marB="36576">
                    <a:solidFill>
                      <a:srgbClr val="1B3A5B"/>
                    </a:solidFill>
                  </a:tcPr>
                </a:tc>
              </a:tr>
              <a:tr h="457200">
                <a:tc>
                  <a:txBody>
                    <a:bodyPr/>
                    <a:lstStyle/>
                    <a:p>
                      <a:r>
                        <a:rPr sz="1300" b="0" i="0">
                          <a:solidFill>
                            <a:srgbClr val="2B2B2B"/>
                          </a:solidFill>
                          <a:latin typeface="Arial"/>
                        </a:rPr>
                        <a:t>Ce sont des données RH personnelles (RGPD)</a:t>
                      </a:r>
                    </a:p>
                  </a:txBody>
                  <a:tcPr anchor="ctr" marL="109728" marT="36576" marB="36576">
                    <a:solidFill>
                      <a:srgbClr val="FFFFFF"/>
                    </a:solidFill>
                  </a:tcPr>
                </a:tc>
                <a:tc>
                  <a:txBody>
                    <a:bodyPr/>
                    <a:lstStyle/>
                    <a:p>
                      <a:r>
                        <a:rPr sz="1300" b="0" i="0">
                          <a:solidFill>
                            <a:srgbClr val="2B2B2B"/>
                          </a:solidFill>
                          <a:latin typeface="Arial"/>
                        </a:rPr>
                        <a:t>elles ne doivent pas être copiées chez un tiers gratuit</a:t>
                      </a:r>
                    </a:p>
                  </a:txBody>
                  <a:tcPr anchor="ctr" marL="109728" marT="36576" marB="36576">
                    <a:solidFill>
                      <a:srgbClr val="FFFFFF"/>
                    </a:solidFill>
                  </a:tcPr>
                </a:tc>
              </a:tr>
              <a:tr h="457200">
                <a:tc>
                  <a:txBody>
                    <a:bodyPr/>
                    <a:lstStyle/>
                    <a:p>
                      <a:r>
                        <a:rPr sz="1300" b="0" i="0">
                          <a:solidFill>
                            <a:srgbClr val="2B2B2B"/>
                          </a:solidFill>
                          <a:latin typeface="Arial"/>
                        </a:rPr>
                        <a:t>Le disque d'un Space n'est pas persistant</a:t>
                      </a:r>
                    </a:p>
                  </a:txBody>
                  <a:tcPr anchor="ctr" marL="109728" marT="36576" marB="36576">
                    <a:solidFill>
                      <a:srgbClr val="F1F5F7"/>
                    </a:solidFill>
                  </a:tcPr>
                </a:tc>
                <a:tc>
                  <a:txBody>
                    <a:bodyPr/>
                    <a:lstStyle/>
                    <a:p>
                      <a:r>
                        <a:rPr sz="1300" b="0" i="0">
                          <a:solidFill>
                            <a:srgbClr val="2B2B2B"/>
                          </a:solidFill>
                          <a:latin typeface="Arial"/>
                        </a:rPr>
                        <a:t>l'historique serait effacé à chaque redémarrage</a:t>
                      </a:r>
                    </a:p>
                  </a:txBody>
                  <a:tcPr anchor="ctr" marL="109728" marT="36576" marB="36576">
                    <a:solidFill>
                      <a:srgbClr val="F1F5F7"/>
                    </a:solidFill>
                  </a:tcPr>
                </a:tc>
              </a:tr>
              <a:tr h="457200">
                <a:tc>
                  <a:txBody>
                    <a:bodyPr/>
                    <a:lstStyle/>
                    <a:p>
                      <a:r>
                        <a:rPr sz="1300" b="0" i="0">
                          <a:solidFill>
                            <a:srgbClr val="2B2B2B"/>
                          </a:solidFill>
                          <a:latin typeface="Arial"/>
                        </a:rPr>
                        <a:t>Le cahier des charges autorise une base locale</a:t>
                      </a:r>
                    </a:p>
                  </a:txBody>
                  <a:tcPr anchor="ctr" marL="109728" marT="36576" marB="36576">
                    <a:solidFill>
                      <a:srgbClr val="FFFFFF"/>
                    </a:solidFill>
                  </a:tcPr>
                </a:tc>
                <a:tc>
                  <a:txBody>
                    <a:bodyPr/>
                    <a:lstStyle/>
                    <a:p>
                      <a:r>
                        <a:rPr sz="1300" b="0" i="0">
                          <a:solidFill>
                            <a:srgbClr val="2B2B2B"/>
                          </a:solidFill>
                          <a:latin typeface="Arial"/>
                        </a:rPr>
                        <a:t>la chaîne complète est démontrée en local</a:t>
                      </a:r>
                    </a:p>
                  </a:txBody>
                  <a:tcPr anchor="ctr" marL="109728" marT="36576" marB="36576">
                    <a:solidFill>
                      <a:srgbClr val="FFFFFF"/>
                    </a:solidFill>
                  </a:tcPr>
                </a:tc>
              </a:tr>
            </a:tbl>
          </a:graphicData>
        </a:graphic>
      </p:graphicFrame>
      <p:sp>
        <p:nvSpPr>
          <p:cNvPr id="9" name="TextBox 8"/>
          <p:cNvSpPr txBox="1"/>
          <p:nvPr/>
        </p:nvSpPr>
        <p:spPr>
          <a:xfrm>
            <a:off x="777240" y="5349240"/>
            <a:ext cx="10637215" cy="548640"/>
          </a:xfrm>
          <a:prstGeom prst="rect">
            <a:avLst/>
          </a:prstGeom>
          <a:noFill/>
        </p:spPr>
        <p:txBody>
          <a:bodyPr wrap="square">
            <a:spAutoFit/>
          </a:bodyPr>
          <a:lstStyle/>
          <a:p>
            <a:r>
              <a:rPr sz="1500" b="1" i="0">
                <a:solidFill>
                  <a:srgbClr val="2F7D7A"/>
                </a:solidFill>
                <a:latin typeface="Arial"/>
              </a:rPr>
              <a:t>Décision réversible par construction : fournir une variable secrète DATABASE_URL au Space suffirait — aucun changement de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Sécurité et données personnelles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14</a:t>
            </a:r>
          </a:p>
        </p:txBody>
      </p:sp>
      <p:graphicFrame>
        <p:nvGraphicFramePr>
          <p:cNvPr id="6" name="Table 5"/>
          <p:cNvGraphicFramePr>
            <a:graphicFrameLocks noGrp="1"/>
          </p:cNvGraphicFramePr>
          <p:nvPr/>
        </p:nvGraphicFramePr>
        <p:xfrm>
          <a:off x="777240" y="1417320"/>
          <a:ext cx="10607040" cy="3328416"/>
        </p:xfrm>
        <a:graphic>
          <a:graphicData uri="http://schemas.openxmlformats.org/drawingml/2006/table">
            <a:tbl>
              <a:tblPr firstRow="1" bandRow="1">
                <a:tableStyleId>{5C22544A-7EE6-4342-B048-85BDC9FD1C3A}</a:tableStyleId>
              </a:tblPr>
              <a:tblGrid>
                <a:gridCol w="4023360"/>
                <a:gridCol w="6583680"/>
              </a:tblGrid>
              <a:tr h="475488">
                <a:tc>
                  <a:txBody>
                    <a:bodyPr/>
                    <a:lstStyle/>
                    <a:p>
                      <a:r>
                        <a:rPr sz="1300" b="1" i="0">
                          <a:solidFill>
                            <a:srgbClr val="FFFFFF"/>
                          </a:solidFill>
                          <a:latin typeface="Arial"/>
                        </a:rPr>
                        <a:t>Risque</a:t>
                      </a:r>
                    </a:p>
                  </a:txBody>
                  <a:tcPr anchor="ctr" marL="109728" marT="36576" marB="36576">
                    <a:solidFill>
                      <a:srgbClr val="1B3A5B"/>
                    </a:solidFill>
                  </a:tcPr>
                </a:tc>
                <a:tc>
                  <a:txBody>
                    <a:bodyPr/>
                    <a:lstStyle/>
                    <a:p>
                      <a:r>
                        <a:rPr sz="1300" b="1" i="0">
                          <a:solidFill>
                            <a:srgbClr val="FFFFFF"/>
                          </a:solidFill>
                          <a:latin typeface="Arial"/>
                        </a:rPr>
                        <a:t>Mesure prise</a:t>
                      </a:r>
                    </a:p>
                  </a:txBody>
                  <a:tcPr anchor="ctr" marL="109728" marT="36576" marB="36576">
                    <a:solidFill>
                      <a:srgbClr val="1B3A5B"/>
                    </a:solidFill>
                  </a:tcPr>
                </a:tc>
              </a:tr>
              <a:tr h="475488">
                <a:tc>
                  <a:txBody>
                    <a:bodyPr/>
                    <a:lstStyle/>
                    <a:p>
                      <a:r>
                        <a:rPr sz="1300" b="0" i="0">
                          <a:solidFill>
                            <a:srgbClr val="2B2B2B"/>
                          </a:solidFill>
                          <a:latin typeface="Arial"/>
                        </a:rPr>
                        <a:t>Mot de passe exposé dans git</a:t>
                      </a:r>
                    </a:p>
                  </a:txBody>
                  <a:tcPr anchor="ctr" marL="109728" marT="36576" marB="36576">
                    <a:solidFill>
                      <a:srgbClr val="FFFFFF"/>
                    </a:solidFill>
                  </a:tcPr>
                </a:tc>
                <a:tc>
                  <a:txBody>
                    <a:bodyPr/>
                    <a:lstStyle/>
                    <a:p>
                      <a:r>
                        <a:rPr sz="1300" b="0" i="0">
                          <a:solidFill>
                            <a:srgbClr val="2B2B2B"/>
                          </a:solidFill>
                          <a:latin typeface="Arial"/>
                        </a:rPr>
                        <a:t>.env ignoré par git et Docker ; .env.example ne contient qu'une valeur factice</a:t>
                      </a:r>
                    </a:p>
                  </a:txBody>
                  <a:tcPr anchor="ctr" marL="109728" marT="36576" marB="36576">
                    <a:solidFill>
                      <a:srgbClr val="FFFFFF"/>
                    </a:solidFill>
                  </a:tcPr>
                </a:tc>
              </a:tr>
              <a:tr h="475488">
                <a:tc>
                  <a:txBody>
                    <a:bodyPr/>
                    <a:lstStyle/>
                    <a:p>
                      <a:r>
                        <a:rPr sz="1300" b="0" i="0">
                          <a:solidFill>
                            <a:srgbClr val="2B2B2B"/>
                          </a:solidFill>
                          <a:latin typeface="Arial"/>
                        </a:rPr>
                        <a:t>Données RH exposées</a:t>
                      </a:r>
                    </a:p>
                  </a:txBody>
                  <a:tcPr anchor="ctr" marL="109728" marT="36576" marB="36576">
                    <a:solidFill>
                      <a:srgbClr val="F1F5F7"/>
                    </a:solidFill>
                  </a:tcPr>
                </a:tc>
                <a:tc>
                  <a:txBody>
                    <a:bodyPr/>
                    <a:lstStyle/>
                    <a:p>
                      <a:r>
                        <a:rPr sz="1300" b="0" i="0">
                          <a:solidFill>
                            <a:srgbClr val="2B2B2B"/>
                          </a:solidFill>
                          <a:latin typeface="Arial"/>
                        </a:rPr>
                        <a:t>data/ (CSV + notebook) exclu de git et de l'image Docker</a:t>
                      </a:r>
                    </a:p>
                  </a:txBody>
                  <a:tcPr anchor="ctr" marL="109728" marT="36576" marB="36576">
                    <a:solidFill>
                      <a:srgbClr val="F1F5F7"/>
                    </a:solidFill>
                  </a:tcPr>
                </a:tc>
              </a:tr>
              <a:tr h="475488">
                <a:tc>
                  <a:txBody>
                    <a:bodyPr/>
                    <a:lstStyle/>
                    <a:p>
                      <a:r>
                        <a:rPr sz="1300" b="0" i="0">
                          <a:solidFill>
                            <a:srgbClr val="2B2B2B"/>
                          </a:solidFill>
                          <a:latin typeface="Arial"/>
                        </a:rPr>
                        <a:t>Droits trop larges sur la base</a:t>
                      </a:r>
                    </a:p>
                  </a:txBody>
                  <a:tcPr anchor="ctr" marL="109728" marT="36576" marB="36576">
                    <a:solidFill>
                      <a:srgbClr val="FFFFFF"/>
                    </a:solidFill>
                  </a:tcPr>
                </a:tc>
                <a:tc>
                  <a:txBody>
                    <a:bodyPr/>
                    <a:lstStyle/>
                    <a:p>
                      <a:r>
                        <a:rPr sz="1300" b="0" i="0">
                          <a:solidFill>
                            <a:srgbClr val="2B2B2B"/>
                          </a:solidFill>
                          <a:latin typeface="Arial"/>
                        </a:rPr>
                        <a:t>un rôle PostgreSQL dédié, et non le superutilisateur postgres</a:t>
                      </a:r>
                    </a:p>
                  </a:txBody>
                  <a:tcPr anchor="ctr" marL="109728" marT="36576" marB="36576">
                    <a:solidFill>
                      <a:srgbClr val="FFFFFF"/>
                    </a:solidFill>
                  </a:tcPr>
                </a:tc>
              </a:tr>
              <a:tr h="475488">
                <a:tc>
                  <a:txBody>
                    <a:bodyPr/>
                    <a:lstStyle/>
                    <a:p>
                      <a:r>
                        <a:rPr sz="1300" b="0" i="0">
                          <a:solidFill>
                            <a:srgbClr val="2B2B2B"/>
                          </a:solidFill>
                          <a:latin typeface="Arial"/>
                        </a:rPr>
                        <a:t>Données invalides ou incohérentes</a:t>
                      </a:r>
                    </a:p>
                  </a:txBody>
                  <a:tcPr anchor="ctr" marL="109728" marT="36576" marB="36576">
                    <a:solidFill>
                      <a:srgbClr val="F1F5F7"/>
                    </a:solidFill>
                  </a:tcPr>
                </a:tc>
                <a:tc>
                  <a:txBody>
                    <a:bodyPr/>
                    <a:lstStyle/>
                    <a:p>
                      <a:r>
                        <a:rPr sz="1300" b="0" i="0">
                          <a:solidFill>
                            <a:srgbClr val="2B2B2B"/>
                          </a:solidFill>
                          <a:latin typeface="Arial"/>
                        </a:rPr>
                        <a:t>CHECK, NOT NULL, UNIQUE et clés étrangères dans la base</a:t>
                      </a:r>
                    </a:p>
                  </a:txBody>
                  <a:tcPr anchor="ctr" marL="109728" marT="36576" marB="36576">
                    <a:solidFill>
                      <a:srgbClr val="F1F5F7"/>
                    </a:solidFill>
                  </a:tcPr>
                </a:tc>
              </a:tr>
              <a:tr h="475488">
                <a:tc>
                  <a:txBody>
                    <a:bodyPr/>
                    <a:lstStyle/>
                    <a:p>
                      <a:r>
                        <a:rPr sz="1300" b="0" i="0">
                          <a:solidFill>
                            <a:srgbClr val="2B2B2B"/>
                          </a:solidFill>
                          <a:latin typeface="Arial"/>
                        </a:rPr>
                        <a:t>Base exposée sur le réseau</a:t>
                      </a:r>
                    </a:p>
                  </a:txBody>
                  <a:tcPr anchor="ctr" marL="109728" marT="36576" marB="36576">
                    <a:solidFill>
                      <a:srgbClr val="FFFFFF"/>
                    </a:solidFill>
                  </a:tcPr>
                </a:tc>
                <a:tc>
                  <a:txBody>
                    <a:bodyPr/>
                    <a:lstStyle/>
                    <a:p>
                      <a:r>
                        <a:rPr sz="1300" b="0" i="0">
                          <a:solidFill>
                            <a:srgbClr val="2B2B2B"/>
                          </a:solidFill>
                          <a:latin typeface="Arial"/>
                        </a:rPr>
                        <a:t>PostgreSQL n'écoute que sur localhost</a:t>
                      </a:r>
                    </a:p>
                  </a:txBody>
                  <a:tcPr anchor="ctr" marL="109728" marT="36576" marB="36576">
                    <a:solidFill>
                      <a:srgbClr val="FFFFFF"/>
                    </a:solidFill>
                  </a:tcPr>
                </a:tc>
              </a:tr>
              <a:tr h="475488">
                <a:tc>
                  <a:txBody>
                    <a:bodyPr/>
                    <a:lstStyle/>
                    <a:p>
                      <a:r>
                        <a:rPr sz="1300" b="0" i="0">
                          <a:solidFill>
                            <a:srgbClr val="2B2B2B"/>
                          </a:solidFill>
                          <a:latin typeface="Arial"/>
                        </a:rPr>
                        <a:t>Pannes silencieuses</a:t>
                      </a:r>
                    </a:p>
                  </a:txBody>
                  <a:tcPr anchor="ctr" marL="109728" marT="36576" marB="36576">
                    <a:solidFill>
                      <a:srgbClr val="F1F5F7"/>
                    </a:solidFill>
                  </a:tcPr>
                </a:tc>
                <a:tc>
                  <a:txBody>
                    <a:bodyPr/>
                    <a:lstStyle/>
                    <a:p>
                      <a:r>
                        <a:rPr sz="1300" b="0" i="0">
                          <a:solidFill>
                            <a:srgbClr val="2B2B2B"/>
                          </a:solidFill>
                          <a:latin typeface="Arial"/>
                        </a:rPr>
                        <a:t>les erreurs du modèle sont enregistrées avec leur message (status = error)</a:t>
                      </a:r>
                    </a:p>
                  </a:txBody>
                  <a:tcPr anchor="ctr" marL="109728" marT="36576" marB="36576">
                    <a:solidFill>
                      <a:srgbClr val="F1F5F7"/>
                    </a:solidFill>
                  </a:tcPr>
                </a:tc>
              </a:tr>
            </a:tbl>
          </a:graphicData>
        </a:graphic>
      </p:graphicFrame>
      <p:sp>
        <p:nvSpPr>
          <p:cNvPr id="7" name="TextBox 6"/>
          <p:cNvSpPr txBox="1"/>
          <p:nvPr/>
        </p:nvSpPr>
        <p:spPr>
          <a:xfrm>
            <a:off x="777240" y="4937760"/>
            <a:ext cx="10637215" cy="1188719"/>
          </a:xfrm>
          <a:prstGeom prst="rect">
            <a:avLst/>
          </a:prstGeom>
          <a:noFill/>
        </p:spPr>
        <p:txBody>
          <a:bodyPr wrap="square">
            <a:spAutoFit/>
          </a:bodyPr>
          <a:lstStyle/>
          <a:p>
            <a:pPr>
              <a:spcAft>
                <a:spcPts val="832"/>
              </a:spcAft>
            </a:pPr>
            <a:r>
              <a:rPr sz="1400" b="0" i="0">
                <a:solidFill>
                  <a:srgbClr val="2B2B2B"/>
                </a:solidFill>
                <a:latin typeface="Arial"/>
              </a:rPr>
              <a:t>•  </a:t>
            </a:r>
            <a:r>
              <a:rPr sz="1400" b="1" i="0">
                <a:solidFill>
                  <a:srgbClr val="2B2B2B"/>
                </a:solidFill>
                <a:latin typeface="Arial"/>
              </a:rPr>
              <a:t>Limite assumée :</a:t>
            </a:r>
            <a:r>
              <a:rPr sz="1400" b="0" i="0">
                <a:solidFill>
                  <a:srgbClr val="2B2B2B"/>
                </a:solidFill>
                <a:latin typeface="Arial"/>
              </a:rPr>
              <a:t> /predict n'a pas encore d'authentification — acceptable tant que l'endpoint n'est pas joignable depuis internet, une clé d'API serait sinon indispensable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Difficultés rencontrées et enseignements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15</a:t>
            </a:r>
          </a:p>
        </p:txBody>
      </p:sp>
      <p:graphicFrame>
        <p:nvGraphicFramePr>
          <p:cNvPr id="6" name="Table 5"/>
          <p:cNvGraphicFramePr>
            <a:graphicFrameLocks noGrp="1"/>
          </p:cNvGraphicFramePr>
          <p:nvPr/>
        </p:nvGraphicFramePr>
        <p:xfrm>
          <a:off x="777240" y="1417320"/>
          <a:ext cx="10607040" cy="3401568"/>
        </p:xfrm>
        <a:graphic>
          <a:graphicData uri="http://schemas.openxmlformats.org/drawingml/2006/table">
            <a:tbl>
              <a:tblPr firstRow="1" bandRow="1">
                <a:tableStyleId>{5C22544A-7EE6-4342-B048-85BDC9FD1C3A}</a:tableStyleId>
              </a:tblPr>
              <a:tblGrid>
                <a:gridCol w="4937760"/>
                <a:gridCol w="5669280"/>
              </a:tblGrid>
              <a:tr h="566928">
                <a:tc>
                  <a:txBody>
                    <a:bodyPr/>
                    <a:lstStyle/>
                    <a:p>
                      <a:r>
                        <a:rPr sz="1300" b="1" i="0">
                          <a:solidFill>
                            <a:srgbClr val="FFFFFF"/>
                          </a:solidFill>
                          <a:latin typeface="Arial"/>
                        </a:rPr>
                        <a:t>Difficulté</a:t>
                      </a:r>
                    </a:p>
                  </a:txBody>
                  <a:tcPr anchor="ctr" marL="109728" marT="36576" marB="36576">
                    <a:solidFill>
                      <a:srgbClr val="1B3A5B"/>
                    </a:solidFill>
                  </a:tcPr>
                </a:tc>
                <a:tc>
                  <a:txBody>
                    <a:bodyPr/>
                    <a:lstStyle/>
                    <a:p>
                      <a:r>
                        <a:rPr sz="1300" b="1" i="0">
                          <a:solidFill>
                            <a:srgbClr val="FFFFFF"/>
                          </a:solidFill>
                          <a:latin typeface="Arial"/>
                        </a:rPr>
                        <a:t>Résolution</a:t>
                      </a:r>
                    </a:p>
                  </a:txBody>
                  <a:tcPr anchor="ctr" marL="109728" marT="36576" marB="36576">
                    <a:solidFill>
                      <a:srgbClr val="1B3A5B"/>
                    </a:solidFill>
                  </a:tcPr>
                </a:tc>
              </a:tr>
              <a:tr h="566928">
                <a:tc>
                  <a:txBody>
                    <a:bodyPr/>
                    <a:lstStyle/>
                    <a:p>
                      <a:r>
                        <a:rPr sz="1300" b="0" i="0">
                          <a:solidFill>
                            <a:srgbClr val="2B2B2B"/>
                          </a:solidFill>
                          <a:latin typeface="Arial"/>
                        </a:rPr>
                        <a:t>Les formules des features n'existaient que dans le notebook</a:t>
                      </a:r>
                    </a:p>
                  </a:txBody>
                  <a:tcPr anchor="ctr" marL="109728" marT="36576" marB="36576">
                    <a:solidFill>
                      <a:srgbClr val="FFFFFF"/>
                    </a:solidFill>
                  </a:tcPr>
                </a:tc>
                <a:tc>
                  <a:txBody>
                    <a:bodyPr/>
                    <a:lstStyle/>
                    <a:p>
                      <a:r>
                        <a:rPr sz="1300" b="0" i="0">
                          <a:solidFill>
                            <a:srgbClr val="2B2B2B"/>
                          </a:solidFill>
                          <a:latin typeface="Arial"/>
                        </a:rPr>
                        <a:t>extraites dans une fonction unique, puis vérifiées sur 1 470 lignes</a:t>
                      </a:r>
                    </a:p>
                  </a:txBody>
                  <a:tcPr anchor="ctr" marL="109728" marT="36576" marB="36576">
                    <a:solidFill>
                      <a:srgbClr val="FFFFFF"/>
                    </a:solidFill>
                  </a:tcPr>
                </a:tc>
              </a:tr>
              <a:tr h="566928">
                <a:tc>
                  <a:txBody>
                    <a:bodyPr/>
                    <a:lstStyle/>
                    <a:p>
                      <a:r>
                        <a:rPr sz="1300" b="0" i="0">
                          <a:solidFill>
                            <a:srgbClr val="2B2B2B"/>
                          </a:solidFill>
                          <a:latin typeface="Arial"/>
                        </a:rPr>
                        <a:t>Les tests ne doivent pas exiger un serveur PostgreSQL</a:t>
                      </a:r>
                    </a:p>
                  </a:txBody>
                  <a:tcPr anchor="ctr" marL="109728" marT="36576" marB="36576">
                    <a:solidFill>
                      <a:srgbClr val="F1F5F7"/>
                    </a:solidFill>
                  </a:tcPr>
                </a:tc>
                <a:tc>
                  <a:txBody>
                    <a:bodyPr/>
                    <a:lstStyle/>
                    <a:p>
                      <a:r>
                        <a:rPr sz="1300" b="0" i="0">
                          <a:solidFill>
                            <a:srgbClr val="2B2B2B"/>
                          </a:solidFill>
                          <a:latin typeface="Arial"/>
                        </a:rPr>
                        <a:t>SQLite en mémoire + substitution de dépendance FastAPI</a:t>
                      </a:r>
                    </a:p>
                  </a:txBody>
                  <a:tcPr anchor="ctr" marL="109728" marT="36576" marB="36576">
                    <a:solidFill>
                      <a:srgbClr val="F1F5F7"/>
                    </a:solidFill>
                  </a:tcPr>
                </a:tc>
              </a:tr>
              <a:tr h="566928">
                <a:tc>
                  <a:txBody>
                    <a:bodyPr/>
                    <a:lstStyle/>
                    <a:p>
                      <a:r>
                        <a:rPr sz="1300" b="0" i="0">
                          <a:solidFill>
                            <a:srgbClr val="2B2B2B"/>
                          </a:solidFill>
                          <a:latin typeface="Arial"/>
                        </a:rPr>
                        <a:t>L'étape de déploiement ne s'exécutait jamais</a:t>
                      </a:r>
                    </a:p>
                  </a:txBody>
                  <a:tcPr anchor="ctr" marL="109728" marT="36576" marB="36576">
                    <a:solidFill>
                      <a:srgbClr val="FFFFFF"/>
                    </a:solidFill>
                  </a:tcPr>
                </a:tc>
                <a:tc>
                  <a:txBody>
                    <a:bodyPr/>
                    <a:lstStyle/>
                    <a:p>
                      <a:r>
                        <a:rPr sz="1300" b="0" i="0">
                          <a:solidFill>
                            <a:srgbClr val="2B2B2B"/>
                          </a:solidFill>
                          <a:latin typeface="Arial"/>
                        </a:rPr>
                        <a:t>une erreur d'indentation YAML la plaçait dans un autre job</a:t>
                      </a:r>
                    </a:p>
                  </a:txBody>
                  <a:tcPr anchor="ctr" marL="109728" marT="36576" marB="36576">
                    <a:solidFill>
                      <a:srgbClr val="FFFFFF"/>
                    </a:solidFill>
                  </a:tcPr>
                </a:tc>
              </a:tr>
              <a:tr h="566928">
                <a:tc>
                  <a:txBody>
                    <a:bodyPr/>
                    <a:lstStyle/>
                    <a:p>
                      <a:r>
                        <a:rPr sz="1300" b="0" i="0">
                          <a:solidFill>
                            <a:srgbClr val="2B2B2B"/>
                          </a:solidFill>
                          <a:latin typeface="Arial"/>
                        </a:rPr>
                        <a:t>Une publication de CLI a cassé le déploiement</a:t>
                      </a:r>
                    </a:p>
                  </a:txBody>
                  <a:tcPr anchor="ctr" marL="109728" marT="36576" marB="36576">
                    <a:solidFill>
                      <a:srgbClr val="F1F5F7"/>
                    </a:solidFill>
                  </a:tcPr>
                </a:tc>
                <a:tc>
                  <a:txBody>
                    <a:bodyPr/>
                    <a:lstStyle/>
                    <a:p>
                      <a:r>
                        <a:rPr sz="1300" b="0" i="0">
                          <a:solidFill>
                            <a:srgbClr val="2B2B2B"/>
                          </a:solidFill>
                          <a:latin typeface="Arial"/>
                        </a:rPr>
                        <a:t>action mise à jour et version de l'outil figée</a:t>
                      </a:r>
                    </a:p>
                  </a:txBody>
                  <a:tcPr anchor="ctr" marL="109728" marT="36576" marB="36576">
                    <a:solidFill>
                      <a:srgbClr val="F1F5F7"/>
                    </a:solidFill>
                  </a:tcPr>
                </a:tc>
              </a:tr>
              <a:tr h="566928">
                <a:tc>
                  <a:txBody>
                    <a:bodyPr/>
                    <a:lstStyle/>
                    <a:p>
                      <a:r>
                        <a:rPr sz="1300" b="0" i="0">
                          <a:solidFill>
                            <a:srgbClr val="2B2B2B"/>
                          </a:solidFill>
                          <a:latin typeface="Arial"/>
                        </a:rPr>
                        <a:t>Branches locale et distante divergentes</a:t>
                      </a:r>
                    </a:p>
                  </a:txBody>
                  <a:tcPr anchor="ctr" marL="109728" marT="36576" marB="36576">
                    <a:solidFill>
                      <a:srgbClr val="FFFFFF"/>
                    </a:solidFill>
                  </a:tcPr>
                </a:tc>
                <a:tc>
                  <a:txBody>
                    <a:bodyPr/>
                    <a:lstStyle/>
                    <a:p>
                      <a:r>
                        <a:rPr sz="1300" b="0" i="0">
                          <a:solidFill>
                            <a:srgbClr val="2B2B2B"/>
                          </a:solidFill>
                          <a:latin typeface="Arial"/>
                        </a:rPr>
                        <a:t>fusion plutôt que push forcé : aucun commit perdu</a:t>
                      </a:r>
                    </a:p>
                  </a:txBody>
                  <a:tcPr anchor="ctr" marL="109728" marT="36576" marB="36576">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Bilan et prochaines étapes</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16</a:t>
            </a:r>
          </a:p>
        </p:txBody>
      </p:sp>
      <p:sp>
        <p:nvSpPr>
          <p:cNvPr id="6" name="Rounded Rectangle 5"/>
          <p:cNvSpPr/>
          <p:nvPr/>
        </p:nvSpPr>
        <p:spPr>
          <a:xfrm>
            <a:off x="777240" y="1417320"/>
            <a:ext cx="5120640" cy="411480"/>
          </a:xfrm>
          <a:prstGeom prst="roundRect">
            <a:avLst/>
          </a:prstGeom>
          <a:solidFill>
            <a:srgbClr val="1B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i="0">
                <a:solidFill>
                  <a:srgbClr val="FFFFFF"/>
                </a:solidFill>
                <a:latin typeface="Arial"/>
              </a:rPr>
              <a:t>Livré</a:t>
            </a:r>
          </a:p>
        </p:txBody>
      </p:sp>
      <p:sp>
        <p:nvSpPr>
          <p:cNvPr id="7" name="TextBox 6"/>
          <p:cNvSpPr txBox="1"/>
          <p:nvPr/>
        </p:nvSpPr>
        <p:spPr>
          <a:xfrm>
            <a:off x="868680" y="1965960"/>
            <a:ext cx="4937760" cy="4160520"/>
          </a:xfrm>
          <a:prstGeom prst="rect">
            <a:avLst/>
          </a:prstGeom>
          <a:noFill/>
        </p:spPr>
        <p:txBody>
          <a:bodyPr wrap="square">
            <a:spAutoFit/>
          </a:bodyPr>
          <a:lstStyle/>
          <a:p>
            <a:pPr>
              <a:spcAft>
                <a:spcPts val="734"/>
              </a:spcAft>
            </a:pPr>
            <a:r>
              <a:rPr sz="1400" b="0" i="0">
                <a:solidFill>
                  <a:srgbClr val="2B2B2B"/>
                </a:solidFill>
                <a:latin typeface="Arial"/>
              </a:rPr>
              <a:t>•  API exposant le modèle, documentée</a:t>
            </a:r>
          </a:p>
          <a:p>
            <a:pPr>
              <a:spcAft>
                <a:spcPts val="734"/>
              </a:spcAft>
            </a:pPr>
            <a:r>
              <a:rPr sz="1400" b="0" i="0">
                <a:solidFill>
                  <a:srgbClr val="2B2B2B"/>
                </a:solidFill>
                <a:latin typeface="Arial"/>
              </a:rPr>
              <a:t>•  Base PostgreSQL + schéma UML</a:t>
            </a:r>
          </a:p>
          <a:p>
            <a:pPr>
              <a:spcAft>
                <a:spcPts val="734"/>
              </a:spcAft>
            </a:pPr>
            <a:r>
              <a:rPr sz="1400" b="0" i="0">
                <a:solidFill>
                  <a:srgbClr val="2B2B2B"/>
                </a:solidFill>
                <a:latin typeface="Arial"/>
              </a:rPr>
              <a:t>•  Dataset chargé : 1 470 employés</a:t>
            </a:r>
          </a:p>
          <a:p>
            <a:pPr>
              <a:spcAft>
                <a:spcPts val="734"/>
              </a:spcAft>
            </a:pPr>
            <a:r>
              <a:rPr sz="1400" b="0" i="0">
                <a:solidFill>
                  <a:srgbClr val="2B2B2B"/>
                </a:solidFill>
                <a:latin typeface="Arial"/>
              </a:rPr>
              <a:t>•  Chaque appel tracé, erreurs comprises</a:t>
            </a:r>
          </a:p>
          <a:p>
            <a:pPr>
              <a:spcAft>
                <a:spcPts val="734"/>
              </a:spcAft>
            </a:pPr>
            <a:r>
              <a:rPr sz="1400" b="0" i="0">
                <a:solidFill>
                  <a:srgbClr val="2B2B2B"/>
                </a:solidFill>
                <a:latin typeface="Arial"/>
              </a:rPr>
              <a:t>•  65 tests, 86 % de couverture, CI verte</a:t>
            </a:r>
          </a:p>
          <a:p>
            <a:pPr>
              <a:spcAft>
                <a:spcPts val="734"/>
              </a:spcAft>
            </a:pPr>
            <a:r>
              <a:rPr sz="1400" b="0" i="0">
                <a:solidFill>
                  <a:srgbClr val="2B2B2B"/>
                </a:solidFill>
                <a:latin typeface="Arial"/>
              </a:rPr>
              <a:t>•  Déployé via Docker + GitHub Actions</a:t>
            </a:r>
          </a:p>
        </p:txBody>
      </p:sp>
      <p:sp>
        <p:nvSpPr>
          <p:cNvPr id="8" name="Rounded Rectangle 7"/>
          <p:cNvSpPr/>
          <p:nvPr/>
        </p:nvSpPr>
        <p:spPr>
          <a:xfrm>
            <a:off x="6263640" y="1417320"/>
            <a:ext cx="5120640" cy="411480"/>
          </a:xfrm>
          <a:prstGeom prst="round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i="0">
                <a:solidFill>
                  <a:srgbClr val="FFFFFF"/>
                </a:solidFill>
                <a:latin typeface="Arial"/>
              </a:rPr>
              <a:t>Prochaines étapes</a:t>
            </a:r>
          </a:p>
        </p:txBody>
      </p:sp>
      <p:sp>
        <p:nvSpPr>
          <p:cNvPr id="9" name="TextBox 8"/>
          <p:cNvSpPr txBox="1"/>
          <p:nvPr/>
        </p:nvSpPr>
        <p:spPr>
          <a:xfrm>
            <a:off x="6355080" y="1965960"/>
            <a:ext cx="4937760" cy="4160520"/>
          </a:xfrm>
          <a:prstGeom prst="rect">
            <a:avLst/>
          </a:prstGeom>
          <a:noFill/>
        </p:spPr>
        <p:txBody>
          <a:bodyPr wrap="square">
            <a:spAutoFit/>
          </a:bodyPr>
          <a:lstStyle/>
          <a:p>
            <a:pPr>
              <a:spcAft>
                <a:spcPts val="734"/>
              </a:spcAft>
            </a:pPr>
            <a:r>
              <a:rPr sz="1400" b="0" i="0">
                <a:solidFill>
                  <a:srgbClr val="2B2B2B"/>
                </a:solidFill>
                <a:latin typeface="Arial"/>
              </a:rPr>
              <a:t>•  /predict/{id} lisant un employé directement en base</a:t>
            </a:r>
          </a:p>
          <a:p>
            <a:pPr>
              <a:spcAft>
                <a:spcPts val="734"/>
              </a:spcAft>
            </a:pPr>
            <a:r>
              <a:rPr sz="1400" b="0" i="0">
                <a:solidFill>
                  <a:srgbClr val="2B2B2B"/>
                </a:solidFill>
                <a:latin typeface="Arial"/>
              </a:rPr>
              <a:t>•  Authentification (clé d'API) avant toute ouverture réelle</a:t>
            </a:r>
          </a:p>
          <a:p>
            <a:pPr>
              <a:spcAft>
                <a:spcPts val="734"/>
              </a:spcAft>
            </a:pPr>
            <a:r>
              <a:rPr sz="1400" b="0" i="0">
                <a:solidFill>
                  <a:srgbClr val="2B2B2B"/>
                </a:solidFill>
                <a:latin typeface="Arial"/>
              </a:rPr>
              <a:t>•  Monitoring de dérive : comparer prediction_input aux données d'entraînement</a:t>
            </a:r>
          </a:p>
          <a:p>
            <a:pPr>
              <a:spcAft>
                <a:spcPts val="734"/>
              </a:spcAft>
            </a:pPr>
            <a:r>
              <a:rPr sz="1400" b="0" i="0">
                <a:solidFill>
                  <a:srgbClr val="2B2B2B"/>
                </a:solidFill>
                <a:latin typeface="Arial"/>
              </a:rPr>
              <a:t>•  Boucler : enregistrer les départs réels pour mesurer la performance en production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11480"/>
            <a:ext cx="10637215" cy="731520"/>
          </a:xfrm>
          <a:prstGeom prst="rect">
            <a:avLst/>
          </a:prstGeom>
          <a:noFill/>
        </p:spPr>
        <p:txBody>
          <a:bodyPr wrap="square">
            <a:spAutoFit/>
          </a:bodyPr>
          <a:lstStyle/>
          <a:p>
            <a:r>
              <a:rPr sz="3000" b="1" i="0">
                <a:solidFill>
                  <a:srgbClr val="1B3A5B"/>
                </a:solidFill>
                <a:latin typeface="Arial"/>
              </a:rPr>
              <a:t>Liens et démonstration</a:t>
            </a:r>
          </a:p>
        </p:txBody>
      </p:sp>
      <p:sp>
        <p:nvSpPr>
          <p:cNvPr id="3" name="Rectangle 2"/>
          <p:cNvSpPr/>
          <p:nvPr/>
        </p:nvSpPr>
        <p:spPr>
          <a:xfrm>
            <a:off x="777240" y="1115568"/>
            <a:ext cx="1371600" cy="45720"/>
          </a:xfrm>
          <a:prstGeom prst="rect">
            <a:avLst/>
          </a:prstGeom>
          <a:solidFill>
            <a:srgbClr val="2F7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55080"/>
            <a:ext cx="9357055" cy="320040"/>
          </a:xfrm>
          <a:prstGeom prst="rect">
            <a:avLst/>
          </a:prstGeom>
          <a:noFill/>
        </p:spPr>
        <p:txBody>
          <a:bodyPr wrap="square">
            <a:spAutoFit/>
          </a:bodyPr>
          <a:lstStyle/>
          <a:p>
            <a:r>
              <a:rPr sz="1000" b="0" i="0">
                <a:solidFill>
                  <a:srgbClr val="6B7280"/>
                </a:solidFill>
                <a:latin typeface="Arial"/>
              </a:rPr>
              <a:t>Futurisys — mise en production d'un modèle de ML</a:t>
            </a:r>
          </a:p>
        </p:txBody>
      </p:sp>
      <p:sp>
        <p:nvSpPr>
          <p:cNvPr id="5" name="TextBox 4"/>
          <p:cNvSpPr txBox="1"/>
          <p:nvPr/>
        </p:nvSpPr>
        <p:spPr>
          <a:xfrm>
            <a:off x="10500055" y="6355080"/>
            <a:ext cx="914400" cy="320040"/>
          </a:xfrm>
          <a:prstGeom prst="rect">
            <a:avLst/>
          </a:prstGeom>
          <a:noFill/>
        </p:spPr>
        <p:txBody>
          <a:bodyPr wrap="square">
            <a:spAutoFit/>
          </a:bodyPr>
          <a:lstStyle/>
          <a:p>
            <a:pPr algn="r"/>
            <a:r>
              <a:rPr sz="1000" b="0" i="0">
                <a:solidFill>
                  <a:srgbClr val="6B7280"/>
                </a:solidFill>
                <a:latin typeface="Arial"/>
              </a:rPr>
              <a:t>17</a:t>
            </a:r>
          </a:p>
        </p:txBody>
      </p:sp>
      <p:graphicFrame>
        <p:nvGraphicFramePr>
          <p:cNvPr id="6" name="Table 5"/>
          <p:cNvGraphicFramePr>
            <a:graphicFrameLocks noGrp="1"/>
          </p:cNvGraphicFramePr>
          <p:nvPr/>
        </p:nvGraphicFramePr>
        <p:xfrm>
          <a:off x="777240" y="1417320"/>
          <a:ext cx="10607040" cy="2743200"/>
        </p:xfrm>
        <a:graphic>
          <a:graphicData uri="http://schemas.openxmlformats.org/drawingml/2006/table">
            <a:tbl>
              <a:tblPr firstRow="1" bandRow="1">
                <a:tableStyleId>{5C22544A-7EE6-4342-B048-85BDC9FD1C3A}</a:tableStyleId>
              </a:tblPr>
              <a:tblGrid>
                <a:gridCol w="4206240"/>
                <a:gridCol w="6400800"/>
              </a:tblGrid>
              <a:tr h="457200">
                <a:tc>
                  <a:txBody>
                    <a:bodyPr/>
                    <a:lstStyle/>
                    <a:p>
                      <a:r>
                        <a:rPr sz="1400" b="1" i="0">
                          <a:solidFill>
                            <a:srgbClr val="FFFFFF"/>
                          </a:solidFill>
                          <a:latin typeface="Arial"/>
                        </a:rPr>
                        <a:t>Quoi</a:t>
                      </a:r>
                    </a:p>
                  </a:txBody>
                  <a:tcPr anchor="ctr" marL="109728" marT="36576" marB="36576">
                    <a:solidFill>
                      <a:srgbClr val="1B3A5B"/>
                    </a:solidFill>
                  </a:tcPr>
                </a:tc>
                <a:tc>
                  <a:txBody>
                    <a:bodyPr/>
                    <a:lstStyle/>
                    <a:p>
                      <a:r>
                        <a:rPr sz="1400" b="1" i="0">
                          <a:solidFill>
                            <a:srgbClr val="FFFFFF"/>
                          </a:solidFill>
                          <a:latin typeface="Arial"/>
                        </a:rPr>
                        <a:t>Où</a:t>
                      </a:r>
                    </a:p>
                  </a:txBody>
                  <a:tcPr anchor="ctr" marL="109728" marT="36576" marB="36576">
                    <a:solidFill>
                      <a:srgbClr val="1B3A5B"/>
                    </a:solidFill>
                  </a:tcPr>
                </a:tc>
              </a:tr>
              <a:tr h="457200">
                <a:tc>
                  <a:txBody>
                    <a:bodyPr/>
                    <a:lstStyle/>
                    <a:p>
                      <a:r>
                        <a:rPr sz="1400" b="0" i="0">
                          <a:solidFill>
                            <a:srgbClr val="2B2B2B"/>
                          </a:solidFill>
                          <a:latin typeface="Arial"/>
                        </a:rPr>
                        <a:t>Code source</a:t>
                      </a:r>
                    </a:p>
                  </a:txBody>
                  <a:tcPr anchor="ctr" marL="109728" marT="36576" marB="36576">
                    <a:solidFill>
                      <a:srgbClr val="FFFFFF"/>
                    </a:solidFill>
                  </a:tcPr>
                </a:tc>
                <a:tc>
                  <a:txBody>
                    <a:bodyPr/>
                    <a:lstStyle/>
                    <a:p>
                      <a:r>
                        <a:rPr sz="1400" b="0" i="0">
                          <a:solidFill>
                            <a:srgbClr val="2B2B2B"/>
                          </a:solidFill>
                          <a:latin typeface="Arial"/>
                        </a:rPr>
                        <a:t>github.com/ankim21/Projet5_DEPLOYMENTML</a:t>
                      </a:r>
                    </a:p>
                  </a:txBody>
                  <a:tcPr anchor="ctr" marL="109728" marT="36576" marB="36576">
                    <a:solidFill>
                      <a:srgbClr val="FFFFFF"/>
                    </a:solidFill>
                  </a:tcPr>
                </a:tc>
              </a:tr>
              <a:tr h="457200">
                <a:tc>
                  <a:txBody>
                    <a:bodyPr/>
                    <a:lstStyle/>
                    <a:p>
                      <a:r>
                        <a:rPr sz="1400" b="0" i="0">
                          <a:solidFill>
                            <a:srgbClr val="2B2B2B"/>
                          </a:solidFill>
                          <a:latin typeface="Arial"/>
                        </a:rPr>
                        <a:t>API déployée</a:t>
                      </a:r>
                    </a:p>
                  </a:txBody>
                  <a:tcPr anchor="ctr" marL="109728" marT="36576" marB="36576">
                    <a:solidFill>
                      <a:srgbClr val="F1F5F7"/>
                    </a:solidFill>
                  </a:tcPr>
                </a:tc>
                <a:tc>
                  <a:txBody>
                    <a:bodyPr/>
                    <a:lstStyle/>
                    <a:p>
                      <a:r>
                        <a:rPr sz="1400" b="0" i="0">
                          <a:solidFill>
                            <a:srgbClr val="2B2B2B"/>
                          </a:solidFill>
                          <a:latin typeface="Arial"/>
                        </a:rPr>
                        <a:t>huggingface.co/spaces/anchaekim/futurisys</a:t>
                      </a:r>
                    </a:p>
                  </a:txBody>
                  <a:tcPr anchor="ctr" marL="109728" marT="36576" marB="36576">
                    <a:solidFill>
                      <a:srgbClr val="F1F5F7"/>
                    </a:solidFill>
                  </a:tcPr>
                </a:tc>
              </a:tr>
              <a:tr h="457200">
                <a:tc>
                  <a:txBody>
                    <a:bodyPr/>
                    <a:lstStyle/>
                    <a:p>
                      <a:r>
                        <a:rPr sz="1400" b="0" i="0">
                          <a:solidFill>
                            <a:srgbClr val="2B2B2B"/>
                          </a:solidFill>
                          <a:latin typeface="Arial"/>
                        </a:rPr>
                        <a:t>Documentation interactive</a:t>
                      </a:r>
                    </a:p>
                  </a:txBody>
                  <a:tcPr anchor="ctr" marL="109728" marT="36576" marB="36576">
                    <a:solidFill>
                      <a:srgbClr val="FFFFFF"/>
                    </a:solidFill>
                  </a:tcPr>
                </a:tc>
                <a:tc>
                  <a:txBody>
                    <a:bodyPr/>
                    <a:lstStyle/>
                    <a:p>
                      <a:r>
                        <a:rPr sz="1400" b="0" i="0">
                          <a:solidFill>
                            <a:srgbClr val="2B2B2B"/>
                          </a:solidFill>
                          <a:latin typeface="Arial"/>
                        </a:rPr>
                        <a:t>/docs sur l'API en fonctionnement</a:t>
                      </a:r>
                    </a:p>
                  </a:txBody>
                  <a:tcPr anchor="ctr" marL="109728" marT="36576" marB="36576">
                    <a:solidFill>
                      <a:srgbClr val="FFFFFF"/>
                    </a:solidFill>
                  </a:tcPr>
                </a:tc>
              </a:tr>
              <a:tr h="457200">
                <a:tc>
                  <a:txBody>
                    <a:bodyPr/>
                    <a:lstStyle/>
                    <a:p>
                      <a:r>
                        <a:rPr sz="1400" b="0" i="0">
                          <a:solidFill>
                            <a:srgbClr val="2B2B2B"/>
                          </a:solidFill>
                          <a:latin typeface="Arial"/>
                        </a:rPr>
                        <a:t>Schéma de la base (UML) et choix techniques</a:t>
                      </a:r>
                    </a:p>
                  </a:txBody>
                  <a:tcPr anchor="ctr" marL="109728" marT="36576" marB="36576">
                    <a:solidFill>
                      <a:srgbClr val="F1F5F7"/>
                    </a:solidFill>
                  </a:tcPr>
                </a:tc>
                <a:tc>
                  <a:txBody>
                    <a:bodyPr/>
                    <a:lstStyle/>
                    <a:p>
                      <a:r>
                        <a:rPr sz="1400" b="0" i="0">
                          <a:solidFill>
                            <a:srgbClr val="2B2B2B"/>
                          </a:solidFill>
                          <a:latin typeface="Arial"/>
                        </a:rPr>
                        <a:t>docs/db_schema.md</a:t>
                      </a:r>
                    </a:p>
                  </a:txBody>
                  <a:tcPr anchor="ctr" marL="109728" marT="36576" marB="36576">
                    <a:solidFill>
                      <a:srgbClr val="F1F5F7"/>
                    </a:solidFill>
                  </a:tcPr>
                </a:tc>
              </a:tr>
              <a:tr h="457200">
                <a:tc>
                  <a:txBody>
                    <a:bodyPr/>
                    <a:lstStyle/>
                    <a:p>
                      <a:r>
                        <a:rPr sz="1400" b="0" i="0">
                          <a:solidFill>
                            <a:srgbClr val="2B2B2B"/>
                          </a:solidFill>
                          <a:latin typeface="Arial"/>
                        </a:rPr>
                        <a:t>Installation, usage, sécurité</a:t>
                      </a:r>
                    </a:p>
                  </a:txBody>
                  <a:tcPr anchor="ctr" marL="109728" marT="36576" marB="36576">
                    <a:solidFill>
                      <a:srgbClr val="FFFFFF"/>
                    </a:solidFill>
                  </a:tcPr>
                </a:tc>
                <a:tc>
                  <a:txBody>
                    <a:bodyPr/>
                    <a:lstStyle/>
                    <a:p>
                      <a:r>
                        <a:rPr sz="1400" b="0" i="0">
                          <a:solidFill>
                            <a:srgbClr val="2B2B2B"/>
                          </a:solidFill>
                          <a:latin typeface="Arial"/>
                        </a:rPr>
                        <a:t>README.md</a:t>
                      </a:r>
                    </a:p>
                  </a:txBody>
                  <a:tcPr anchor="ctr" marL="109728" marT="36576" marB="36576">
                    <a:solidFill>
                      <a:srgbClr val="FFFFFF"/>
                    </a:solidFill>
                  </a:tcPr>
                </a:tc>
              </a:tr>
            </a:tbl>
          </a:graphicData>
        </a:graphic>
      </p:graphicFrame>
      <p:sp>
        <p:nvSpPr>
          <p:cNvPr id="7" name="TextBox 6"/>
          <p:cNvSpPr txBox="1"/>
          <p:nvPr/>
        </p:nvSpPr>
        <p:spPr>
          <a:xfrm>
            <a:off x="777240" y="4389120"/>
            <a:ext cx="10637215" cy="822960"/>
          </a:xfrm>
          <a:prstGeom prst="rect">
            <a:avLst/>
          </a:prstGeom>
          <a:noFill/>
        </p:spPr>
        <p:txBody>
          <a:bodyPr wrap="square">
            <a:spAutoFit/>
          </a:bodyPr>
          <a:lstStyle/>
          <a:p>
            <a:r>
              <a:rPr sz="2000" b="1" i="0">
                <a:solidFill>
                  <a:srgbClr val="1B3A5B"/>
                </a:solidFill>
                <a:latin typeface="Arial"/>
              </a:rPr>
              <a:t>Démonstration en direct</a:t>
            </a:r>
          </a:p>
          <a:p>
            <a:r>
              <a:rPr sz="1500" b="0" i="0">
                <a:solidFill>
                  <a:srgbClr val="2B2B2B"/>
                </a:solidFill>
                <a:latin typeface="Arial"/>
              </a:rPr>
              <a:t>1. lancer l'API en local   2. envoyer une prédiction depuis /docs   3. montrer la ligne enregistrée dans PostgreSQL</a:t>
            </a:r>
          </a:p>
        </p:txBody>
      </p:sp>
      <p:sp>
        <p:nvSpPr>
          <p:cNvPr id="8" name="TextBox 7"/>
          <p:cNvSpPr txBox="1"/>
          <p:nvPr/>
        </p:nvSpPr>
        <p:spPr>
          <a:xfrm>
            <a:off x="777240" y="5623560"/>
            <a:ext cx="10637215" cy="457200"/>
          </a:xfrm>
          <a:prstGeom prst="rect">
            <a:avLst/>
          </a:prstGeom>
          <a:noFill/>
        </p:spPr>
        <p:txBody>
          <a:bodyPr wrap="square">
            <a:spAutoFit/>
          </a:bodyPr>
          <a:lstStyle/>
          <a:p>
            <a:pPr algn="ctr"/>
            <a:r>
              <a:rPr sz="2000" b="1" i="0">
                <a:solidFill>
                  <a:srgbClr val="2F7D7A"/>
                </a:solidFill>
                <a:latin typeface="Arial"/>
              </a:rPr>
              <a:t>Merci — place aux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