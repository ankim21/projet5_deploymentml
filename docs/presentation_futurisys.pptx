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Andrea Kim. Je vais vous présenter la mise en production d'un modèle de machine learning qui prédit le risque de départ d'un employé chez Futurisys. Le modèle existait déjà : mon travail ici était de le rendre utilisable, fiable et traçable.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seul ne sert à rien : un fichier .joblib sur un ordinateur portable n'est pas un produit. L'objectif du projet 5 était de l'exposer via une API, de garantir sa fiabilité par des tests, et surtout d'assurer la traçabilité complète des échanges grâce à une base de données.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les livrables. Je détaille ensuite l'architecture, puis chaque brique : le modèle, l'API, la base de données, les tests, et enfin le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L'architecture suit une séparation des responsabilités. app/ ne sait pas prédire, modele/ ne sait rien de HTTP ni de la base, db/ ne sait rien du modèle. Cela rend chaque partie testable indépendamment. La règle centrale : une prédiction n'est renvoyée que si elle a été enregistrée.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seuil est un choix métier, pas un détail technique : il est stocké avec le modèle et appliqué par l'API. Les métriques sont celles du jeu de test du projet 3. Point important : les versions des librairies sont enregistrées dans l'artefact, ce qui impose de les figer dans requirements.txt.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point technique dont je suis le plus fière. Les formules n'existaient que dans le notebook. Je les ai extraites dans une fonction unique et j'ai vérifié, sur les 1 470 employés, que les probabilités produites sont identiques à celles du notebook. Sans cela, l'API aurait pu se tromper sans jamais lever d'erreur.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L'API est volontairement minimale. Le point notable est id_prediction : la réponse contient l'identifiant de la ligne enregistrée, ce qui permet de retrouver l'échange en base. La documentation /docs est générée automatiquement à partir des classes Pydantic.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de projets ne valident qu'à l'entrée de l'API. Ici, la base impose les mêmes règles, car l'import CSV et de futurs scripts ne passent pas par Pydantic. Et les listes de valeurs autorisées correspondent aux catégories vues à l'entraînement : une modalité inconnue n'aurait aucun sens pour le modèle.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schéma sépare les données d'entraînement (qui contiennent la cible) des données de production (qui ne l'ont pas). Trois choix à défendre : on ne stocke que le brut, les colonnes sont typées plutôt qu'un JSON, et les listes de valeurs sont des contraintes CHECK, plus simples à faire évoluer qu'un type ENUM PostgreSQL.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cas 503 est un choix assumé : si la base est indisponible, l'API refuse de prédire, parce qu'une prédiction non tracée violerait l'exigence du projet. Et une erreur du modèle n'est pas perdue : elle est enregistrée avec son message, ce qui permettrait de la diagnostiquer.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risque le plus grave dans un import de données n'est pas l'erreur bruyante, c'est l'erreur silencieuse : si les identifiants étaient décalés, on entraînerait ou évaluerait le modèle sur des paires features/cible incorrectes, sans aucun message d'erreur. D'où la vérification explicite des identifiants et la transaction unique.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niveaux de tests. Le point technique intéressant est la substitution de la base : FastAPI permet de remplacer la dépendance de session, donc les tests utilisent SQLite en mémoire. J'assume la limite : SQLite est plus permissif que PostgreSQL, donc je vérifie le schéma réel avec un script SQL dédié.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 incident est un bon exemple de ce que la CI/CD révèle : une dépendance non figée a cassé une chaîne qui fonctionnait, sans aucune modification de mon code. C'est exactement la raison pour laquelle requirements.txt fige les versions, et pourquoi l'artefact du modèle enregistre les siennes. J'ai appliqué le même principe à l'outil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préfère une limite assumée et documentée à une fausse démo. Le déploiement prouve la chaîne Docker + CI/CD + hébergement ; la base reste locale pour des raisons de confidentialité et parce que le disque d'un Space n'est pas persistant. Et la décision est réversible : il suffirait de fournir une variable secrète.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sécurité a été traitée comme une exigence, pas comme une option : aucun secret dans le dépôt, aucune donnée RH dans l'image Docker, un utilisateur de base dédié. Je mentionne aussi la limite connue : il n'y a pas encore d'authentification sur /predict, ce qui serait indispensable si l'endpoint était ouvert à de vrais utilisateurs.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difficultés sont surtout des leçons d'ingénierie : un code qui marche ne suffit pas, il faut aussi qu'il soit reproductible et vérifiable. L'erreur d'indentation YAML est représentative : le pipeline semblait fonctionner alors que l'étape de déploiement n'était jamais exécutée.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répond aux exigences. Les prochaines étapes que je proposerais : un endpoint qui lit directement un employé en base, une authentification, et surtout le monitoring : les tables de prédictions permettent de comparer les données reçues en production à celles de l'entraînement, donc de détecter une dérive.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démonstration : je lance l'API en local, j'envoie une prédiction depuis /docs, puis j'affiche la ligne enregistrée en base avec verify.sql. Cela montre la chaîne complète : requête, prédiction, enregistrement, traçabilité. Merci, je suis disponible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108960"/>
          </a:xfrm>
          <a:prstGeom prst="rect">
            <a:avLst/>
          </a:prstGeom>
          <a:solidFill>
            <a:srgbClr val="1B3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960120"/>
            <a:ext cx="10637215" cy="1097280"/>
          </a:xfrm>
          <a:prstGeom prst="rect">
            <a:avLst/>
          </a:prstGeom>
          <a:noFill/>
        </p:spPr>
        <p:txBody>
          <a:bodyPr wrap="square">
            <a:spAutoFit/>
          </a:bodyPr>
          <a:lstStyle/>
          <a:p>
            <a:r>
              <a:rPr sz="4000" b="1" i="0">
                <a:solidFill>
                  <a:srgbClr val="FFFFFF"/>
                </a:solidFill>
                <a:latin typeface="Arial"/>
              </a:rPr>
              <a:t>Deploying a Machine Learning Model in Production</a:t>
            </a:r>
          </a:p>
        </p:txBody>
      </p:sp>
      <p:sp>
        <p:nvSpPr>
          <p:cNvPr id="4" name="TextBox 3"/>
          <p:cNvSpPr txBox="1"/>
          <p:nvPr/>
        </p:nvSpPr>
        <p:spPr>
          <a:xfrm>
            <a:off x="777240" y="2148840"/>
            <a:ext cx="10637215" cy="548640"/>
          </a:xfrm>
          <a:prstGeom prst="rect">
            <a:avLst/>
          </a:prstGeom>
          <a:noFill/>
        </p:spPr>
        <p:txBody>
          <a:bodyPr wrap="square">
            <a:spAutoFit/>
          </a:bodyPr>
          <a:lstStyle/>
          <a:p>
            <a:r>
              <a:rPr sz="2000" b="0" i="0">
                <a:solidFill>
                  <a:srgbClr val="C9D8E4"/>
                </a:solidFill>
                <a:latin typeface="Arial"/>
              </a:rPr>
              <a:t>Futurisys — an API that predicts employee attrition risk</a:t>
            </a:r>
          </a:p>
        </p:txBody>
      </p:sp>
      <p:sp>
        <p:nvSpPr>
          <p:cNvPr id="5" name="TextBox 4"/>
          <p:cNvSpPr txBox="1"/>
          <p:nvPr/>
        </p:nvSpPr>
        <p:spPr>
          <a:xfrm>
            <a:off x="777240" y="3566160"/>
            <a:ext cx="10637215" cy="1463040"/>
          </a:xfrm>
          <a:prstGeom prst="rect">
            <a:avLst/>
          </a:prstGeom>
          <a:noFill/>
        </p:spPr>
        <p:txBody>
          <a:bodyPr wrap="square">
            <a:spAutoFit/>
          </a:bodyPr>
          <a:lstStyle/>
          <a:p>
            <a:r>
              <a:rPr sz="2000" b="1" i="0">
                <a:solidFill>
                  <a:srgbClr val="1B3A5B"/>
                </a:solidFill>
                <a:latin typeface="Arial"/>
              </a:rPr>
              <a:t>Andrea Kim</a:t>
            </a:r>
          </a:p>
          <a:p>
            <a:r>
              <a:rPr sz="1600" b="0" i="0">
                <a:solidFill>
                  <a:srgbClr val="2B2B2B"/>
                </a:solidFill>
                <a:latin typeface="Arial"/>
              </a:rPr>
              <a:t>OpenClassrooms — Project 5</a:t>
            </a:r>
          </a:p>
          <a:p>
            <a:r>
              <a:rPr sz="1600" b="0" i="0">
                <a:solidFill>
                  <a:srgbClr val="6B7280"/>
                </a:solidFill>
                <a:latin typeface="Arial"/>
              </a:rPr>
              <a:t>September 2026</a:t>
            </a:r>
          </a:p>
        </p:txBody>
      </p:sp>
      <p:sp>
        <p:nvSpPr>
          <p:cNvPr id="6" name="TextBox 5"/>
          <p:cNvSpPr txBox="1"/>
          <p:nvPr/>
        </p:nvSpPr>
        <p:spPr>
          <a:xfrm>
            <a:off x="777240" y="5394960"/>
            <a:ext cx="10637215" cy="822960"/>
          </a:xfrm>
          <a:prstGeom prst="rect">
            <a:avLst/>
          </a:prstGeom>
          <a:noFill/>
        </p:spPr>
        <p:txBody>
          <a:bodyPr wrap="square">
            <a:spAutoFit/>
          </a:bodyPr>
          <a:lstStyle/>
          <a:p>
            <a:r>
              <a:rPr sz="1300" b="0" i="0">
                <a:solidFill>
                  <a:srgbClr val="6B7280"/>
                </a:solidFill>
                <a:latin typeface="Arial"/>
              </a:rPr>
              <a:t>FastAPI  ·  PostgreSQL  ·  SQLAlchemy  ·  Pytest  ·  Docker  ·  GitHub Actions  ·  Hugging Face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Context and mission</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10637215" cy="411480"/>
          </a:xfrm>
          <a:prstGeom prst="rect">
            <a:avLst/>
          </a:prstGeom>
          <a:noFill/>
        </p:spPr>
        <p:txBody>
          <a:bodyPr wrap="square">
            <a:spAutoFit/>
          </a:bodyPr>
          <a:lstStyle/>
          <a:p>
            <a:r>
              <a:rPr sz="1400" b="0" i="0">
                <a:solidFill>
                  <a:srgbClr val="6B7280"/>
                </a:solidFill>
                <a:latin typeface="Arial"/>
              </a:rPr>
              <a:t>Where this project starts and what it had to achieve</a:t>
            </a:r>
          </a:p>
        </p:txBody>
      </p:sp>
      <p:sp>
        <p:nvSpPr>
          <p:cNvPr id="5" name="TextBox 4"/>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6" name="TextBox 5"/>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1</a:t>
            </a:r>
          </a:p>
        </p:txBody>
      </p:sp>
      <p:sp>
        <p:nvSpPr>
          <p:cNvPr id="7" name="TextBox 6"/>
          <p:cNvSpPr txBox="1"/>
          <p:nvPr/>
        </p:nvSpPr>
        <p:spPr>
          <a:xfrm>
            <a:off x="777240" y="1783080"/>
            <a:ext cx="10637215" cy="4343400"/>
          </a:xfrm>
          <a:prstGeom prst="rect">
            <a:avLst/>
          </a:prstGeom>
          <a:noFill/>
        </p:spPr>
        <p:txBody>
          <a:bodyPr wrap="square">
            <a:spAutoFit/>
          </a:bodyPr>
          <a:lstStyle/>
          <a:p>
            <a:pPr>
              <a:spcAft>
                <a:spcPts val="832"/>
              </a:spcAft>
            </a:pPr>
            <a:r>
              <a:rPr sz="1700" b="0" i="0">
                <a:solidFill>
                  <a:srgbClr val="2B2B2B"/>
                </a:solidFill>
                <a:latin typeface="Arial"/>
              </a:rPr>
              <a:t>•  </a:t>
            </a:r>
            <a:r>
              <a:rPr sz="1700" b="1" i="0">
                <a:solidFill>
                  <a:srgbClr val="2B2B2B"/>
                </a:solidFill>
                <a:latin typeface="Arial"/>
              </a:rPr>
              <a:t>Business need:</a:t>
            </a:r>
            <a:r>
              <a:rPr sz="1700" b="0" i="0">
                <a:solidFill>
                  <a:srgbClr val="2B2B2B"/>
                </a:solidFill>
                <a:latin typeface="Arial"/>
              </a:rPr>
              <a:t> Futurisys HR wants to anticipate employee departures instead of reacting to them</a:t>
            </a:r>
          </a:p>
          <a:p>
            <a:pPr>
              <a:spcAft>
                <a:spcPts val="832"/>
              </a:spcAft>
            </a:pPr>
            <a:r>
              <a:rPr sz="1700" b="0" i="0">
                <a:solidFill>
                  <a:srgbClr val="2B2B2B"/>
                </a:solidFill>
                <a:latin typeface="Arial"/>
              </a:rPr>
              <a:t>•  </a:t>
            </a:r>
            <a:r>
              <a:rPr sz="1700" b="1" i="0">
                <a:solidFill>
                  <a:srgbClr val="2B2B2B"/>
                </a:solidFill>
                <a:latin typeface="Arial"/>
              </a:rPr>
              <a:t>Starting point:</a:t>
            </a:r>
            <a:r>
              <a:rPr sz="1700" b="0" i="0">
                <a:solidFill>
                  <a:srgbClr val="2B2B2B"/>
                </a:solidFill>
                <a:latin typeface="Arial"/>
              </a:rPr>
              <a:t> a model trained in a previous project, saved as a .joblib file</a:t>
            </a:r>
          </a:p>
          <a:p>
            <a:pPr lvl="1">
              <a:spcAft>
                <a:spcPts val="832"/>
              </a:spcAft>
            </a:pPr>
            <a:r>
              <a:rPr sz="1500" b="0" i="0">
                <a:solidFill>
                  <a:srgbClr val="6B7280"/>
                </a:solidFill>
                <a:latin typeface="Arial"/>
              </a:rPr>
              <a:t>     –  calibrated LinearSVC, class_weight balanced, custom decision threshold</a:t>
            </a:r>
          </a:p>
          <a:p>
            <a:pPr>
              <a:spcAft>
                <a:spcPts val="832"/>
              </a:spcAft>
            </a:pPr>
            <a:r>
              <a:rPr sz="1700" b="0" i="0">
                <a:solidFill>
                  <a:srgbClr val="2B2B2B"/>
                </a:solidFill>
                <a:latin typeface="Arial"/>
              </a:rPr>
              <a:t>•  </a:t>
            </a:r>
            <a:r>
              <a:rPr sz="1700" b="1" i="0">
                <a:solidFill>
                  <a:srgbClr val="2B2B2B"/>
                </a:solidFill>
                <a:latin typeface="Arial"/>
              </a:rPr>
              <a:t>This project:</a:t>
            </a:r>
            <a:r>
              <a:rPr sz="1700" b="0" i="0">
                <a:solidFill>
                  <a:srgbClr val="2B2B2B"/>
                </a:solidFill>
                <a:latin typeface="Arial"/>
              </a:rPr>
              <a:t> turn that file into a service the company can actually use</a:t>
            </a:r>
          </a:p>
          <a:p>
            <a:pPr>
              <a:spcAft>
                <a:spcPts val="832"/>
              </a:spcAft>
            </a:pPr>
            <a:r>
              <a:rPr sz="1700" b="0" i="0">
                <a:solidFill>
                  <a:srgbClr val="2B2B2B"/>
                </a:solidFill>
                <a:latin typeface="Arial"/>
              </a:rPr>
              <a:t>•  </a:t>
            </a:r>
            <a:r>
              <a:rPr sz="1700" b="1" i="0">
                <a:solidFill>
                  <a:srgbClr val="2B2B2B"/>
                </a:solidFill>
                <a:latin typeface="Arial"/>
              </a:rPr>
              <a:t>Key constraint from the brief:</a:t>
            </a:r>
            <a:r>
              <a:rPr sz="1700" b="0" i="0">
                <a:solidFill>
                  <a:srgbClr val="2B2B2B"/>
                </a:solidFill>
                <a:latin typeface="Arial"/>
              </a:rPr>
              <a:t> every interaction with the model must go through a database</a:t>
            </a:r>
          </a:p>
          <a:p>
            <a:pPr lvl="1">
              <a:spcAft>
                <a:spcPts val="832"/>
              </a:spcAft>
            </a:pPr>
            <a:r>
              <a:rPr sz="1500" b="0" i="0">
                <a:solidFill>
                  <a:srgbClr val="6B7280"/>
                </a:solidFill>
                <a:latin typeface="Arial"/>
              </a:rPr>
              <a:t>     –  inputs sent to the model and outputs produced are stored in dedicated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What was delivered</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5" name="TextBox 4"/>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2</a:t>
            </a:r>
          </a:p>
        </p:txBody>
      </p:sp>
      <p:graphicFrame>
        <p:nvGraphicFramePr>
          <p:cNvPr id="6" name="Table 5"/>
          <p:cNvGraphicFramePr>
            <a:graphicFrameLocks noGrp="1"/>
          </p:cNvGraphicFramePr>
          <p:nvPr/>
        </p:nvGraphicFramePr>
        <p:xfrm>
          <a:off x="777240" y="1417320"/>
          <a:ext cx="10607040" cy="3657600"/>
        </p:xfrm>
        <a:graphic>
          <a:graphicData uri="http://schemas.openxmlformats.org/drawingml/2006/table">
            <a:tbl>
              <a:tblPr firstRow="1" bandRow="1">
                <a:tableStyleId>{5C22544A-7EE6-4342-B048-85BDC9FD1C3A}</a:tableStyleId>
              </a:tblPr>
              <a:tblGrid>
                <a:gridCol w="3840480"/>
                <a:gridCol w="3291840"/>
                <a:gridCol w="3474720"/>
              </a:tblGrid>
              <a:tr h="457200">
                <a:tc>
                  <a:txBody>
                    <a:bodyPr/>
                    <a:lstStyle/>
                    <a:p>
                      <a:r>
                        <a:rPr sz="1300" b="1" i="0">
                          <a:solidFill>
                            <a:srgbClr val="FFFFFF"/>
                          </a:solidFill>
                          <a:latin typeface="Arial"/>
                        </a:rPr>
                        <a:t>Deliverable</a:t>
                      </a:r>
                    </a:p>
                  </a:txBody>
                  <a:tcPr anchor="ctr" marL="109728" marT="36576" marB="36576">
                    <a:solidFill>
                      <a:srgbClr val="1B3A5B"/>
                    </a:solidFill>
                  </a:tcPr>
                </a:tc>
                <a:tc>
                  <a:txBody>
                    <a:bodyPr/>
                    <a:lstStyle/>
                    <a:p>
                      <a:r>
                        <a:rPr sz="1300" b="1" i="0">
                          <a:solidFill>
                            <a:srgbClr val="FFFFFF"/>
                          </a:solidFill>
                          <a:latin typeface="Arial"/>
                        </a:rPr>
                        <a:t>Technology</a:t>
                      </a:r>
                    </a:p>
                  </a:txBody>
                  <a:tcPr anchor="ctr" marL="109728" marT="36576" marB="36576">
                    <a:solidFill>
                      <a:srgbClr val="1B3A5B"/>
                    </a:solidFill>
                  </a:tcPr>
                </a:tc>
                <a:tc>
                  <a:txBody>
                    <a:bodyPr/>
                    <a:lstStyle/>
                    <a:p>
                      <a:r>
                        <a:rPr sz="1300" b="1" i="0">
                          <a:solidFill>
                            <a:srgbClr val="FFFFFF"/>
                          </a:solidFill>
                          <a:latin typeface="Arial"/>
                        </a:rPr>
                        <a:t>State</a:t>
                      </a:r>
                    </a:p>
                  </a:txBody>
                  <a:tcPr anchor="ctr" marL="109728" marT="36576" marB="36576">
                    <a:solidFill>
                      <a:srgbClr val="1B3A5B"/>
                    </a:solidFill>
                  </a:tcPr>
                </a:tc>
              </a:tr>
              <a:tr h="457200">
                <a:tc>
                  <a:txBody>
                    <a:bodyPr/>
                    <a:lstStyle/>
                    <a:p>
                      <a:r>
                        <a:rPr sz="1300" b="0" i="0">
                          <a:solidFill>
                            <a:srgbClr val="2B2B2B"/>
                          </a:solidFill>
                          <a:latin typeface="Arial"/>
                        </a:rPr>
                        <a:t>REST API exposing the model</a:t>
                      </a:r>
                    </a:p>
                  </a:txBody>
                  <a:tcPr anchor="ctr" marL="109728" marT="36576" marB="36576">
                    <a:solidFill>
                      <a:srgbClr val="FFFFFF"/>
                    </a:solidFill>
                  </a:tcPr>
                </a:tc>
                <a:tc>
                  <a:txBody>
                    <a:bodyPr/>
                    <a:lstStyle/>
                    <a:p>
                      <a:r>
                        <a:rPr sz="1300" b="0" i="0">
                          <a:solidFill>
                            <a:srgbClr val="2B2B2B"/>
                          </a:solidFill>
                          <a:latin typeface="Arial"/>
                        </a:rPr>
                        <a:t>FastAPI + uvicorn</a:t>
                      </a:r>
                    </a:p>
                  </a:txBody>
                  <a:tcPr anchor="ctr" marL="109728" marT="36576" marB="36576">
                    <a:solidFill>
                      <a:srgbClr val="FFFFFF"/>
                    </a:solidFill>
                  </a:tcPr>
                </a:tc>
                <a:tc>
                  <a:txBody>
                    <a:bodyPr/>
                    <a:lstStyle/>
                    <a:p>
                      <a:r>
                        <a:rPr sz="1300" b="0" i="0">
                          <a:solidFill>
                            <a:srgbClr val="2B2B2B"/>
                          </a:solidFill>
                          <a:latin typeface="Arial"/>
                        </a:rPr>
                        <a:t>3 routes, documented at /docs</a:t>
                      </a:r>
                    </a:p>
                  </a:txBody>
                  <a:tcPr anchor="ctr" marL="109728" marT="36576" marB="36576">
                    <a:solidFill>
                      <a:srgbClr val="FFFFFF"/>
                    </a:solidFill>
                  </a:tcPr>
                </a:tc>
              </a:tr>
              <a:tr h="457200">
                <a:tc>
                  <a:txBody>
                    <a:bodyPr/>
                    <a:lstStyle/>
                    <a:p>
                      <a:r>
                        <a:rPr sz="1300" b="0" i="0">
                          <a:solidFill>
                            <a:srgbClr val="2B2B2B"/>
                          </a:solidFill>
                          <a:latin typeface="Arial"/>
                        </a:rPr>
                        <a:t>Relational database + UML schema</a:t>
                      </a:r>
                    </a:p>
                  </a:txBody>
                  <a:tcPr anchor="ctr" marL="109728" marT="36576" marB="36576">
                    <a:solidFill>
                      <a:srgbClr val="F1F5F7"/>
                    </a:solidFill>
                  </a:tcPr>
                </a:tc>
                <a:tc>
                  <a:txBody>
                    <a:bodyPr/>
                    <a:lstStyle/>
                    <a:p>
                      <a:r>
                        <a:rPr sz="1300" b="0" i="0">
                          <a:solidFill>
                            <a:srgbClr val="2B2B2B"/>
                          </a:solidFill>
                          <a:latin typeface="Arial"/>
                        </a:rPr>
                        <a:t>PostgreSQL 16 + SQLAlchemy</a:t>
                      </a:r>
                    </a:p>
                  </a:txBody>
                  <a:tcPr anchor="ctr" marL="109728" marT="36576" marB="36576">
                    <a:solidFill>
                      <a:srgbClr val="F1F5F7"/>
                    </a:solidFill>
                  </a:tcPr>
                </a:tc>
                <a:tc>
                  <a:txBody>
                    <a:bodyPr/>
                    <a:lstStyle/>
                    <a:p>
                      <a:r>
                        <a:rPr sz="1300" b="0" i="0">
                          <a:solidFill>
                            <a:srgbClr val="2B2B2B"/>
                          </a:solidFill>
                          <a:latin typeface="Arial"/>
                        </a:rPr>
                        <a:t>6 tables, dataset loaded</a:t>
                      </a:r>
                    </a:p>
                  </a:txBody>
                  <a:tcPr anchor="ctr" marL="109728" marT="36576" marB="36576">
                    <a:solidFill>
                      <a:srgbClr val="F1F5F7"/>
                    </a:solidFill>
                  </a:tcPr>
                </a:tc>
              </a:tr>
              <a:tr h="457200">
                <a:tc>
                  <a:txBody>
                    <a:bodyPr/>
                    <a:lstStyle/>
                    <a:p>
                      <a:r>
                        <a:rPr sz="1300" b="0" i="0">
                          <a:solidFill>
                            <a:srgbClr val="2B2B2B"/>
                          </a:solidFill>
                          <a:latin typeface="Arial"/>
                        </a:rPr>
                        <a:t>Full traceability of exchanges</a:t>
                      </a:r>
                    </a:p>
                  </a:txBody>
                  <a:tcPr anchor="ctr" marL="109728" marT="36576" marB="36576">
                    <a:solidFill>
                      <a:srgbClr val="FFFFFF"/>
                    </a:solidFill>
                  </a:tcPr>
                </a:tc>
                <a:tc>
                  <a:txBody>
                    <a:bodyPr/>
                    <a:lstStyle/>
                    <a:p>
                      <a:r>
                        <a:rPr sz="1300" b="0" i="0">
                          <a:solidFill>
                            <a:srgbClr val="2B2B2B"/>
                          </a:solidFill>
                          <a:latin typeface="Arial"/>
                        </a:rPr>
                        <a:t>dedicated input/output tables</a:t>
                      </a:r>
                    </a:p>
                  </a:txBody>
                  <a:tcPr anchor="ctr" marL="109728" marT="36576" marB="36576">
                    <a:solidFill>
                      <a:srgbClr val="FFFFFF"/>
                    </a:solidFill>
                  </a:tcPr>
                </a:tc>
                <a:tc>
                  <a:txBody>
                    <a:bodyPr/>
                    <a:lstStyle/>
                    <a:p>
                      <a:r>
                        <a:rPr sz="1300" b="0" i="0">
                          <a:solidFill>
                            <a:srgbClr val="2B2B2B"/>
                          </a:solidFill>
                          <a:latin typeface="Arial"/>
                        </a:rPr>
                        <a:t>every call recorded</a:t>
                      </a:r>
                    </a:p>
                  </a:txBody>
                  <a:tcPr anchor="ctr" marL="109728" marT="36576" marB="36576">
                    <a:solidFill>
                      <a:srgbClr val="FFFFFF"/>
                    </a:solidFill>
                  </a:tcPr>
                </a:tc>
              </a:tr>
              <a:tr h="457200">
                <a:tc>
                  <a:txBody>
                    <a:bodyPr/>
                    <a:lstStyle/>
                    <a:p>
                      <a:r>
                        <a:rPr sz="1300" b="0" i="0">
                          <a:solidFill>
                            <a:srgbClr val="2B2B2B"/>
                          </a:solidFill>
                          <a:latin typeface="Arial"/>
                        </a:rPr>
                        <a:t>Automated tests</a:t>
                      </a:r>
                    </a:p>
                  </a:txBody>
                  <a:tcPr anchor="ctr" marL="109728" marT="36576" marB="36576">
                    <a:solidFill>
                      <a:srgbClr val="F1F5F7"/>
                    </a:solidFill>
                  </a:tcPr>
                </a:tc>
                <a:tc>
                  <a:txBody>
                    <a:bodyPr/>
                    <a:lstStyle/>
                    <a:p>
                      <a:r>
                        <a:rPr sz="1300" b="0" i="0">
                          <a:solidFill>
                            <a:srgbClr val="2B2B2B"/>
                          </a:solidFill>
                          <a:latin typeface="Arial"/>
                        </a:rPr>
                        <a:t>Pytest (+ coverage)</a:t>
                      </a:r>
                    </a:p>
                  </a:txBody>
                  <a:tcPr anchor="ctr" marL="109728" marT="36576" marB="36576">
                    <a:solidFill>
                      <a:srgbClr val="F1F5F7"/>
                    </a:solidFill>
                  </a:tcPr>
                </a:tc>
                <a:tc>
                  <a:txBody>
                    <a:bodyPr/>
                    <a:lstStyle/>
                    <a:p>
                      <a:r>
                        <a:rPr sz="1300" b="0" i="0">
                          <a:solidFill>
                            <a:srgbClr val="2B2B2B"/>
                          </a:solidFill>
                          <a:latin typeface="Arial"/>
                        </a:rPr>
                        <a:t>65 tests, 86% coverage</a:t>
                      </a:r>
                    </a:p>
                  </a:txBody>
                  <a:tcPr anchor="ctr" marL="109728" marT="36576" marB="36576">
                    <a:solidFill>
                      <a:srgbClr val="F1F5F7"/>
                    </a:solidFill>
                  </a:tcPr>
                </a:tc>
              </a:tr>
              <a:tr h="457200">
                <a:tc>
                  <a:txBody>
                    <a:bodyPr/>
                    <a:lstStyle/>
                    <a:p>
                      <a:r>
                        <a:rPr sz="1300" b="0" i="0">
                          <a:solidFill>
                            <a:srgbClr val="2B2B2B"/>
                          </a:solidFill>
                          <a:latin typeface="Arial"/>
                        </a:rPr>
                        <a:t>Continuous integration / delivery</a:t>
                      </a:r>
                    </a:p>
                  </a:txBody>
                  <a:tcPr anchor="ctr" marL="109728" marT="36576" marB="36576">
                    <a:solidFill>
                      <a:srgbClr val="FFFFFF"/>
                    </a:solidFill>
                  </a:tcPr>
                </a:tc>
                <a:tc>
                  <a:txBody>
                    <a:bodyPr/>
                    <a:lstStyle/>
                    <a:p>
                      <a:r>
                        <a:rPr sz="1300" b="0" i="0">
                          <a:solidFill>
                            <a:srgbClr val="2B2B2B"/>
                          </a:solidFill>
                          <a:latin typeface="Arial"/>
                        </a:rPr>
                        <a:t>GitHub Actions</a:t>
                      </a:r>
                    </a:p>
                  </a:txBody>
                  <a:tcPr anchor="ctr" marL="109728" marT="36576" marB="36576">
                    <a:solidFill>
                      <a:srgbClr val="FFFFFF"/>
                    </a:solidFill>
                  </a:tcPr>
                </a:tc>
                <a:tc>
                  <a:txBody>
                    <a:bodyPr/>
                    <a:lstStyle/>
                    <a:p>
                      <a:r>
                        <a:rPr sz="1300" b="0" i="0">
                          <a:solidFill>
                            <a:srgbClr val="2B2B2B"/>
                          </a:solidFill>
                          <a:latin typeface="Arial"/>
                        </a:rPr>
                        <a:t>build → test → deploy</a:t>
                      </a:r>
                    </a:p>
                  </a:txBody>
                  <a:tcPr anchor="ctr" marL="109728" marT="36576" marB="36576">
                    <a:solidFill>
                      <a:srgbClr val="FFFFFF"/>
                    </a:solidFill>
                  </a:tcPr>
                </a:tc>
              </a:tr>
              <a:tr h="457200">
                <a:tc>
                  <a:txBody>
                    <a:bodyPr/>
                    <a:lstStyle/>
                    <a:p>
                      <a:r>
                        <a:rPr sz="1300" b="0" i="0">
                          <a:solidFill>
                            <a:srgbClr val="2B2B2B"/>
                          </a:solidFill>
                          <a:latin typeface="Arial"/>
                        </a:rPr>
                        <a:t>Containerised deployment</a:t>
                      </a:r>
                    </a:p>
                  </a:txBody>
                  <a:tcPr anchor="ctr" marL="109728" marT="36576" marB="36576">
                    <a:solidFill>
                      <a:srgbClr val="F1F5F7"/>
                    </a:solidFill>
                  </a:tcPr>
                </a:tc>
                <a:tc>
                  <a:txBody>
                    <a:bodyPr/>
                    <a:lstStyle/>
                    <a:p>
                      <a:r>
                        <a:rPr sz="1300" b="0" i="0">
                          <a:solidFill>
                            <a:srgbClr val="2B2B2B"/>
                          </a:solidFill>
                          <a:latin typeface="Arial"/>
                        </a:rPr>
                        <a:t>Docker + Hugging Face Space</a:t>
                      </a:r>
                    </a:p>
                  </a:txBody>
                  <a:tcPr anchor="ctr" marL="109728" marT="36576" marB="36576">
                    <a:solidFill>
                      <a:srgbClr val="F1F5F7"/>
                    </a:solidFill>
                  </a:tcPr>
                </a:tc>
                <a:tc>
                  <a:txBody>
                    <a:bodyPr/>
                    <a:lstStyle/>
                    <a:p>
                      <a:r>
                        <a:rPr sz="1300" b="0" i="0">
                          <a:solidFill>
                            <a:srgbClr val="2B2B2B"/>
                          </a:solidFill>
                          <a:latin typeface="Arial"/>
                        </a:rPr>
                        <a:t>Space running</a:t>
                      </a:r>
                    </a:p>
                  </a:txBody>
                  <a:tcPr anchor="ctr" marL="109728" marT="36576" marB="36576">
                    <a:solidFill>
                      <a:srgbClr val="F1F5F7"/>
                    </a:solidFill>
                  </a:tcPr>
                </a:tc>
              </a:tr>
              <a:tr h="457200">
                <a:tc>
                  <a:txBody>
                    <a:bodyPr/>
                    <a:lstStyle/>
                    <a:p>
                      <a:r>
                        <a:rPr sz="1300" b="0" i="0">
                          <a:solidFill>
                            <a:srgbClr val="2B2B2B"/>
                          </a:solidFill>
                          <a:latin typeface="Arial"/>
                        </a:rPr>
                        <a:t>Documentation</a:t>
                      </a:r>
                    </a:p>
                  </a:txBody>
                  <a:tcPr anchor="ctr" marL="109728" marT="36576" marB="36576">
                    <a:solidFill>
                      <a:srgbClr val="FFFFFF"/>
                    </a:solidFill>
                  </a:tcPr>
                </a:tc>
                <a:tc>
                  <a:txBody>
                    <a:bodyPr/>
                    <a:lstStyle/>
                    <a:p>
                      <a:r>
                        <a:rPr sz="1300" b="0" i="0">
                          <a:solidFill>
                            <a:srgbClr val="2B2B2B"/>
                          </a:solidFill>
                          <a:latin typeface="Arial"/>
                        </a:rPr>
                        <a:t>README + docs/db_schema.md</a:t>
                      </a:r>
                    </a:p>
                  </a:txBody>
                  <a:tcPr anchor="ctr" marL="109728" marT="36576" marB="36576">
                    <a:solidFill>
                      <a:srgbClr val="FFFFFF"/>
                    </a:solidFill>
                  </a:tcPr>
                </a:tc>
                <a:tc>
                  <a:txBody>
                    <a:bodyPr/>
                    <a:lstStyle/>
                    <a:p>
                      <a:r>
                        <a:rPr sz="1300" b="0" i="0">
                          <a:solidFill>
                            <a:srgbClr val="2B2B2B"/>
                          </a:solidFill>
                          <a:latin typeface="Arial"/>
                        </a:rPr>
                        <a:t>install, usage, schema, choices</a:t>
                      </a:r>
                    </a:p>
                  </a:txBody>
                  <a:tcPr anchor="ctr" marL="109728" marT="36576" marB="36576">
                    <a:solidFill>
                      <a:srgbClr val="FFFFFF"/>
                    </a:solidFill>
                  </a:tcPr>
                </a:tc>
              </a:tr>
            </a:tbl>
          </a:graphicData>
        </a:graphic>
      </p:graphicFrame>
      <p:sp>
        <p:nvSpPr>
          <p:cNvPr id="7" name="TextBox 6"/>
          <p:cNvSpPr txBox="1"/>
          <p:nvPr/>
        </p:nvSpPr>
        <p:spPr>
          <a:xfrm>
            <a:off x="777240" y="5394959"/>
            <a:ext cx="10637215" cy="457200"/>
          </a:xfrm>
          <a:prstGeom prst="rect">
            <a:avLst/>
          </a:prstGeom>
          <a:noFill/>
        </p:spPr>
        <p:txBody>
          <a:bodyPr wrap="square">
            <a:spAutoFit/>
          </a:bodyPr>
          <a:lstStyle/>
          <a:p>
            <a:r>
              <a:rPr sz="1400" b="1" i="0">
                <a:solidFill>
                  <a:srgbClr val="2F7D7A"/>
                </a:solidFill>
                <a:latin typeface="Arial"/>
              </a:rPr>
              <a:t>1 679 lines of Python  ·  4 packages (app / modele / db / tests)  ·  65 automated tests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Architecture</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10637215" cy="411480"/>
          </a:xfrm>
          <a:prstGeom prst="rect">
            <a:avLst/>
          </a:prstGeom>
          <a:noFill/>
        </p:spPr>
        <p:txBody>
          <a:bodyPr wrap="square">
            <a:spAutoFit/>
          </a:bodyPr>
          <a:lstStyle/>
          <a:p>
            <a:r>
              <a:rPr sz="1400" b="0" i="0">
                <a:solidFill>
                  <a:srgbClr val="6B7280"/>
                </a:solidFill>
                <a:latin typeface="Arial"/>
              </a:rPr>
              <a:t>Three packages, one rule: no prediction without a record</a:t>
            </a:r>
          </a:p>
        </p:txBody>
      </p:sp>
      <p:sp>
        <p:nvSpPr>
          <p:cNvPr id="5" name="TextBox 4"/>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6" name="TextBox 5"/>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3</a:t>
            </a:r>
          </a:p>
        </p:txBody>
      </p:sp>
      <p:sp>
        <p:nvSpPr>
          <p:cNvPr id="7" name="Rounded Rectangle 6"/>
          <p:cNvSpPr/>
          <p:nvPr/>
        </p:nvSpPr>
        <p:spPr>
          <a:xfrm>
            <a:off x="777240" y="1828800"/>
            <a:ext cx="1737360" cy="914400"/>
          </a:xfrm>
          <a:prstGeom prst="roundRect">
            <a:avLst/>
          </a:prstGeom>
          <a:solidFill>
            <a:srgbClr val="FFFFFF"/>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2B2B2B"/>
                </a:solidFill>
                <a:latin typeface="Arial"/>
              </a:rPr>
              <a:t>Client
(/docs, curl)</a:t>
            </a:r>
          </a:p>
        </p:txBody>
      </p:sp>
      <p:sp>
        <p:nvSpPr>
          <p:cNvPr id="8" name="Right Arrow 7"/>
          <p:cNvSpPr/>
          <p:nvPr/>
        </p:nvSpPr>
        <p:spPr>
          <a:xfrm>
            <a:off x="2606040" y="2194560"/>
            <a:ext cx="457200" cy="201168"/>
          </a:xfrm>
          <a:prstGeom prst="rightArrow">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154680" y="1600200"/>
            <a:ext cx="2286000" cy="1371600"/>
          </a:xfrm>
          <a:prstGeom prst="round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2B2B2B"/>
                </a:solidFill>
                <a:latin typeface="Arial"/>
              </a:rPr>
              <a:t>app/</a:t>
            </a:r>
            <a:r>
              <a:rPr sz="1200" b="0" i="0">
                <a:solidFill>
                  <a:srgbClr val="2B2B2B"/>
                </a:solidFill>
                <a:latin typeface="Arial"/>
              </a:rPr>
              <a:t>
FastAPI
validation (Pydantic)
orchestration</a:t>
            </a:r>
          </a:p>
        </p:txBody>
      </p:sp>
      <p:sp>
        <p:nvSpPr>
          <p:cNvPr id="10" name="Right Arrow 9"/>
          <p:cNvSpPr/>
          <p:nvPr/>
        </p:nvSpPr>
        <p:spPr>
          <a:xfrm>
            <a:off x="5532120" y="2194560"/>
            <a:ext cx="457200" cy="201168"/>
          </a:xfrm>
          <a:prstGeom prst="rightArrow">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80760" y="1600200"/>
            <a:ext cx="2286000" cy="1371600"/>
          </a:xfrm>
          <a:prstGeom prst="round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2B2B2B"/>
                </a:solidFill>
                <a:latin typeface="Arial"/>
              </a:rPr>
              <a:t>modele/</a:t>
            </a:r>
            <a:r>
              <a:rPr sz="1200" b="0" i="0">
                <a:solidFill>
                  <a:srgbClr val="2B2B2B"/>
                </a:solidFill>
                <a:latin typeface="Arial"/>
              </a:rPr>
              <a:t>
features + pipeline
threshold 0.2941</a:t>
            </a:r>
          </a:p>
        </p:txBody>
      </p:sp>
      <p:sp>
        <p:nvSpPr>
          <p:cNvPr id="12" name="Rounded Rectangle 11"/>
          <p:cNvSpPr/>
          <p:nvPr/>
        </p:nvSpPr>
        <p:spPr>
          <a:xfrm>
            <a:off x="8732520" y="1691640"/>
            <a:ext cx="1554480" cy="1188720"/>
          </a:xfrm>
          <a:prstGeom prst="roundRect">
            <a:avLst/>
          </a:prstGeom>
          <a:solidFill>
            <a:srgbClr val="FFFFFF"/>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i="0">
                <a:solidFill>
                  <a:srgbClr val="2B2B2B"/>
                </a:solidFill>
                <a:latin typeface="Arial"/>
              </a:rPr>
              <a:t>modele_attrition
.joblib</a:t>
            </a:r>
          </a:p>
        </p:txBody>
      </p:sp>
      <p:sp>
        <p:nvSpPr>
          <p:cNvPr id="13" name="Right Arrow 12"/>
          <p:cNvSpPr/>
          <p:nvPr/>
        </p:nvSpPr>
        <p:spPr>
          <a:xfrm>
            <a:off x="8458200" y="2194560"/>
            <a:ext cx="274320" cy="201168"/>
          </a:xfrm>
          <a:prstGeom prst="rightArrow">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4160520" y="3063240"/>
            <a:ext cx="201168" cy="548640"/>
          </a:xfrm>
          <a:prstGeom prst="downArrow">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3749039"/>
            <a:ext cx="10607040" cy="457200"/>
          </a:xfrm>
          <a:prstGeom prst="roundRect">
            <a:avLst/>
          </a:prstGeom>
          <a:solidFill>
            <a:srgbClr val="1B3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i="0">
                <a:solidFill>
                  <a:srgbClr val="FFFFFF"/>
                </a:solidFill>
                <a:latin typeface="Arial"/>
              </a:rPr>
              <a:t>db/</a:t>
            </a:r>
            <a:r>
              <a:rPr sz="1400" b="1" i="0">
                <a:solidFill>
                  <a:srgbClr val="FFFFFF"/>
                </a:solidFill>
                <a:latin typeface="Arial"/>
              </a:rPr>
              <a:t> — PostgreSQL (local)</a:t>
            </a:r>
          </a:p>
        </p:txBody>
      </p:sp>
      <p:sp>
        <p:nvSpPr>
          <p:cNvPr id="16" name="Rounded Rectangle 15"/>
          <p:cNvSpPr/>
          <p:nvPr/>
        </p:nvSpPr>
        <p:spPr>
          <a:xfrm>
            <a:off x="777240" y="4343400"/>
            <a:ext cx="3383280" cy="1005840"/>
          </a:xfrm>
          <a:prstGeom prst="round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2B2B2B"/>
                </a:solidFill>
                <a:latin typeface="Arial"/>
              </a:rPr>
              <a:t>Dataset</a:t>
            </a:r>
            <a:r>
              <a:rPr sz="1200" b="0" i="0">
                <a:solidFill>
                  <a:srgbClr val="2B2B2B"/>
                </a:solidFill>
                <a:latin typeface="Arial"/>
              </a:rPr>
              <a:t>
employee · evaluation · sondage
1 470 employees</a:t>
            </a:r>
          </a:p>
        </p:txBody>
      </p:sp>
      <p:sp>
        <p:nvSpPr>
          <p:cNvPr id="17" name="Rounded Rectangle 16"/>
          <p:cNvSpPr/>
          <p:nvPr/>
        </p:nvSpPr>
        <p:spPr>
          <a:xfrm>
            <a:off x="4389120" y="4343400"/>
            <a:ext cx="3383280" cy="1005840"/>
          </a:xfrm>
          <a:prstGeom prst="round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2B2B2B"/>
                </a:solidFill>
                <a:latin typeface="Arial"/>
              </a:rPr>
              <a:t>Traceability</a:t>
            </a:r>
            <a:r>
              <a:rPr sz="1200" b="0" i="0">
                <a:solidFill>
                  <a:srgbClr val="2B2B2B"/>
                </a:solidFill>
                <a:latin typeface="Arial"/>
              </a:rPr>
              <a:t>
prediction_input · prediction_output
1 row per call</a:t>
            </a:r>
          </a:p>
        </p:txBody>
      </p:sp>
      <p:sp>
        <p:nvSpPr>
          <p:cNvPr id="18" name="Rounded Rectangle 17"/>
          <p:cNvSpPr/>
          <p:nvPr/>
        </p:nvSpPr>
        <p:spPr>
          <a:xfrm>
            <a:off x="8001000" y="4343400"/>
            <a:ext cx="3383280" cy="1005840"/>
          </a:xfrm>
          <a:prstGeom prst="round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2B2B2B"/>
                </a:solidFill>
                <a:latin typeface="Arial"/>
              </a:rPr>
              <a:t>Model registry</a:t>
            </a:r>
            <a:r>
              <a:rPr sz="1200" b="0" i="0">
                <a:solidFill>
                  <a:srgbClr val="2B2B2B"/>
                </a:solidFill>
                <a:latin typeface="Arial"/>
              </a:rPr>
              <a:t>
model_version
file + threshold</a:t>
            </a:r>
          </a:p>
        </p:txBody>
      </p:sp>
      <p:sp>
        <p:nvSpPr>
          <p:cNvPr id="19" name="TextBox 18"/>
          <p:cNvSpPr txBox="1"/>
          <p:nvPr/>
        </p:nvSpPr>
        <p:spPr>
          <a:xfrm>
            <a:off x="777240" y="5577840"/>
            <a:ext cx="10637215" cy="548640"/>
          </a:xfrm>
          <a:prstGeom prst="rect">
            <a:avLst/>
          </a:prstGeom>
          <a:noFill/>
        </p:spPr>
        <p:txBody>
          <a:bodyPr wrap="square">
            <a:spAutoFit/>
          </a:bodyPr>
          <a:lstStyle/>
          <a:p>
            <a:r>
              <a:rPr sz="1300" b="0" i="0">
                <a:solidFill>
                  <a:srgbClr val="2B2B2B"/>
                </a:solidFill>
                <a:latin typeface="Arial"/>
              </a:rPr>
              <a:t>Each package has one job: </a:t>
            </a:r>
            <a:r>
              <a:rPr sz="1300" b="1" i="0">
                <a:solidFill>
                  <a:srgbClr val="2B2B2B"/>
                </a:solidFill>
                <a:latin typeface="Arial"/>
              </a:rPr>
              <a:t>app/</a:t>
            </a:r>
            <a:r>
              <a:rPr sz="1300" b="0" i="0">
                <a:solidFill>
                  <a:srgbClr val="2B2B2B"/>
                </a:solidFill>
                <a:latin typeface="Arial"/>
              </a:rPr>
              <a:t> speaks HTTP, </a:t>
            </a:r>
            <a:r>
              <a:rPr sz="1300" b="1" i="0">
                <a:solidFill>
                  <a:srgbClr val="2B2B2B"/>
                </a:solidFill>
                <a:latin typeface="Arial"/>
              </a:rPr>
              <a:t>modele/</a:t>
            </a:r>
            <a:r>
              <a:rPr sz="1300" b="0" i="0">
                <a:solidFill>
                  <a:srgbClr val="2B2B2B"/>
                </a:solidFill>
                <a:latin typeface="Arial"/>
              </a:rPr>
              <a:t> predicts, </a:t>
            </a:r>
            <a:r>
              <a:rPr sz="1300" b="1" i="0">
                <a:solidFill>
                  <a:srgbClr val="2B2B2B"/>
                </a:solidFill>
                <a:latin typeface="Arial"/>
              </a:rPr>
              <a:t>db/</a:t>
            </a:r>
            <a:r>
              <a:rPr sz="1300" b="0" i="0">
                <a:solidFill>
                  <a:srgbClr val="2B2B2B"/>
                </a:solidFill>
                <a:latin typeface="Arial"/>
              </a:rPr>
              <a:t> remembers. None knows the others' internals.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The model it serves</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10637215" cy="411480"/>
          </a:xfrm>
          <a:prstGeom prst="rect">
            <a:avLst/>
          </a:prstGeom>
          <a:noFill/>
        </p:spPr>
        <p:txBody>
          <a:bodyPr wrap="square">
            <a:spAutoFit/>
          </a:bodyPr>
          <a:lstStyle/>
          <a:p>
            <a:r>
              <a:rPr sz="1400" b="0" i="0">
                <a:solidFill>
                  <a:srgbClr val="6B7280"/>
                </a:solidFill>
                <a:latin typeface="Arial"/>
              </a:rPr>
              <a:t>Trained previously — this project consumes it, never retrains it</a:t>
            </a:r>
          </a:p>
        </p:txBody>
      </p:sp>
      <p:sp>
        <p:nvSpPr>
          <p:cNvPr id="5" name="TextBox 4"/>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6" name="TextBox 5"/>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4</a:t>
            </a:r>
          </a:p>
        </p:txBody>
      </p:sp>
      <p:sp>
        <p:nvSpPr>
          <p:cNvPr id="7" name="TextBox 6"/>
          <p:cNvSpPr txBox="1"/>
          <p:nvPr/>
        </p:nvSpPr>
        <p:spPr>
          <a:xfrm>
            <a:off x="777240" y="1783080"/>
            <a:ext cx="10637215" cy="4343400"/>
          </a:xfrm>
          <a:prstGeom prst="rect">
            <a:avLst/>
          </a:prstGeom>
          <a:noFill/>
        </p:spPr>
        <p:txBody>
          <a:bodyPr wrap="square">
            <a:spAutoFit/>
          </a:bodyPr>
          <a:lstStyle/>
          <a:p>
            <a:pPr>
              <a:spcAft>
                <a:spcPts val="832"/>
              </a:spcAft>
            </a:pPr>
            <a:r>
              <a:rPr sz="1600" b="0" i="0">
                <a:solidFill>
                  <a:srgbClr val="2B2B2B"/>
                </a:solidFill>
                <a:latin typeface="Arial"/>
              </a:rPr>
              <a:t>•  Loaded once at startup from </a:t>
            </a:r>
            <a:r>
              <a:rPr sz="1600" b="1" i="0">
                <a:solidFill>
                  <a:srgbClr val="2B2B2B"/>
                </a:solidFill>
                <a:latin typeface="Arial"/>
              </a:rPr>
              <a:t>modele_attrition.joblib</a:t>
            </a:r>
          </a:p>
          <a:p>
            <a:pPr>
              <a:spcAft>
                <a:spcPts val="832"/>
              </a:spcAft>
            </a:pPr>
            <a:r>
              <a:rPr sz="1600" b="0" i="0">
                <a:solidFill>
                  <a:srgbClr val="2B2B2B"/>
                </a:solidFill>
                <a:latin typeface="Arial"/>
              </a:rPr>
              <a:t>•  The file carries the </a:t>
            </a:r>
            <a:r>
              <a:rPr sz="1600" b="1" i="0">
                <a:solidFill>
                  <a:srgbClr val="2B2B2B"/>
                </a:solidFill>
                <a:latin typeface="Arial"/>
              </a:rPr>
              <a:t>pipeline</a:t>
            </a:r>
            <a:r>
              <a:rPr sz="1600" b="0" i="0">
                <a:solidFill>
                  <a:srgbClr val="2B2B2B"/>
                </a:solidFill>
                <a:latin typeface="Arial"/>
              </a:rPr>
              <a:t>, the </a:t>
            </a:r>
            <a:r>
              <a:rPr sz="1600" b="1" i="0">
                <a:solidFill>
                  <a:srgbClr val="2B2B2B"/>
                </a:solidFill>
                <a:latin typeface="Arial"/>
              </a:rPr>
              <a:t>threshold</a:t>
            </a:r>
            <a:r>
              <a:rPr sz="1600" b="0" i="0">
                <a:solidFill>
                  <a:srgbClr val="2B2B2B"/>
                </a:solidFill>
                <a:latin typeface="Arial"/>
              </a:rPr>
              <a:t>, the </a:t>
            </a:r>
            <a:r>
              <a:rPr sz="1600" b="1" i="0">
                <a:solidFill>
                  <a:srgbClr val="2B2B2B"/>
                </a:solidFill>
                <a:latin typeface="Arial"/>
              </a:rPr>
              <a:t>37 expected columns</a:t>
            </a:r>
            <a:r>
              <a:rPr sz="1600" b="0" i="0">
                <a:solidFill>
                  <a:srgbClr val="2B2B2B"/>
                </a:solidFill>
                <a:latin typeface="Arial"/>
              </a:rPr>
              <a:t> and the </a:t>
            </a:r>
            <a:r>
              <a:rPr sz="1600" b="1" i="0">
                <a:solidFill>
                  <a:srgbClr val="2B2B2B"/>
                </a:solidFill>
                <a:latin typeface="Arial"/>
              </a:rPr>
              <a:t>library versions</a:t>
            </a:r>
          </a:p>
          <a:p>
            <a:pPr>
              <a:spcAft>
                <a:spcPts val="832"/>
              </a:spcAft>
            </a:pPr>
            <a:r>
              <a:rPr sz="1600" b="0" i="0">
                <a:solidFill>
                  <a:srgbClr val="2B2B2B"/>
                </a:solidFill>
                <a:latin typeface="Arial"/>
              </a:rPr>
              <a:t>•  Decision threshold </a:t>
            </a:r>
            <a:r>
              <a:rPr sz="1600" b="1" i="0">
                <a:solidFill>
                  <a:srgbClr val="2B2B2B"/>
                </a:solidFill>
                <a:latin typeface="Arial"/>
              </a:rPr>
              <a:t>0.2941</a:t>
            </a:r>
            <a:r>
              <a:rPr sz="1600" b="0" i="0">
                <a:solidFill>
                  <a:srgbClr val="2B2B2B"/>
                </a:solidFill>
                <a:latin typeface="Arial"/>
              </a:rPr>
              <a:t>, not 0.5 — chosen to catch more real departures</a:t>
            </a:r>
          </a:p>
        </p:txBody>
      </p:sp>
      <p:graphicFrame>
        <p:nvGraphicFramePr>
          <p:cNvPr id="8" name="Table 7"/>
          <p:cNvGraphicFramePr>
            <a:graphicFrameLocks noGrp="1"/>
          </p:cNvGraphicFramePr>
          <p:nvPr/>
        </p:nvGraphicFramePr>
        <p:xfrm>
          <a:off x="777240" y="3200400"/>
          <a:ext cx="10607040" cy="914400"/>
        </p:xfrm>
        <a:graphic>
          <a:graphicData uri="http://schemas.openxmlformats.org/drawingml/2006/table">
            <a:tbl>
              <a:tblPr firstRow="1" bandRow="1">
                <a:tableStyleId>{5C22544A-7EE6-4342-B048-85BDC9FD1C3A}</a:tableStyleId>
              </a:tblPr>
              <a:tblGrid>
                <a:gridCol w="2121408"/>
                <a:gridCol w="2121408"/>
                <a:gridCol w="2121408"/>
                <a:gridCol w="2121408"/>
                <a:gridCol w="2121408"/>
              </a:tblGrid>
              <a:tr h="457200">
                <a:tc>
                  <a:txBody>
                    <a:bodyPr/>
                    <a:lstStyle/>
                    <a:p>
                      <a:r>
                        <a:rPr sz="1500" b="1" i="0">
                          <a:solidFill>
                            <a:srgbClr val="FFFFFF"/>
                          </a:solidFill>
                          <a:latin typeface="Arial"/>
                        </a:rPr>
                        <a:t>Precision</a:t>
                      </a:r>
                    </a:p>
                  </a:txBody>
                  <a:tcPr anchor="ctr" marL="109728" marT="36576" marB="36576">
                    <a:solidFill>
                      <a:srgbClr val="1B3A5B"/>
                    </a:solidFill>
                  </a:tcPr>
                </a:tc>
                <a:tc>
                  <a:txBody>
                    <a:bodyPr/>
                    <a:lstStyle/>
                    <a:p>
                      <a:r>
                        <a:rPr sz="1500" b="1" i="0">
                          <a:solidFill>
                            <a:srgbClr val="FFFFFF"/>
                          </a:solidFill>
                          <a:latin typeface="Arial"/>
                        </a:rPr>
                        <a:t>Recall</a:t>
                      </a:r>
                    </a:p>
                  </a:txBody>
                  <a:tcPr anchor="ctr" marL="109728" marT="36576" marB="36576">
                    <a:solidFill>
                      <a:srgbClr val="1B3A5B"/>
                    </a:solidFill>
                  </a:tcPr>
                </a:tc>
                <a:tc>
                  <a:txBody>
                    <a:bodyPr/>
                    <a:lstStyle/>
                    <a:p>
                      <a:r>
                        <a:rPr sz="1500" b="1" i="0">
                          <a:solidFill>
                            <a:srgbClr val="FFFFFF"/>
                          </a:solidFill>
                          <a:latin typeface="Arial"/>
                        </a:rPr>
                        <a:t>F1-score</a:t>
                      </a:r>
                    </a:p>
                  </a:txBody>
                  <a:tcPr anchor="ctr" marL="109728" marT="36576" marB="36576">
                    <a:solidFill>
                      <a:srgbClr val="1B3A5B"/>
                    </a:solidFill>
                  </a:tcPr>
                </a:tc>
                <a:tc>
                  <a:txBody>
                    <a:bodyPr/>
                    <a:lstStyle/>
                    <a:p>
                      <a:r>
                        <a:rPr sz="1500" b="1" i="0">
                          <a:solidFill>
                            <a:srgbClr val="FFFFFF"/>
                          </a:solidFill>
                          <a:latin typeface="Arial"/>
                        </a:rPr>
                        <a:t>AUROC</a:t>
                      </a:r>
                    </a:p>
                  </a:txBody>
                  <a:tcPr anchor="ctr" marL="109728" marT="36576" marB="36576">
                    <a:solidFill>
                      <a:srgbClr val="1B3A5B"/>
                    </a:solidFill>
                  </a:tcPr>
                </a:tc>
                <a:tc>
                  <a:txBody>
                    <a:bodyPr/>
                    <a:lstStyle/>
                    <a:p>
                      <a:r>
                        <a:rPr sz="1500" b="1" i="0">
                          <a:solidFill>
                            <a:srgbClr val="FFFFFF"/>
                          </a:solidFill>
                          <a:latin typeface="Arial"/>
                        </a:rPr>
                        <a:t>AUPRC</a:t>
                      </a:r>
                    </a:p>
                  </a:txBody>
                  <a:tcPr anchor="ctr" marL="109728" marT="36576" marB="36576">
                    <a:solidFill>
                      <a:srgbClr val="1B3A5B"/>
                    </a:solidFill>
                  </a:tcPr>
                </a:tc>
              </a:tr>
              <a:tr h="457200">
                <a:tc>
                  <a:txBody>
                    <a:bodyPr/>
                    <a:lstStyle/>
                    <a:p>
                      <a:r>
                        <a:rPr sz="1500" b="0" i="0">
                          <a:solidFill>
                            <a:srgbClr val="2B2B2B"/>
                          </a:solidFill>
                          <a:latin typeface="Arial"/>
                        </a:rPr>
                        <a:t>0.54</a:t>
                      </a:r>
                    </a:p>
                  </a:txBody>
                  <a:tcPr anchor="ctr" marL="109728" marT="36576" marB="36576">
                    <a:solidFill>
                      <a:srgbClr val="FFFFFF"/>
                    </a:solidFill>
                  </a:tcPr>
                </a:tc>
                <a:tc>
                  <a:txBody>
                    <a:bodyPr/>
                    <a:lstStyle/>
                    <a:p>
                      <a:r>
                        <a:rPr sz="1500" b="0" i="0">
                          <a:solidFill>
                            <a:srgbClr val="2B2B2B"/>
                          </a:solidFill>
                          <a:latin typeface="Arial"/>
                        </a:rPr>
                        <a:t>0.57</a:t>
                      </a:r>
                    </a:p>
                  </a:txBody>
                  <a:tcPr anchor="ctr" marL="109728" marT="36576" marB="36576">
                    <a:solidFill>
                      <a:srgbClr val="FFFFFF"/>
                    </a:solidFill>
                  </a:tcPr>
                </a:tc>
                <a:tc>
                  <a:txBody>
                    <a:bodyPr/>
                    <a:lstStyle/>
                    <a:p>
                      <a:r>
                        <a:rPr sz="1500" b="0" i="0">
                          <a:solidFill>
                            <a:srgbClr val="2B2B2B"/>
                          </a:solidFill>
                          <a:latin typeface="Arial"/>
                        </a:rPr>
                        <a:t>0.56</a:t>
                      </a:r>
                    </a:p>
                  </a:txBody>
                  <a:tcPr anchor="ctr" marL="109728" marT="36576" marB="36576">
                    <a:solidFill>
                      <a:srgbClr val="FFFFFF"/>
                    </a:solidFill>
                  </a:tcPr>
                </a:tc>
                <a:tc>
                  <a:txBody>
                    <a:bodyPr/>
                    <a:lstStyle/>
                    <a:p>
                      <a:r>
                        <a:rPr sz="1500" b="0" i="0">
                          <a:solidFill>
                            <a:srgbClr val="2B2B2B"/>
                          </a:solidFill>
                          <a:latin typeface="Arial"/>
                        </a:rPr>
                        <a:t>0.837</a:t>
                      </a:r>
                    </a:p>
                  </a:txBody>
                  <a:tcPr anchor="ctr" marL="109728" marT="36576" marB="36576">
                    <a:solidFill>
                      <a:srgbClr val="FFFFFF"/>
                    </a:solidFill>
                  </a:tcPr>
                </a:tc>
                <a:tc>
                  <a:txBody>
                    <a:bodyPr/>
                    <a:lstStyle/>
                    <a:p>
                      <a:r>
                        <a:rPr sz="1500" b="0" i="0">
                          <a:solidFill>
                            <a:srgbClr val="2B2B2B"/>
                          </a:solidFill>
                          <a:latin typeface="Arial"/>
                        </a:rPr>
                        <a:t>0.568</a:t>
                      </a:r>
                    </a:p>
                  </a:txBody>
                  <a:tcPr anchor="ctr" marL="109728" marT="36576" marB="36576">
                    <a:solidFill>
                      <a:srgbClr val="FFFFFF"/>
                    </a:solidFill>
                  </a:tcPr>
                </a:tc>
              </a:tr>
            </a:tbl>
          </a:graphicData>
        </a:graphic>
      </p:graphicFrame>
      <p:sp>
        <p:nvSpPr>
          <p:cNvPr id="9" name="TextBox 8"/>
          <p:cNvSpPr txBox="1"/>
          <p:nvPr/>
        </p:nvSpPr>
        <p:spPr>
          <a:xfrm>
            <a:off x="777240" y="4297680"/>
            <a:ext cx="10637215" cy="914400"/>
          </a:xfrm>
          <a:prstGeom prst="rect">
            <a:avLst/>
          </a:prstGeom>
          <a:noFill/>
        </p:spPr>
        <p:txBody>
          <a:bodyPr wrap="square">
            <a:spAutoFit/>
          </a:bodyPr>
          <a:lstStyle/>
          <a:p>
            <a:r>
              <a:rPr sz="1500" b="0" i="0">
                <a:solidFill>
                  <a:srgbClr val="2B2B2B"/>
                </a:solidFill>
                <a:latin typeface="Arial"/>
              </a:rPr>
              <a:t>Why recall matters here: missing an employee who leaves costs far more than a false alarm. The threshold encodes that business trade-off, so the API must apply it — never the default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The trap I had to avoid: training/serving skew</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5" name="TextBox 4"/>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5</a:t>
            </a:r>
          </a:p>
        </p:txBody>
      </p:sp>
      <p:sp>
        <p:nvSpPr>
          <p:cNvPr id="6" name="TextBox 5"/>
          <p:cNvSpPr txBox="1"/>
          <p:nvPr/>
        </p:nvSpPr>
        <p:spPr>
          <a:xfrm>
            <a:off x="777240" y="1417320"/>
            <a:ext cx="10637215" cy="4709160"/>
          </a:xfrm>
          <a:prstGeom prst="rect">
            <a:avLst/>
          </a:prstGeom>
          <a:noFill/>
        </p:spPr>
        <p:txBody>
          <a:bodyPr wrap="square">
            <a:spAutoFit/>
          </a:bodyPr>
          <a:lstStyle/>
          <a:p>
            <a:pPr>
              <a:spcAft>
                <a:spcPts val="832"/>
              </a:spcAft>
            </a:pPr>
            <a:r>
              <a:rPr sz="1600" b="0" i="0">
                <a:solidFill>
                  <a:srgbClr val="2B2B2B"/>
                </a:solidFill>
                <a:latin typeface="Arial"/>
              </a:rPr>
              <a:t>•  The model needs </a:t>
            </a:r>
            <a:r>
              <a:rPr sz="1600" b="1" i="0">
                <a:solidFill>
                  <a:srgbClr val="2B2B2B"/>
                </a:solidFill>
                <a:latin typeface="Arial"/>
              </a:rPr>
              <a:t>37 columns</a:t>
            </a:r>
            <a:r>
              <a:rPr sz="1600" b="0" i="0">
                <a:solidFill>
                  <a:srgbClr val="2B2B2B"/>
                </a:solidFill>
                <a:latin typeface="Arial"/>
              </a:rPr>
              <a:t>: 27 raw fields + </a:t>
            </a:r>
            <a:r>
              <a:rPr sz="1600" b="1" i="0">
                <a:solidFill>
                  <a:srgbClr val="2B2B2B"/>
                </a:solidFill>
                <a:latin typeface="Arial"/>
              </a:rPr>
              <a:t>10 engineered</a:t>
            </a:r>
            <a:r>
              <a:rPr sz="1600" b="0" i="0">
                <a:solidFill>
                  <a:srgbClr val="2B2B2B"/>
                </a:solidFill>
                <a:latin typeface="Arial"/>
              </a:rPr>
              <a:t> (taux_promotion, zone_distance…)</a:t>
            </a:r>
          </a:p>
          <a:p>
            <a:pPr>
              <a:spcAft>
                <a:spcPts val="832"/>
              </a:spcAft>
            </a:pPr>
            <a:r>
              <a:rPr sz="1600" b="0" i="0">
                <a:solidFill>
                  <a:srgbClr val="2B2B2B"/>
                </a:solidFill>
                <a:latin typeface="Arial"/>
              </a:rPr>
              <a:t>•  </a:t>
            </a:r>
            <a:r>
              <a:rPr sz="1600" b="1" i="0">
                <a:solidFill>
                  <a:srgbClr val="2B2B2B"/>
                </a:solidFill>
                <a:latin typeface="Arial"/>
              </a:rPr>
              <a:t>Risk:</a:t>
            </a:r>
            <a:r>
              <a:rPr sz="1600" b="0" i="0">
                <a:solidFill>
                  <a:srgbClr val="2B2B2B"/>
                </a:solidFill>
                <a:latin typeface="Arial"/>
              </a:rPr>
              <a:t> if the API computes them slightly differently from the training notebook, accuracy drops </a:t>
            </a:r>
            <a:r>
              <a:rPr sz="1600" b="1" i="0">
                <a:solidFill>
                  <a:srgbClr val="2B2B2B"/>
                </a:solidFill>
                <a:latin typeface="Arial"/>
              </a:rPr>
              <a:t>silently</a:t>
            </a:r>
          </a:p>
          <a:p>
            <a:pPr>
              <a:spcAft>
                <a:spcPts val="832"/>
              </a:spcAft>
            </a:pPr>
            <a:r>
              <a:rPr sz="1600" b="0" i="0">
                <a:solidFill>
                  <a:srgbClr val="2B2B2B"/>
                </a:solidFill>
                <a:latin typeface="Arial"/>
              </a:rPr>
              <a:t>•  </a:t>
            </a:r>
            <a:r>
              <a:rPr sz="1600" b="1" i="0">
                <a:solidFill>
                  <a:srgbClr val="2B2B2B"/>
                </a:solidFill>
                <a:latin typeface="Arial"/>
              </a:rPr>
              <a:t>Solution:</a:t>
            </a:r>
            <a:r>
              <a:rPr sz="1600" b="0" i="0">
                <a:solidFill>
                  <a:srgbClr val="2B2B2B"/>
                </a:solidFill>
                <a:latin typeface="Arial"/>
              </a:rPr>
              <a:t> one shared function, </a:t>
            </a:r>
            <a:r>
              <a:rPr sz="1600" b="1" i="0">
                <a:solidFill>
                  <a:srgbClr val="2B2B2B"/>
                </a:solidFill>
                <a:latin typeface="Arial"/>
              </a:rPr>
              <a:t>modele/features.py</a:t>
            </a:r>
            <a:r>
              <a:rPr sz="1600" b="0" i="0">
                <a:solidFill>
                  <a:srgbClr val="2B2B2B"/>
                </a:solidFill>
                <a:latin typeface="Arial"/>
              </a:rPr>
              <a:t>, holding the notebook's exact formulas</a:t>
            </a:r>
          </a:p>
          <a:p>
            <a:pPr>
              <a:spcAft>
                <a:spcPts val="832"/>
              </a:spcAft>
            </a:pPr>
            <a:r>
              <a:rPr sz="1600" b="0" i="0">
                <a:solidFill>
                  <a:srgbClr val="2B2B2B"/>
                </a:solidFill>
                <a:latin typeface="Arial"/>
              </a:rPr>
              <a:t>•  </a:t>
            </a:r>
            <a:r>
              <a:rPr sz="1600" b="1" i="0">
                <a:solidFill>
                  <a:srgbClr val="2B2B2B"/>
                </a:solidFill>
                <a:latin typeface="Arial"/>
              </a:rPr>
              <a:t>Verification:</a:t>
            </a:r>
            <a:r>
              <a:rPr sz="1600" b="0" i="0">
                <a:solidFill>
                  <a:srgbClr val="2B2B2B"/>
                </a:solidFill>
                <a:latin typeface="Arial"/>
              </a:rPr>
              <a:t> same features and same probabilities as the notebook on all </a:t>
            </a:r>
            <a:r>
              <a:rPr sz="1600" b="1" i="0">
                <a:solidFill>
                  <a:srgbClr val="2B2B2B"/>
                </a:solidFill>
                <a:latin typeface="Arial"/>
              </a:rPr>
              <a:t>1 470 employees</a:t>
            </a:r>
            <a:r>
              <a:rPr sz="1600" b="0" i="0">
                <a:solidFill>
                  <a:srgbClr val="2B2B2B"/>
                </a:solidFill>
                <a:latin typeface="Arial"/>
              </a:rPr>
              <a:t> (max diff 0.0)</a:t>
            </a:r>
          </a:p>
          <a:p>
            <a:pPr>
              <a:spcAft>
                <a:spcPts val="832"/>
              </a:spcAft>
            </a:pPr>
            <a:r>
              <a:rPr sz="1600" b="0" i="0">
                <a:solidFill>
                  <a:srgbClr val="2B2B2B"/>
                </a:solidFill>
                <a:latin typeface="Arial"/>
              </a:rPr>
              <a:t>•  The API </a:t>
            </a:r>
            <a:r>
              <a:rPr sz="1600" b="1" i="0">
                <a:solidFill>
                  <a:srgbClr val="2B2B2B"/>
                </a:solidFill>
                <a:latin typeface="Arial"/>
              </a:rPr>
              <a:t>refuses</a:t>
            </a:r>
            <a:r>
              <a:rPr sz="1600" b="0" i="0">
                <a:solidFill>
                  <a:srgbClr val="2B2B2B"/>
                </a:solidFill>
                <a:latin typeface="Arial"/>
              </a:rPr>
              <a:t> a computed feature sent by a client (HTTP 422) — it calculates them itself</a:t>
            </a:r>
          </a:p>
        </p:txBody>
      </p:sp>
      <p:sp>
        <p:nvSpPr>
          <p:cNvPr id="7" name="Rectangle 6"/>
          <p:cNvSpPr/>
          <p:nvPr/>
        </p:nvSpPr>
        <p:spPr>
          <a:xfrm>
            <a:off x="777240" y="4069080"/>
            <a:ext cx="10637215" cy="548640"/>
          </a:xfrm>
          <a:prstGeom prst="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i="0">
                <a:solidFill>
                  <a:srgbClr val="2B2B2B"/>
                </a:solidFill>
                <a:latin typeface="Arial"/>
              </a:rPr>
              <a:t>df["taux_promotion"] = df["annees_depuis_la_derniere_promotion"] / (df["annees_dans_l_entreprise"] + 1)</a:t>
            </a:r>
          </a:p>
        </p:txBody>
      </p:sp>
      <p:sp>
        <p:nvSpPr>
          <p:cNvPr id="8" name="TextBox 7"/>
          <p:cNvSpPr txBox="1"/>
          <p:nvPr/>
        </p:nvSpPr>
        <p:spPr>
          <a:xfrm>
            <a:off x="777240" y="4709160"/>
            <a:ext cx="10637215" cy="548640"/>
          </a:xfrm>
          <a:prstGeom prst="rect">
            <a:avLst/>
          </a:prstGeom>
          <a:noFill/>
        </p:spPr>
        <p:txBody>
          <a:bodyPr wrap="square">
            <a:spAutoFit/>
          </a:bodyPr>
          <a:lstStyle/>
          <a:p>
            <a:r>
              <a:rPr sz="1400" b="1" i="0">
                <a:solidFill>
                  <a:srgbClr val="2F7D7A"/>
                </a:solidFill>
                <a:latin typeface="Arial"/>
              </a:rPr>
              <a:t>Same code path for training and serving = no divergence possible.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The API</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5" name="TextBox 4"/>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6</a:t>
            </a:r>
          </a:p>
        </p:txBody>
      </p:sp>
      <p:graphicFrame>
        <p:nvGraphicFramePr>
          <p:cNvPr id="6" name="Table 5"/>
          <p:cNvGraphicFramePr>
            <a:graphicFrameLocks noGrp="1"/>
          </p:cNvGraphicFramePr>
          <p:nvPr/>
        </p:nvGraphicFramePr>
        <p:xfrm>
          <a:off x="777240" y="1417320"/>
          <a:ext cx="10607040" cy="2057400"/>
        </p:xfrm>
        <a:graphic>
          <a:graphicData uri="http://schemas.openxmlformats.org/drawingml/2006/table">
            <a:tbl>
              <a:tblPr firstRow="1" bandRow="1">
                <a:tableStyleId>{5C22544A-7EE6-4342-B048-85BDC9FD1C3A}</a:tableStyleId>
              </a:tblPr>
              <a:tblGrid>
                <a:gridCol w="2377440"/>
                <a:gridCol w="1645920"/>
                <a:gridCol w="6583680"/>
              </a:tblGrid>
              <a:tr h="411480">
                <a:tc>
                  <a:txBody>
                    <a:bodyPr/>
                    <a:lstStyle/>
                    <a:p>
                      <a:r>
                        <a:rPr sz="1400" b="1" i="0">
                          <a:solidFill>
                            <a:srgbClr val="FFFFFF"/>
                          </a:solidFill>
                          <a:latin typeface="Arial"/>
                        </a:rPr>
                        <a:t>Route</a:t>
                      </a:r>
                    </a:p>
                  </a:txBody>
                  <a:tcPr anchor="ctr" marL="109728" marT="36576" marB="36576">
                    <a:solidFill>
                      <a:srgbClr val="1B3A5B"/>
                    </a:solidFill>
                  </a:tcPr>
                </a:tc>
                <a:tc>
                  <a:txBody>
                    <a:bodyPr/>
                    <a:lstStyle/>
                    <a:p>
                      <a:r>
                        <a:rPr sz="1400" b="1" i="0">
                          <a:solidFill>
                            <a:srgbClr val="FFFFFF"/>
                          </a:solidFill>
                          <a:latin typeface="Arial"/>
                        </a:rPr>
                        <a:t>Method</a:t>
                      </a:r>
                    </a:p>
                  </a:txBody>
                  <a:tcPr anchor="ctr" marL="109728" marT="36576" marB="36576">
                    <a:solidFill>
                      <a:srgbClr val="1B3A5B"/>
                    </a:solidFill>
                  </a:tcPr>
                </a:tc>
                <a:tc>
                  <a:txBody>
                    <a:bodyPr/>
                    <a:lstStyle/>
                    <a:p>
                      <a:r>
                        <a:rPr sz="1400" b="1" i="0">
                          <a:solidFill>
                            <a:srgbClr val="FFFFFF"/>
                          </a:solidFill>
                          <a:latin typeface="Arial"/>
                        </a:rPr>
                        <a:t>Role</a:t>
                      </a:r>
                    </a:p>
                  </a:txBody>
                  <a:tcPr anchor="ctr" marL="109728" marT="36576" marB="36576">
                    <a:solidFill>
                      <a:srgbClr val="1B3A5B"/>
                    </a:solidFill>
                  </a:tcPr>
                </a:tc>
              </a:tr>
              <a:tr h="411480">
                <a:tc>
                  <a:txBody>
                    <a:bodyPr/>
                    <a:lstStyle/>
                    <a:p>
                      <a:r>
                        <a:rPr sz="1400" b="0" i="0">
                          <a:solidFill>
                            <a:srgbClr val="2B2B2B"/>
                          </a:solidFill>
                          <a:latin typeface="Arial"/>
                        </a:rPr>
                        <a:t>/</a:t>
                      </a:r>
                    </a:p>
                  </a:txBody>
                  <a:tcPr anchor="ctr" marL="109728" marT="36576" marB="36576">
                    <a:solidFill>
                      <a:srgbClr val="FFFFFF"/>
                    </a:solidFill>
                  </a:tcPr>
                </a:tc>
                <a:tc>
                  <a:txBody>
                    <a:bodyPr/>
                    <a:lstStyle/>
                    <a:p>
                      <a:r>
                        <a:rPr sz="1400" b="0" i="0">
                          <a:solidFill>
                            <a:srgbClr val="2B2B2B"/>
                          </a:solidFill>
                          <a:latin typeface="Arial"/>
                        </a:rPr>
                        <a:t>GET</a:t>
                      </a:r>
                    </a:p>
                  </a:txBody>
                  <a:tcPr anchor="ctr" marL="109728" marT="36576" marB="36576">
                    <a:solidFill>
                      <a:srgbClr val="FFFFFF"/>
                    </a:solidFill>
                  </a:tcPr>
                </a:tc>
                <a:tc>
                  <a:txBody>
                    <a:bodyPr/>
                    <a:lstStyle/>
                    <a:p>
                      <a:r>
                        <a:rPr sz="1400" b="0" i="0">
                          <a:solidFill>
                            <a:srgbClr val="2B2B2B"/>
                          </a:solidFill>
                          <a:latin typeface="Arial"/>
                        </a:rPr>
                        <a:t>welcome message</a:t>
                      </a:r>
                    </a:p>
                  </a:txBody>
                  <a:tcPr anchor="ctr" marL="109728" marT="36576" marB="36576">
                    <a:solidFill>
                      <a:srgbClr val="FFFFFF"/>
                    </a:solidFill>
                  </a:tcPr>
                </a:tc>
              </a:tr>
              <a:tr h="411480">
                <a:tc>
                  <a:txBody>
                    <a:bodyPr/>
                    <a:lstStyle/>
                    <a:p>
                      <a:r>
                        <a:rPr sz="1400" b="0" i="0">
                          <a:solidFill>
                            <a:srgbClr val="2B2B2B"/>
                          </a:solidFill>
                          <a:latin typeface="Arial"/>
                        </a:rPr>
                        <a:t>/health</a:t>
                      </a:r>
                    </a:p>
                  </a:txBody>
                  <a:tcPr anchor="ctr" marL="109728" marT="36576" marB="36576">
                    <a:solidFill>
                      <a:srgbClr val="F1F5F7"/>
                    </a:solidFill>
                  </a:tcPr>
                </a:tc>
                <a:tc>
                  <a:txBody>
                    <a:bodyPr/>
                    <a:lstStyle/>
                    <a:p>
                      <a:r>
                        <a:rPr sz="1400" b="0" i="0">
                          <a:solidFill>
                            <a:srgbClr val="2B2B2B"/>
                          </a:solidFill>
                          <a:latin typeface="Arial"/>
                        </a:rPr>
                        <a:t>GET</a:t>
                      </a:r>
                    </a:p>
                  </a:txBody>
                  <a:tcPr anchor="ctr" marL="109728" marT="36576" marB="36576">
                    <a:solidFill>
                      <a:srgbClr val="F1F5F7"/>
                    </a:solidFill>
                  </a:tcPr>
                </a:tc>
                <a:tc>
                  <a:txBody>
                    <a:bodyPr/>
                    <a:lstStyle/>
                    <a:p>
                      <a:r>
                        <a:rPr sz="1400" b="0" i="0">
                          <a:solidFill>
                            <a:srgbClr val="2B2B2B"/>
                          </a:solidFill>
                          <a:latin typeface="Arial"/>
                        </a:rPr>
                        <a:t>liveness check — works without a database</a:t>
                      </a:r>
                    </a:p>
                  </a:txBody>
                  <a:tcPr anchor="ctr" marL="109728" marT="36576" marB="36576">
                    <a:solidFill>
                      <a:srgbClr val="F1F5F7"/>
                    </a:solidFill>
                  </a:tcPr>
                </a:tc>
              </a:tr>
              <a:tr h="411480">
                <a:tc>
                  <a:txBody>
                    <a:bodyPr/>
                    <a:lstStyle/>
                    <a:p>
                      <a:r>
                        <a:rPr sz="1400" b="0" i="0">
                          <a:solidFill>
                            <a:srgbClr val="2B2B2B"/>
                          </a:solidFill>
                          <a:latin typeface="Arial"/>
                        </a:rPr>
                        <a:t>/docs</a:t>
                      </a:r>
                    </a:p>
                  </a:txBody>
                  <a:tcPr anchor="ctr" marL="109728" marT="36576" marB="36576">
                    <a:solidFill>
                      <a:srgbClr val="FFFFFF"/>
                    </a:solidFill>
                  </a:tcPr>
                </a:tc>
                <a:tc>
                  <a:txBody>
                    <a:bodyPr/>
                    <a:lstStyle/>
                    <a:p>
                      <a:r>
                        <a:rPr sz="1400" b="0" i="0">
                          <a:solidFill>
                            <a:srgbClr val="2B2B2B"/>
                          </a:solidFill>
                          <a:latin typeface="Arial"/>
                        </a:rPr>
                        <a:t>GET</a:t>
                      </a:r>
                    </a:p>
                  </a:txBody>
                  <a:tcPr anchor="ctr" marL="109728" marT="36576" marB="36576">
                    <a:solidFill>
                      <a:srgbClr val="FFFFFF"/>
                    </a:solidFill>
                  </a:tcPr>
                </a:tc>
                <a:tc>
                  <a:txBody>
                    <a:bodyPr/>
                    <a:lstStyle/>
                    <a:p>
                      <a:r>
                        <a:rPr sz="1400" b="0" i="0">
                          <a:solidFill>
                            <a:srgbClr val="2B2B2B"/>
                          </a:solidFill>
                          <a:latin typeface="Arial"/>
                        </a:rPr>
                        <a:t>interactive documentation, generated automatically</a:t>
                      </a:r>
                    </a:p>
                  </a:txBody>
                  <a:tcPr anchor="ctr" marL="109728" marT="36576" marB="36576">
                    <a:solidFill>
                      <a:srgbClr val="FFFFFF"/>
                    </a:solidFill>
                  </a:tcPr>
                </a:tc>
              </a:tr>
              <a:tr h="411480">
                <a:tc>
                  <a:txBody>
                    <a:bodyPr/>
                    <a:lstStyle/>
                    <a:p>
                      <a:r>
                        <a:rPr sz="1400" b="0" i="0">
                          <a:solidFill>
                            <a:srgbClr val="2B2B2B"/>
                          </a:solidFill>
                          <a:latin typeface="Arial"/>
                        </a:rPr>
                        <a:t>/predict</a:t>
                      </a:r>
                    </a:p>
                  </a:txBody>
                  <a:tcPr anchor="ctr" marL="109728" marT="36576" marB="36576">
                    <a:solidFill>
                      <a:srgbClr val="F1F5F7"/>
                    </a:solidFill>
                  </a:tcPr>
                </a:tc>
                <a:tc>
                  <a:txBody>
                    <a:bodyPr/>
                    <a:lstStyle/>
                    <a:p>
                      <a:r>
                        <a:rPr sz="1400" b="0" i="0">
                          <a:solidFill>
                            <a:srgbClr val="2B2B2B"/>
                          </a:solidFill>
                          <a:latin typeface="Arial"/>
                        </a:rPr>
                        <a:t>POST</a:t>
                      </a:r>
                    </a:p>
                  </a:txBody>
                  <a:tcPr anchor="ctr" marL="109728" marT="36576" marB="36576">
                    <a:solidFill>
                      <a:srgbClr val="F1F5F7"/>
                    </a:solidFill>
                  </a:tcPr>
                </a:tc>
                <a:tc>
                  <a:txBody>
                    <a:bodyPr/>
                    <a:lstStyle/>
                    <a:p>
                      <a:r>
                        <a:rPr sz="1400" b="0" i="0">
                          <a:solidFill>
                            <a:srgbClr val="2B2B2B"/>
                          </a:solidFill>
                          <a:latin typeface="Arial"/>
                        </a:rPr>
                        <a:t>prediction for one employee, recorded in the database</a:t>
                      </a:r>
                    </a:p>
                  </a:txBody>
                  <a:tcPr anchor="ctr" marL="109728" marT="36576" marB="36576">
                    <a:solidFill>
                      <a:srgbClr val="F1F5F7"/>
                    </a:solidFill>
                  </a:tcPr>
                </a:tc>
              </a:tr>
            </a:tbl>
          </a:graphicData>
        </a:graphic>
      </p:graphicFrame>
      <p:sp>
        <p:nvSpPr>
          <p:cNvPr id="7" name="Rectangle 6"/>
          <p:cNvSpPr/>
          <p:nvPr/>
        </p:nvSpPr>
        <p:spPr>
          <a:xfrm>
            <a:off x="777240" y="3703320"/>
            <a:ext cx="4937760" cy="1828800"/>
          </a:xfrm>
          <a:prstGeom prst="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0" i="0">
                <a:solidFill>
                  <a:srgbClr val="2B2B2B"/>
                </a:solidFill>
                <a:latin typeface="Arial"/>
              </a:rPr>
              <a:t>{
  "id_prediction": 2,
  "probabilite_depart": 0.031,
  "seuil": 0.294,
  "prediction": 0,
  "label": "Reste probable"
}</a:t>
            </a:r>
          </a:p>
        </p:txBody>
      </p:sp>
      <p:sp>
        <p:nvSpPr>
          <p:cNvPr id="8" name="TextBox 7"/>
          <p:cNvSpPr txBox="1"/>
          <p:nvPr/>
        </p:nvSpPr>
        <p:spPr>
          <a:xfrm>
            <a:off x="6035040" y="3794760"/>
            <a:ext cx="5303520" cy="2331720"/>
          </a:xfrm>
          <a:prstGeom prst="rect">
            <a:avLst/>
          </a:prstGeom>
          <a:noFill/>
        </p:spPr>
        <p:txBody>
          <a:bodyPr wrap="square">
            <a:spAutoFit/>
          </a:bodyPr>
          <a:lstStyle/>
          <a:p>
            <a:pPr>
              <a:spcAft>
                <a:spcPts val="832"/>
              </a:spcAft>
            </a:pPr>
            <a:r>
              <a:rPr sz="1500" b="0" i="0">
                <a:solidFill>
                  <a:srgbClr val="2B2B2B"/>
                </a:solidFill>
                <a:latin typeface="Arial"/>
              </a:rPr>
              <a:t>•  Input: the </a:t>
            </a:r>
            <a:r>
              <a:rPr sz="1500" b="1" i="0">
                <a:solidFill>
                  <a:srgbClr val="2B2B2B"/>
                </a:solidFill>
                <a:latin typeface="Arial"/>
              </a:rPr>
              <a:t>27 raw fields</a:t>
            </a:r>
            <a:r>
              <a:rPr sz="1500" b="0" i="0">
                <a:solidFill>
                  <a:srgbClr val="2B2B2B"/>
                </a:solidFill>
                <a:latin typeface="Arial"/>
              </a:rPr>
              <a:t> only</a:t>
            </a:r>
          </a:p>
          <a:p>
            <a:pPr>
              <a:spcAft>
                <a:spcPts val="832"/>
              </a:spcAft>
            </a:pPr>
            <a:r>
              <a:rPr sz="1500" b="0" i="0">
                <a:solidFill>
                  <a:srgbClr val="2B2B2B"/>
                </a:solidFill>
                <a:latin typeface="Arial"/>
              </a:rPr>
              <a:t>•  </a:t>
            </a:r>
            <a:r>
              <a:rPr sz="1500" b="1" i="0">
                <a:solidFill>
                  <a:srgbClr val="2B2B2B"/>
                </a:solidFill>
                <a:latin typeface="Arial"/>
              </a:rPr>
              <a:t>id_prediction</a:t>
            </a:r>
            <a:r>
              <a:rPr sz="1500" b="0" i="0">
                <a:solidFill>
                  <a:srgbClr val="2B2B2B"/>
                </a:solidFill>
                <a:latin typeface="Arial"/>
              </a:rPr>
              <a:t> = the database row id</a:t>
            </a:r>
          </a:p>
          <a:p>
            <a:pPr lvl="1">
              <a:spcAft>
                <a:spcPts val="832"/>
              </a:spcAft>
            </a:pPr>
            <a:r>
              <a:rPr sz="1300" b="0" i="0">
                <a:solidFill>
                  <a:srgbClr val="6B7280"/>
                </a:solidFill>
                <a:latin typeface="Arial"/>
              </a:rPr>
              <a:t>     –  the client can trace its own request</a:t>
            </a:r>
          </a:p>
          <a:p>
            <a:pPr>
              <a:spcAft>
                <a:spcPts val="832"/>
              </a:spcAft>
            </a:pPr>
            <a:r>
              <a:rPr sz="1500" b="0" i="0">
                <a:solidFill>
                  <a:srgbClr val="2B2B2B"/>
                </a:solidFill>
                <a:latin typeface="Arial"/>
              </a:rPr>
              <a:t>•  Response validated by Pydantic too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Two validation gates</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10637215" cy="411480"/>
          </a:xfrm>
          <a:prstGeom prst="rect">
            <a:avLst/>
          </a:prstGeom>
          <a:noFill/>
        </p:spPr>
        <p:txBody>
          <a:bodyPr wrap="square">
            <a:spAutoFit/>
          </a:bodyPr>
          <a:lstStyle/>
          <a:p>
            <a:r>
              <a:rPr sz="1400" b="0" i="0">
                <a:solidFill>
                  <a:srgbClr val="6B7280"/>
                </a:solidFill>
                <a:latin typeface="Arial"/>
              </a:rPr>
              <a:t>The same rule stated twice, on purpose</a:t>
            </a:r>
          </a:p>
        </p:txBody>
      </p:sp>
      <p:sp>
        <p:nvSpPr>
          <p:cNvPr id="5" name="TextBox 4"/>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6" name="TextBox 5"/>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7</a:t>
            </a:r>
          </a:p>
        </p:txBody>
      </p:sp>
      <p:sp>
        <p:nvSpPr>
          <p:cNvPr id="7" name="Rounded Rectangle 6"/>
          <p:cNvSpPr/>
          <p:nvPr/>
        </p:nvSpPr>
        <p:spPr>
          <a:xfrm>
            <a:off x="777240" y="1783080"/>
            <a:ext cx="5120640" cy="2377440"/>
          </a:xfrm>
          <a:prstGeom prst="round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2B2B2B"/>
                </a:solidFill>
                <a:latin typeface="Arial"/>
              </a:rPr>
              <a:t>Gate 1 — Pydantic (app/schemas.py)</a:t>
            </a:r>
            <a:r>
              <a:rPr sz="1300" b="0" i="0">
                <a:solidFill>
                  <a:srgbClr val="2B2B2B"/>
                </a:solidFill>
                <a:latin typeface="Arial"/>
              </a:rPr>
              <a:t>
Guards the HTTP door
Unknown category, negative salary,
missing field, computed feature sent
→ HTTP 422 with a clear message
→ the model is never called</a:t>
            </a:r>
          </a:p>
        </p:txBody>
      </p:sp>
      <p:sp>
        <p:nvSpPr>
          <p:cNvPr id="8" name="Rounded Rectangle 7"/>
          <p:cNvSpPr/>
          <p:nvPr/>
        </p:nvSpPr>
        <p:spPr>
          <a:xfrm>
            <a:off x="6263640" y="1783080"/>
            <a:ext cx="5120640" cy="2377440"/>
          </a:xfrm>
          <a:prstGeom prst="round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2B2B2B"/>
                </a:solidFill>
                <a:latin typeface="Arial"/>
              </a:rPr>
              <a:t>Gate 2 — PostgreSQL (db/models.py)</a:t>
            </a:r>
            <a:r>
              <a:rPr sz="1300" b="0" i="0">
                <a:solidFill>
                  <a:srgbClr val="2B2B2B"/>
                </a:solidFill>
                <a:latin typeface="Arial"/>
              </a:rPr>
              <a:t>
Guards the database door
CHECK, NOT NULL, UNIQUE,
foreign keys
→ the write is refused
→ protects every entry point</a:t>
            </a:r>
          </a:p>
        </p:txBody>
      </p:sp>
      <p:sp>
        <p:nvSpPr>
          <p:cNvPr id="9" name="TextBox 8"/>
          <p:cNvSpPr txBox="1"/>
          <p:nvPr/>
        </p:nvSpPr>
        <p:spPr>
          <a:xfrm>
            <a:off x="777240" y="4389120"/>
            <a:ext cx="10637215" cy="1737360"/>
          </a:xfrm>
          <a:prstGeom prst="rect">
            <a:avLst/>
          </a:prstGeom>
          <a:noFill/>
        </p:spPr>
        <p:txBody>
          <a:bodyPr wrap="square">
            <a:spAutoFit/>
          </a:bodyPr>
          <a:lstStyle/>
          <a:p>
            <a:pPr>
              <a:spcAft>
                <a:spcPts val="832"/>
              </a:spcAft>
            </a:pPr>
            <a:r>
              <a:rPr sz="1500" b="0" i="0">
                <a:solidFill>
                  <a:srgbClr val="2B2B2B"/>
                </a:solidFill>
                <a:latin typeface="Arial"/>
              </a:rPr>
              <a:t>•  Why both? Pydantic only protects the API. The CSV import, a script or a manual SQL query bypass it</a:t>
            </a:r>
          </a:p>
          <a:p>
            <a:pPr>
              <a:spcAft>
                <a:spcPts val="832"/>
              </a:spcAft>
            </a:pPr>
            <a:r>
              <a:rPr sz="1500" b="0" i="0">
                <a:solidFill>
                  <a:srgbClr val="2B2B2B"/>
                </a:solidFill>
                <a:latin typeface="Arial"/>
              </a:rPr>
              <a:t>•  The allowed values are exactly </a:t>
            </a:r>
            <a:r>
              <a:rPr sz="1500" b="1" i="0">
                <a:solidFill>
                  <a:srgbClr val="2B2B2B"/>
                </a:solidFill>
                <a:latin typeface="Arial"/>
              </a:rPr>
              <a:t>the categories the model saw during 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Database schema</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10637215" cy="411480"/>
          </a:xfrm>
          <a:prstGeom prst="rect">
            <a:avLst/>
          </a:prstGeom>
          <a:noFill/>
        </p:spPr>
        <p:txBody>
          <a:bodyPr wrap="square">
            <a:spAutoFit/>
          </a:bodyPr>
          <a:lstStyle/>
          <a:p>
            <a:r>
              <a:rPr sz="1400" b="0" i="0">
                <a:solidFill>
                  <a:srgbClr val="6B7280"/>
                </a:solidFill>
                <a:latin typeface="Arial"/>
              </a:rPr>
              <a:t>6 tables, 2 groups — full UML in docs/db_schema.md</a:t>
            </a:r>
          </a:p>
        </p:txBody>
      </p:sp>
      <p:sp>
        <p:nvSpPr>
          <p:cNvPr id="5" name="TextBox 4"/>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6" name="TextBox 5"/>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8</a:t>
            </a:r>
          </a:p>
        </p:txBody>
      </p:sp>
      <p:sp>
        <p:nvSpPr>
          <p:cNvPr id="7" name="Rounded Rectangle 6"/>
          <p:cNvSpPr/>
          <p:nvPr/>
        </p:nvSpPr>
        <p:spPr>
          <a:xfrm>
            <a:off x="777240" y="1783080"/>
            <a:ext cx="5120640" cy="411480"/>
          </a:xfrm>
          <a:prstGeom prst="roundRect">
            <a:avLst/>
          </a:prstGeom>
          <a:solidFill>
            <a:srgbClr val="1B3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Arial"/>
              </a:rPr>
              <a:t>DATASET</a:t>
            </a:r>
            <a:r>
              <a:rPr sz="1300" b="1" i="0">
                <a:solidFill>
                  <a:srgbClr val="FFFFFF"/>
                </a:solidFill>
                <a:latin typeface="Arial"/>
              </a:rPr>
              <a:t> (loaded once)</a:t>
            </a:r>
          </a:p>
        </p:txBody>
      </p:sp>
      <p:sp>
        <p:nvSpPr>
          <p:cNvPr id="8" name="Rounded Rectangle 7"/>
          <p:cNvSpPr/>
          <p:nvPr/>
        </p:nvSpPr>
        <p:spPr>
          <a:xfrm>
            <a:off x="777240" y="2286000"/>
            <a:ext cx="5120640" cy="1554480"/>
          </a:xfrm>
          <a:prstGeom prst="round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0" i="0">
                <a:solidFill>
                  <a:srgbClr val="2B2B2B"/>
                </a:solidFill>
                <a:latin typeface="Arial"/>
              </a:rPr>
              <a:t>employee  1 ── 1  evaluation
employee  1 ── 1  sondage  (target)
joined by id_employee
1 470 rows each</a:t>
            </a:r>
          </a:p>
        </p:txBody>
      </p:sp>
      <p:sp>
        <p:nvSpPr>
          <p:cNvPr id="9" name="Rounded Rectangle 8"/>
          <p:cNvSpPr/>
          <p:nvPr/>
        </p:nvSpPr>
        <p:spPr>
          <a:xfrm>
            <a:off x="6263640" y="1783080"/>
            <a:ext cx="5120640" cy="411480"/>
          </a:xfrm>
          <a:prstGeom prst="roundRect">
            <a:avLst/>
          </a:prstGeom>
          <a:solidFill>
            <a:srgbClr val="1B3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Arial"/>
              </a:rPr>
              <a:t>TRACEABILITY</a:t>
            </a:r>
            <a:r>
              <a:rPr sz="1300" b="1" i="0">
                <a:solidFill>
                  <a:srgbClr val="FFFFFF"/>
                </a:solidFill>
                <a:latin typeface="Arial"/>
              </a:rPr>
              <a:t> (grows with every call)</a:t>
            </a:r>
          </a:p>
        </p:txBody>
      </p:sp>
      <p:sp>
        <p:nvSpPr>
          <p:cNvPr id="10" name="Rounded Rectangle 9"/>
          <p:cNvSpPr/>
          <p:nvPr/>
        </p:nvSpPr>
        <p:spPr>
          <a:xfrm>
            <a:off x="6263640" y="2286000"/>
            <a:ext cx="5120640" cy="1554480"/>
          </a:xfrm>
          <a:prstGeom prst="round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0" i="0">
                <a:solidFill>
                  <a:srgbClr val="2B2B2B"/>
                </a:solidFill>
                <a:latin typeface="Arial"/>
              </a:rPr>
              <a:t>prediction_input  1 ── 0..1  prediction_output
model_version  1 ── *  prediction_output
one output per input (UNIQUE)
deleting data never erases history</a:t>
            </a:r>
          </a:p>
        </p:txBody>
      </p:sp>
      <p:sp>
        <p:nvSpPr>
          <p:cNvPr id="11" name="TextBox 10"/>
          <p:cNvSpPr txBox="1"/>
          <p:nvPr/>
        </p:nvSpPr>
        <p:spPr>
          <a:xfrm>
            <a:off x="777240" y="4023360"/>
            <a:ext cx="10637215" cy="2103120"/>
          </a:xfrm>
          <a:prstGeom prst="rect">
            <a:avLst/>
          </a:prstGeom>
          <a:noFill/>
        </p:spPr>
        <p:txBody>
          <a:bodyPr wrap="square">
            <a:spAutoFit/>
          </a:bodyPr>
          <a:lstStyle/>
          <a:p>
            <a:pPr>
              <a:spcAft>
                <a:spcPts val="832"/>
              </a:spcAft>
            </a:pPr>
            <a:r>
              <a:rPr sz="1500" b="0" i="0">
                <a:solidFill>
                  <a:srgbClr val="2B2B2B"/>
                </a:solidFill>
                <a:latin typeface="Arial"/>
              </a:rPr>
              <a:t>•  </a:t>
            </a:r>
            <a:r>
              <a:rPr sz="1500" b="1" i="0">
                <a:solidFill>
                  <a:srgbClr val="2B2B2B"/>
                </a:solidFill>
                <a:latin typeface="Arial"/>
              </a:rPr>
              <a:t>Raw data only</a:t>
            </a:r>
            <a:r>
              <a:rPr sz="1500" b="0" i="0">
                <a:solidFill>
                  <a:srgbClr val="2B2B2B"/>
                </a:solidFill>
                <a:latin typeface="Arial"/>
              </a:rPr>
              <a:t> — engineered features are recomputed, never stored (no contradictions)</a:t>
            </a:r>
          </a:p>
          <a:p>
            <a:pPr>
              <a:spcAft>
                <a:spcPts val="832"/>
              </a:spcAft>
            </a:pPr>
            <a:r>
              <a:rPr sz="1500" b="0" i="0">
                <a:solidFill>
                  <a:srgbClr val="2B2B2B"/>
                </a:solidFill>
                <a:latin typeface="Arial"/>
              </a:rPr>
              <a:t>•  </a:t>
            </a:r>
            <a:r>
              <a:rPr sz="1500" b="1" i="0">
                <a:solidFill>
                  <a:srgbClr val="2B2B2B"/>
                </a:solidFill>
                <a:latin typeface="Arial"/>
              </a:rPr>
              <a:t>Typed columns, not JSON</a:t>
            </a:r>
            <a:r>
              <a:rPr sz="1500" b="0" i="0">
                <a:solidFill>
                  <a:srgbClr val="2B2B2B"/>
                </a:solidFill>
                <a:latin typeface="Arial"/>
              </a:rPr>
              <a:t> — the database can reject bad values and the data stays queryable</a:t>
            </a:r>
          </a:p>
          <a:p>
            <a:pPr>
              <a:spcAft>
                <a:spcPts val="832"/>
              </a:spcAft>
            </a:pPr>
            <a:r>
              <a:rPr sz="1500" b="0" i="0">
                <a:solidFill>
                  <a:srgbClr val="2B2B2B"/>
                </a:solidFill>
                <a:latin typeface="Arial"/>
              </a:rPr>
              <a:t>•  </a:t>
            </a:r>
            <a:r>
              <a:rPr sz="1500" b="1" i="0">
                <a:solidFill>
                  <a:srgbClr val="2B2B2B"/>
                </a:solidFill>
                <a:latin typeface="Arial"/>
              </a:rPr>
              <a:t>VARCHAR + CHECK rather than PostgreSQL ENUM</a:t>
            </a:r>
            <a:r>
              <a:rPr sz="1500" b="0" i="0">
                <a:solidFill>
                  <a:srgbClr val="2B2B2B"/>
                </a:solidFill>
                <a:latin typeface="Arial"/>
              </a:rPr>
              <a:t> — same safety, far easier to evolve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Traceability in practice</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10637215" cy="411480"/>
          </a:xfrm>
          <a:prstGeom prst="rect">
            <a:avLst/>
          </a:prstGeom>
          <a:noFill/>
        </p:spPr>
        <p:txBody>
          <a:bodyPr wrap="square">
            <a:spAutoFit/>
          </a:bodyPr>
          <a:lstStyle/>
          <a:p>
            <a:r>
              <a:rPr sz="1400" b="0" i="0">
                <a:solidFill>
                  <a:srgbClr val="6B7280"/>
                </a:solidFill>
                <a:latin typeface="Arial"/>
              </a:rPr>
              <a:t>What happens to every possible outcome</a:t>
            </a:r>
          </a:p>
        </p:txBody>
      </p:sp>
      <p:sp>
        <p:nvSpPr>
          <p:cNvPr id="5" name="TextBox 4"/>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6" name="TextBox 5"/>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9</a:t>
            </a:r>
          </a:p>
        </p:txBody>
      </p:sp>
      <p:graphicFrame>
        <p:nvGraphicFramePr>
          <p:cNvPr id="7" name="Table 6"/>
          <p:cNvGraphicFramePr>
            <a:graphicFrameLocks noGrp="1"/>
          </p:cNvGraphicFramePr>
          <p:nvPr/>
        </p:nvGraphicFramePr>
        <p:xfrm>
          <a:off x="777240" y="1783080"/>
          <a:ext cx="10607040" cy="2194560"/>
        </p:xfrm>
        <a:graphic>
          <a:graphicData uri="http://schemas.openxmlformats.org/drawingml/2006/table">
            <a:tbl>
              <a:tblPr firstRow="1" bandRow="1">
                <a:tableStyleId>{5C22544A-7EE6-4342-B048-85BDC9FD1C3A}</a:tableStyleId>
              </a:tblPr>
              <a:tblGrid>
                <a:gridCol w="3657600"/>
                <a:gridCol w="1371600"/>
                <a:gridCol w="5577840"/>
              </a:tblGrid>
              <a:tr h="438912">
                <a:tc>
                  <a:txBody>
                    <a:bodyPr/>
                    <a:lstStyle/>
                    <a:p>
                      <a:r>
                        <a:rPr sz="1400" b="1" i="0">
                          <a:solidFill>
                            <a:srgbClr val="FFFFFF"/>
                          </a:solidFill>
                          <a:latin typeface="Arial"/>
                        </a:rPr>
                        <a:t>Outcome</a:t>
                      </a:r>
                    </a:p>
                  </a:txBody>
                  <a:tcPr anchor="ctr" marL="109728" marT="36576" marB="36576">
                    <a:solidFill>
                      <a:srgbClr val="1B3A5B"/>
                    </a:solidFill>
                  </a:tcPr>
                </a:tc>
                <a:tc>
                  <a:txBody>
                    <a:bodyPr/>
                    <a:lstStyle/>
                    <a:p>
                      <a:r>
                        <a:rPr sz="1400" b="1" i="0">
                          <a:solidFill>
                            <a:srgbClr val="FFFFFF"/>
                          </a:solidFill>
                          <a:latin typeface="Arial"/>
                        </a:rPr>
                        <a:t>HTTP</a:t>
                      </a:r>
                    </a:p>
                  </a:txBody>
                  <a:tcPr anchor="ctr" marL="109728" marT="36576" marB="36576">
                    <a:solidFill>
                      <a:srgbClr val="1B3A5B"/>
                    </a:solidFill>
                  </a:tcPr>
                </a:tc>
                <a:tc>
                  <a:txBody>
                    <a:bodyPr/>
                    <a:lstStyle/>
                    <a:p>
                      <a:r>
                        <a:rPr sz="1400" b="1" i="0">
                          <a:solidFill>
                            <a:srgbClr val="FFFFFF"/>
                          </a:solidFill>
                          <a:latin typeface="Arial"/>
                        </a:rPr>
                        <a:t>Stored in the database</a:t>
                      </a:r>
                    </a:p>
                  </a:txBody>
                  <a:tcPr anchor="ctr" marL="109728" marT="36576" marB="36576">
                    <a:solidFill>
                      <a:srgbClr val="1B3A5B"/>
                    </a:solidFill>
                  </a:tcPr>
                </a:tc>
              </a:tr>
              <a:tr h="438912">
                <a:tc>
                  <a:txBody>
                    <a:bodyPr/>
                    <a:lstStyle/>
                    <a:p>
                      <a:r>
                        <a:rPr sz="1400" b="0" i="0">
                          <a:solidFill>
                            <a:srgbClr val="2B2B2B"/>
                          </a:solidFill>
                          <a:latin typeface="Arial"/>
                        </a:rPr>
                        <a:t>Success</a:t>
                      </a:r>
                    </a:p>
                  </a:txBody>
                  <a:tcPr anchor="ctr" marL="109728" marT="36576" marB="36576">
                    <a:solidFill>
                      <a:srgbClr val="FFFFFF"/>
                    </a:solidFill>
                  </a:tcPr>
                </a:tc>
                <a:tc>
                  <a:txBody>
                    <a:bodyPr/>
                    <a:lstStyle/>
                    <a:p>
                      <a:r>
                        <a:rPr sz="1400" b="0" i="0">
                          <a:solidFill>
                            <a:srgbClr val="2B2B2B"/>
                          </a:solidFill>
                          <a:latin typeface="Arial"/>
                        </a:rPr>
                        <a:t>200</a:t>
                      </a:r>
                    </a:p>
                  </a:txBody>
                  <a:tcPr anchor="ctr" marL="109728" marT="36576" marB="36576">
                    <a:solidFill>
                      <a:srgbClr val="FFFFFF"/>
                    </a:solidFill>
                  </a:tcPr>
                </a:tc>
                <a:tc>
                  <a:txBody>
                    <a:bodyPr/>
                    <a:lstStyle/>
                    <a:p>
                      <a:r>
                        <a:rPr sz="1400" b="0" i="0">
                          <a:solidFill>
                            <a:srgbClr val="2B2B2B"/>
                          </a:solidFill>
                          <a:latin typeface="Arial"/>
                        </a:rPr>
                        <a:t>input + output, status = success</a:t>
                      </a:r>
                    </a:p>
                  </a:txBody>
                  <a:tcPr anchor="ctr" marL="109728" marT="36576" marB="36576">
                    <a:solidFill>
                      <a:srgbClr val="FFFFFF"/>
                    </a:solidFill>
                  </a:tcPr>
                </a:tc>
              </a:tr>
              <a:tr h="438912">
                <a:tc>
                  <a:txBody>
                    <a:bodyPr/>
                    <a:lstStyle/>
                    <a:p>
                      <a:r>
                        <a:rPr sz="1400" b="0" i="0">
                          <a:solidFill>
                            <a:srgbClr val="2B2B2B"/>
                          </a:solidFill>
                          <a:latin typeface="Arial"/>
                        </a:rPr>
                        <a:t>Invalid data</a:t>
                      </a:r>
                    </a:p>
                  </a:txBody>
                  <a:tcPr anchor="ctr" marL="109728" marT="36576" marB="36576">
                    <a:solidFill>
                      <a:srgbClr val="F1F5F7"/>
                    </a:solidFill>
                  </a:tcPr>
                </a:tc>
                <a:tc>
                  <a:txBody>
                    <a:bodyPr/>
                    <a:lstStyle/>
                    <a:p>
                      <a:r>
                        <a:rPr sz="1400" b="0" i="0">
                          <a:solidFill>
                            <a:srgbClr val="2B2B2B"/>
                          </a:solidFill>
                          <a:latin typeface="Arial"/>
                        </a:rPr>
                        <a:t>422</a:t>
                      </a:r>
                    </a:p>
                  </a:txBody>
                  <a:tcPr anchor="ctr" marL="109728" marT="36576" marB="36576">
                    <a:solidFill>
                      <a:srgbClr val="F1F5F7"/>
                    </a:solidFill>
                  </a:tcPr>
                </a:tc>
                <a:tc>
                  <a:txBody>
                    <a:bodyPr/>
                    <a:lstStyle/>
                    <a:p>
                      <a:r>
                        <a:rPr sz="1400" b="0" i="0">
                          <a:solidFill>
                            <a:srgbClr val="2B2B2B"/>
                          </a:solidFill>
                          <a:latin typeface="Arial"/>
                        </a:rPr>
                        <a:t>nothing — the model was never called</a:t>
                      </a:r>
                    </a:p>
                  </a:txBody>
                  <a:tcPr anchor="ctr" marL="109728" marT="36576" marB="36576">
                    <a:solidFill>
                      <a:srgbClr val="F1F5F7"/>
                    </a:solidFill>
                  </a:tcPr>
                </a:tc>
              </a:tr>
              <a:tr h="438912">
                <a:tc>
                  <a:txBody>
                    <a:bodyPr/>
                    <a:lstStyle/>
                    <a:p>
                      <a:r>
                        <a:rPr sz="1400" b="0" i="0">
                          <a:solidFill>
                            <a:srgbClr val="2B2B2B"/>
                          </a:solidFill>
                          <a:latin typeface="Arial"/>
                        </a:rPr>
                        <a:t>Model failure</a:t>
                      </a:r>
                    </a:p>
                  </a:txBody>
                  <a:tcPr anchor="ctr" marL="109728" marT="36576" marB="36576">
                    <a:solidFill>
                      <a:srgbClr val="FFFFFF"/>
                    </a:solidFill>
                  </a:tcPr>
                </a:tc>
                <a:tc>
                  <a:txBody>
                    <a:bodyPr/>
                    <a:lstStyle/>
                    <a:p>
                      <a:r>
                        <a:rPr sz="1400" b="0" i="0">
                          <a:solidFill>
                            <a:srgbClr val="2B2B2B"/>
                          </a:solidFill>
                          <a:latin typeface="Arial"/>
                        </a:rPr>
                        <a:t>500</a:t>
                      </a:r>
                    </a:p>
                  </a:txBody>
                  <a:tcPr anchor="ctr" marL="109728" marT="36576" marB="36576">
                    <a:solidFill>
                      <a:srgbClr val="FFFFFF"/>
                    </a:solidFill>
                  </a:tcPr>
                </a:tc>
                <a:tc>
                  <a:txBody>
                    <a:bodyPr/>
                    <a:lstStyle/>
                    <a:p>
                      <a:r>
                        <a:rPr sz="1400" b="0" i="0">
                          <a:solidFill>
                            <a:srgbClr val="2B2B2B"/>
                          </a:solidFill>
                          <a:latin typeface="Arial"/>
                        </a:rPr>
                        <a:t>input + output, status = error + message</a:t>
                      </a:r>
                    </a:p>
                  </a:txBody>
                  <a:tcPr anchor="ctr" marL="109728" marT="36576" marB="36576">
                    <a:solidFill>
                      <a:srgbClr val="FFFFFF"/>
                    </a:solidFill>
                  </a:tcPr>
                </a:tc>
              </a:tr>
              <a:tr h="438912">
                <a:tc>
                  <a:txBody>
                    <a:bodyPr/>
                    <a:lstStyle/>
                    <a:p>
                      <a:r>
                        <a:rPr sz="1400" b="0" i="0">
                          <a:solidFill>
                            <a:srgbClr val="2B2B2B"/>
                          </a:solidFill>
                          <a:latin typeface="Arial"/>
                        </a:rPr>
                        <a:t>Database unavailable</a:t>
                      </a:r>
                    </a:p>
                  </a:txBody>
                  <a:tcPr anchor="ctr" marL="109728" marT="36576" marB="36576">
                    <a:solidFill>
                      <a:srgbClr val="F1F5F7"/>
                    </a:solidFill>
                  </a:tcPr>
                </a:tc>
                <a:tc>
                  <a:txBody>
                    <a:bodyPr/>
                    <a:lstStyle/>
                    <a:p>
                      <a:r>
                        <a:rPr sz="1400" b="0" i="0">
                          <a:solidFill>
                            <a:srgbClr val="2B2B2B"/>
                          </a:solidFill>
                          <a:latin typeface="Arial"/>
                        </a:rPr>
                        <a:t>503</a:t>
                      </a:r>
                    </a:p>
                  </a:txBody>
                  <a:tcPr anchor="ctr" marL="109728" marT="36576" marB="36576">
                    <a:solidFill>
                      <a:srgbClr val="F1F5F7"/>
                    </a:solidFill>
                  </a:tcPr>
                </a:tc>
                <a:tc>
                  <a:txBody>
                    <a:bodyPr/>
                    <a:lstStyle/>
                    <a:p>
                      <a:r>
                        <a:rPr sz="1400" b="0" i="0">
                          <a:solidFill>
                            <a:srgbClr val="2B2B2B"/>
                          </a:solidFill>
                          <a:latin typeface="Arial"/>
                        </a:rPr>
                        <a:t>nothing — and no prediction is returned</a:t>
                      </a:r>
                    </a:p>
                  </a:txBody>
                  <a:tcPr anchor="ctr" marL="109728" marT="36576" marB="36576">
                    <a:solidFill>
                      <a:srgbClr val="F1F5F7"/>
                    </a:solidFill>
                  </a:tcPr>
                </a:tc>
              </a:tr>
            </a:tbl>
          </a:graphicData>
        </a:graphic>
      </p:graphicFrame>
      <p:sp>
        <p:nvSpPr>
          <p:cNvPr id="8" name="TextBox 7"/>
          <p:cNvSpPr txBox="1"/>
          <p:nvPr/>
        </p:nvSpPr>
        <p:spPr>
          <a:xfrm>
            <a:off x="777240" y="4160520"/>
            <a:ext cx="10637215" cy="1965960"/>
          </a:xfrm>
          <a:prstGeom prst="rect">
            <a:avLst/>
          </a:prstGeom>
          <a:noFill/>
        </p:spPr>
        <p:txBody>
          <a:bodyPr wrap="square">
            <a:spAutoFit/>
          </a:bodyPr>
          <a:lstStyle/>
          <a:p>
            <a:pPr>
              <a:spcAft>
                <a:spcPts val="832"/>
              </a:spcAft>
            </a:pPr>
            <a:r>
              <a:rPr sz="1500" b="0" i="0">
                <a:solidFill>
                  <a:srgbClr val="2B2B2B"/>
                </a:solidFill>
                <a:latin typeface="Arial"/>
              </a:rPr>
              <a:t>•  Input and output are written in </a:t>
            </a:r>
            <a:r>
              <a:rPr sz="1500" b="1" i="0">
                <a:solidFill>
                  <a:srgbClr val="2B2B2B"/>
                </a:solidFill>
                <a:latin typeface="Arial"/>
              </a:rPr>
              <a:t>one transaction</a:t>
            </a:r>
            <a:r>
              <a:rPr sz="1500" b="0" i="0">
                <a:solidFill>
                  <a:srgbClr val="2B2B2B"/>
                </a:solidFill>
                <a:latin typeface="Arial"/>
              </a:rPr>
              <a:t>: an input can never be orphaned</a:t>
            </a:r>
          </a:p>
          <a:p>
            <a:pPr>
              <a:spcAft>
                <a:spcPts val="832"/>
              </a:spcAft>
            </a:pPr>
            <a:r>
              <a:rPr sz="1500" b="0" i="0">
                <a:solidFill>
                  <a:srgbClr val="2B2B2B"/>
                </a:solidFill>
                <a:latin typeface="Arial"/>
              </a:rPr>
              <a:t>•  A CHECK makes “success without a probability” or “error without a message” </a:t>
            </a:r>
            <a:r>
              <a:rPr sz="1500" b="1" i="0">
                <a:solidFill>
                  <a:srgbClr val="2B2B2B"/>
                </a:solidFill>
                <a:latin typeface="Arial"/>
              </a:rPr>
              <a:t>impossible</a:t>
            </a:r>
          </a:p>
          <a:p>
            <a:pPr>
              <a:spcAft>
                <a:spcPts val="832"/>
              </a:spcAft>
            </a:pPr>
            <a:r>
              <a:rPr sz="1500" b="0" i="0">
                <a:solidFill>
                  <a:srgbClr val="2B2B2B"/>
                </a:solidFill>
                <a:latin typeface="Arial"/>
              </a:rPr>
              <a:t>•  Evidence: db/verify.sql lists each call with its probability, timestamp and model version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Loading the dataset</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10637215" cy="411480"/>
          </a:xfrm>
          <a:prstGeom prst="rect">
            <a:avLst/>
          </a:prstGeom>
          <a:noFill/>
        </p:spPr>
        <p:txBody>
          <a:bodyPr wrap="square">
            <a:spAutoFit/>
          </a:bodyPr>
          <a:lstStyle/>
          <a:p>
            <a:r>
              <a:rPr sz="1400" b="0" i="0">
                <a:solidFill>
                  <a:srgbClr val="6B7280"/>
                </a:solidFill>
                <a:latin typeface="Arial"/>
              </a:rPr>
              <a:t>Two scripts, both safe to re-run</a:t>
            </a:r>
          </a:p>
        </p:txBody>
      </p:sp>
      <p:sp>
        <p:nvSpPr>
          <p:cNvPr id="5" name="TextBox 4"/>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6" name="TextBox 5"/>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10</a:t>
            </a:r>
          </a:p>
        </p:txBody>
      </p:sp>
      <p:sp>
        <p:nvSpPr>
          <p:cNvPr id="7" name="TextBox 6"/>
          <p:cNvSpPr txBox="1"/>
          <p:nvPr/>
        </p:nvSpPr>
        <p:spPr>
          <a:xfrm>
            <a:off x="777240" y="1783080"/>
            <a:ext cx="10637215" cy="4343400"/>
          </a:xfrm>
          <a:prstGeom prst="rect">
            <a:avLst/>
          </a:prstGeom>
          <a:noFill/>
        </p:spPr>
        <p:txBody>
          <a:bodyPr wrap="square">
            <a:spAutoFit/>
          </a:bodyPr>
          <a:lstStyle/>
          <a:p>
            <a:pPr>
              <a:spcAft>
                <a:spcPts val="832"/>
              </a:spcAft>
            </a:pPr>
            <a:r>
              <a:rPr sz="1600" b="0" i="0">
                <a:solidFill>
                  <a:srgbClr val="2B2B2B"/>
                </a:solidFill>
                <a:latin typeface="Arial"/>
              </a:rPr>
              <a:t>•  </a:t>
            </a:r>
            <a:r>
              <a:rPr sz="1600" b="1" i="0">
                <a:solidFill>
                  <a:srgbClr val="2B2B2B"/>
                </a:solidFill>
                <a:latin typeface="Arial"/>
              </a:rPr>
              <a:t>db/create_db.py</a:t>
            </a:r>
            <a:r>
              <a:rPr sz="1600" b="0" i="0">
                <a:solidFill>
                  <a:srgbClr val="2B2B2B"/>
                </a:solidFill>
                <a:latin typeface="Arial"/>
              </a:rPr>
              <a:t> — creates the database, the 6 tables, and registers the model version</a:t>
            </a:r>
          </a:p>
          <a:p>
            <a:pPr>
              <a:spcAft>
                <a:spcPts val="832"/>
              </a:spcAft>
            </a:pPr>
            <a:r>
              <a:rPr sz="1600" b="0" i="0">
                <a:solidFill>
                  <a:srgbClr val="2B2B2B"/>
                </a:solidFill>
                <a:latin typeface="Arial"/>
              </a:rPr>
              <a:t>•  </a:t>
            </a:r>
            <a:r>
              <a:rPr sz="1600" b="1" i="0">
                <a:solidFill>
                  <a:srgbClr val="2B2B2B"/>
                </a:solidFill>
                <a:latin typeface="Arial"/>
              </a:rPr>
              <a:t>db/import_csv.py</a:t>
            </a:r>
            <a:r>
              <a:rPr sz="1600" b="0" i="0">
                <a:solidFill>
                  <a:srgbClr val="2B2B2B"/>
                </a:solidFill>
                <a:latin typeface="Arial"/>
              </a:rPr>
              <a:t> — loads the 3 HR source files: 1 470 rows in each table</a:t>
            </a:r>
          </a:p>
        </p:txBody>
      </p:sp>
      <p:graphicFrame>
        <p:nvGraphicFramePr>
          <p:cNvPr id="8" name="Table 7"/>
          <p:cNvGraphicFramePr>
            <a:graphicFrameLocks noGrp="1"/>
          </p:cNvGraphicFramePr>
          <p:nvPr/>
        </p:nvGraphicFramePr>
        <p:xfrm>
          <a:off x="777240" y="2880360"/>
          <a:ext cx="10607040" cy="2057400"/>
        </p:xfrm>
        <a:graphic>
          <a:graphicData uri="http://schemas.openxmlformats.org/drawingml/2006/table">
            <a:tbl>
              <a:tblPr firstRow="1" bandRow="1">
                <a:tableStyleId>{5C22544A-7EE6-4342-B048-85BDC9FD1C3A}</a:tableStyleId>
              </a:tblPr>
              <a:tblGrid>
                <a:gridCol w="3017520"/>
                <a:gridCol w="3931920"/>
                <a:gridCol w="3657600"/>
              </a:tblGrid>
              <a:tr h="411480">
                <a:tc>
                  <a:txBody>
                    <a:bodyPr/>
                    <a:lstStyle/>
                    <a:p>
                      <a:r>
                        <a:rPr sz="1300" b="1" i="0">
                          <a:solidFill>
                            <a:srgbClr val="FFFFFF"/>
                          </a:solidFill>
                          <a:latin typeface="Arial"/>
                        </a:rPr>
                        <a:t>Source file</a:t>
                      </a:r>
                    </a:p>
                  </a:txBody>
                  <a:tcPr anchor="ctr" marL="109728" marT="36576" marB="36576">
                    <a:solidFill>
                      <a:srgbClr val="1B3A5B"/>
                    </a:solidFill>
                  </a:tcPr>
                </a:tc>
                <a:tc>
                  <a:txBody>
                    <a:bodyPr/>
                    <a:lstStyle/>
                    <a:p>
                      <a:r>
                        <a:rPr sz="1300" b="1" i="0">
                          <a:solidFill>
                            <a:srgbClr val="FFFFFF"/>
                          </a:solidFill>
                          <a:latin typeface="Arial"/>
                        </a:rPr>
                        <a:t>Conversion applied</a:t>
                      </a:r>
                    </a:p>
                  </a:txBody>
                  <a:tcPr anchor="ctr" marL="109728" marT="36576" marB="36576">
                    <a:solidFill>
                      <a:srgbClr val="1B3A5B"/>
                    </a:solidFill>
                  </a:tcPr>
                </a:tc>
                <a:tc>
                  <a:txBody>
                    <a:bodyPr/>
                    <a:lstStyle/>
                    <a:p>
                      <a:r>
                        <a:rPr sz="1300" b="1" i="0">
                          <a:solidFill>
                            <a:srgbClr val="FFFFFF"/>
                          </a:solidFill>
                          <a:latin typeface="Arial"/>
                        </a:rPr>
                        <a:t>Why</a:t>
                      </a:r>
                    </a:p>
                  </a:txBody>
                  <a:tcPr anchor="ctr" marL="109728" marT="36576" marB="36576">
                    <a:solidFill>
                      <a:srgbClr val="1B3A5B"/>
                    </a:solidFill>
                  </a:tcPr>
                </a:tc>
              </a:tr>
              <a:tr h="411480">
                <a:tc>
                  <a:txBody>
                    <a:bodyPr/>
                    <a:lstStyle/>
                    <a:p>
                      <a:r>
                        <a:rPr sz="1300" b="0" i="0">
                          <a:solidFill>
                            <a:srgbClr val="2B2B2B"/>
                          </a:solidFill>
                          <a:latin typeface="Arial"/>
                        </a:rPr>
                        <a:t>extrait_eval.csv</a:t>
                      </a:r>
                    </a:p>
                  </a:txBody>
                  <a:tcPr anchor="ctr" marL="109728" marT="36576" marB="36576">
                    <a:solidFill>
                      <a:srgbClr val="FFFFFF"/>
                    </a:solidFill>
                  </a:tcPr>
                </a:tc>
                <a:tc>
                  <a:txBody>
                    <a:bodyPr/>
                    <a:lstStyle/>
                    <a:p>
                      <a:r>
                        <a:rPr sz="1300" b="0" i="0">
                          <a:solidFill>
                            <a:srgbClr val="2B2B2B"/>
                          </a:solidFill>
                          <a:latin typeface="Arial"/>
                        </a:rPr>
                        <a:t>eval_number “E_123” → 123</a:t>
                      </a:r>
                    </a:p>
                  </a:txBody>
                  <a:tcPr anchor="ctr" marL="109728" marT="36576" marB="36576">
                    <a:solidFill>
                      <a:srgbClr val="FFFFFF"/>
                    </a:solidFill>
                  </a:tcPr>
                </a:tc>
                <a:tc>
                  <a:txBody>
                    <a:bodyPr/>
                    <a:lstStyle/>
                    <a:p>
                      <a:r>
                        <a:rPr sz="1300" b="0" i="0">
                          <a:solidFill>
                            <a:srgbClr val="2B2B2B"/>
                          </a:solidFill>
                          <a:latin typeface="Arial"/>
                        </a:rPr>
                        <a:t>one integer key across the 3 files</a:t>
                      </a:r>
                    </a:p>
                  </a:txBody>
                  <a:tcPr anchor="ctr" marL="109728" marT="36576" marB="36576">
                    <a:solidFill>
                      <a:srgbClr val="FFFFFF"/>
                    </a:solidFill>
                  </a:tcPr>
                </a:tc>
              </a:tr>
              <a:tr h="411480">
                <a:tc>
                  <a:txBody>
                    <a:bodyPr/>
                    <a:lstStyle/>
                    <a:p>
                      <a:r>
                        <a:rPr sz="1300" b="0" i="0">
                          <a:solidFill>
                            <a:srgbClr val="2B2B2B"/>
                          </a:solidFill>
                          <a:latin typeface="Arial"/>
                        </a:rPr>
                        <a:t>extrait_sondage.csv</a:t>
                      </a:r>
                    </a:p>
                  </a:txBody>
                  <a:tcPr anchor="ctr" marL="109728" marT="36576" marB="36576">
                    <a:solidFill>
                      <a:srgbClr val="F1F5F7"/>
                    </a:solidFill>
                  </a:tcPr>
                </a:tc>
                <a:tc>
                  <a:txBody>
                    <a:bodyPr/>
                    <a:lstStyle/>
                    <a:p>
                      <a:r>
                        <a:rPr sz="1300" b="0" i="0">
                          <a:solidFill>
                            <a:srgbClr val="2B2B2B"/>
                          </a:solidFill>
                          <a:latin typeface="Arial"/>
                        </a:rPr>
                        <a:t>code_sondage → id_employee</a:t>
                      </a:r>
                    </a:p>
                  </a:txBody>
                  <a:tcPr anchor="ctr" marL="109728" marT="36576" marB="36576">
                    <a:solidFill>
                      <a:srgbClr val="F1F5F7"/>
                    </a:solidFill>
                  </a:tcPr>
                </a:tc>
                <a:tc>
                  <a:txBody>
                    <a:bodyPr/>
                    <a:lstStyle/>
                    <a:p>
                      <a:r>
                        <a:rPr sz="1300" b="0" i="0">
                          <a:solidFill>
                            <a:srgbClr val="2B2B2B"/>
                          </a:solidFill>
                          <a:latin typeface="Arial"/>
                        </a:rPr>
                        <a:t>same key everywhere</a:t>
                      </a:r>
                    </a:p>
                  </a:txBody>
                  <a:tcPr anchor="ctr" marL="109728" marT="36576" marB="36576">
                    <a:solidFill>
                      <a:srgbClr val="F1F5F7"/>
                    </a:solidFill>
                  </a:tcPr>
                </a:tc>
              </a:tr>
              <a:tr h="411480">
                <a:tc>
                  <a:txBody>
                    <a:bodyPr/>
                    <a:lstStyle/>
                    <a:p>
                      <a:r>
                        <a:rPr sz="1300" b="0" i="0">
                          <a:solidFill>
                            <a:srgbClr val="2B2B2B"/>
                          </a:solidFill>
                          <a:latin typeface="Arial"/>
                        </a:rPr>
                        <a:t>extrait_eval.csv</a:t>
                      </a:r>
                    </a:p>
                  </a:txBody>
                  <a:tcPr anchor="ctr" marL="109728" marT="36576" marB="36576">
                    <a:solidFill>
                      <a:srgbClr val="FFFFFF"/>
                    </a:solidFill>
                  </a:tcPr>
                </a:tc>
                <a:tc>
                  <a:txBody>
                    <a:bodyPr/>
                    <a:lstStyle/>
                    <a:p>
                      <a:r>
                        <a:rPr sz="1300" b="0" i="0">
                          <a:solidFill>
                            <a:srgbClr val="2B2B2B"/>
                          </a:solidFill>
                          <a:latin typeface="Arial"/>
                        </a:rPr>
                        <a:t>“11 %” → 11.0</a:t>
                      </a:r>
                    </a:p>
                  </a:txBody>
                  <a:tcPr anchor="ctr" marL="109728" marT="36576" marB="36576">
                    <a:solidFill>
                      <a:srgbClr val="FFFFFF"/>
                    </a:solidFill>
                  </a:tcPr>
                </a:tc>
                <a:tc>
                  <a:txBody>
                    <a:bodyPr/>
                    <a:lstStyle/>
                    <a:p>
                      <a:r>
                        <a:rPr sz="1300" b="0" i="0">
                          <a:solidFill>
                            <a:srgbClr val="2B2B2B"/>
                          </a:solidFill>
                          <a:latin typeface="Arial"/>
                        </a:rPr>
                        <a:t>a number can be computed with</a:t>
                      </a:r>
                    </a:p>
                  </a:txBody>
                  <a:tcPr anchor="ctr" marL="109728" marT="36576" marB="36576">
                    <a:solidFill>
                      <a:srgbClr val="FFFFFF"/>
                    </a:solidFill>
                  </a:tcPr>
                </a:tc>
              </a:tr>
              <a:tr h="411480">
                <a:tc>
                  <a:txBody>
                    <a:bodyPr/>
                    <a:lstStyle/>
                    <a:p>
                      <a:r>
                        <a:rPr sz="1300" b="0" i="0">
                          <a:solidFill>
                            <a:srgbClr val="2B2B2B"/>
                          </a:solidFill>
                          <a:latin typeface="Arial"/>
                        </a:rPr>
                        <a:t>extrait_sondage.csv</a:t>
                      </a:r>
                    </a:p>
                  </a:txBody>
                  <a:tcPr anchor="ctr" marL="109728" marT="36576" marB="36576">
                    <a:solidFill>
                      <a:srgbClr val="F1F5F7"/>
                    </a:solidFill>
                  </a:tcPr>
                </a:tc>
                <a:tc>
                  <a:txBody>
                    <a:bodyPr/>
                    <a:lstStyle/>
                    <a:p>
                      <a:r>
                        <a:rPr sz="1300" b="0" i="0">
                          <a:solidFill>
                            <a:srgbClr val="2B2B2B"/>
                          </a:solidFill>
                          <a:latin typeface="Arial"/>
                        </a:rPr>
                        <a:t>“Oui” / “Non” → true / false</a:t>
                      </a:r>
                    </a:p>
                  </a:txBody>
                  <a:tcPr anchor="ctr" marL="109728" marT="36576" marB="36576">
                    <a:solidFill>
                      <a:srgbClr val="F1F5F7"/>
                    </a:solidFill>
                  </a:tcPr>
                </a:tc>
                <a:tc>
                  <a:txBody>
                    <a:bodyPr/>
                    <a:lstStyle/>
                    <a:p>
                      <a:r>
                        <a:rPr sz="1300" b="0" i="0">
                          <a:solidFill>
                            <a:srgbClr val="2B2B2B"/>
                          </a:solidFill>
                          <a:latin typeface="Arial"/>
                        </a:rPr>
                        <a:t>the target as a boolean</a:t>
                      </a:r>
                    </a:p>
                  </a:txBody>
                  <a:tcPr anchor="ctr" marL="109728" marT="36576" marB="36576">
                    <a:solidFill>
                      <a:srgbClr val="F1F5F7"/>
                    </a:solidFill>
                  </a:tcPr>
                </a:tc>
              </a:tr>
            </a:tbl>
          </a:graphicData>
        </a:graphic>
      </p:graphicFrame>
      <p:sp>
        <p:nvSpPr>
          <p:cNvPr id="9" name="TextBox 8"/>
          <p:cNvSpPr txBox="1"/>
          <p:nvPr/>
        </p:nvSpPr>
        <p:spPr>
          <a:xfrm>
            <a:off x="777240" y="5074920"/>
            <a:ext cx="10637215" cy="1051560"/>
          </a:xfrm>
          <a:prstGeom prst="rect">
            <a:avLst/>
          </a:prstGeom>
          <a:noFill/>
        </p:spPr>
        <p:txBody>
          <a:bodyPr wrap="square">
            <a:spAutoFit/>
          </a:bodyPr>
          <a:lstStyle/>
          <a:p>
            <a:pPr>
              <a:spcAft>
                <a:spcPts val="832"/>
              </a:spcAft>
            </a:pPr>
            <a:r>
              <a:rPr sz="1400" b="0" i="0">
                <a:solidFill>
                  <a:srgbClr val="2B2B2B"/>
                </a:solidFill>
                <a:latin typeface="Arial"/>
              </a:rPr>
              <a:t>•  The import </a:t>
            </a:r>
            <a:r>
              <a:rPr sz="1400" b="1" i="0">
                <a:solidFill>
                  <a:srgbClr val="2B2B2B"/>
                </a:solidFill>
                <a:latin typeface="Arial"/>
              </a:rPr>
              <a:t>verifies the 3 files describe the same employees</a:t>
            </a:r>
            <a:r>
              <a:rPr sz="1400" b="0" i="0">
                <a:solidFill>
                  <a:srgbClr val="2B2B2B"/>
                </a:solidFill>
                <a:latin typeface="Arial"/>
              </a:rPr>
              <a:t> — a misaligned id would pair one person's data with another's outcome, silently</a:t>
            </a:r>
          </a:p>
          <a:p>
            <a:pPr>
              <a:spcAft>
                <a:spcPts val="832"/>
              </a:spcAft>
            </a:pPr>
            <a:r>
              <a:rPr sz="1400" b="0" i="0">
                <a:solidFill>
                  <a:srgbClr val="2B2B2B"/>
                </a:solidFill>
                <a:latin typeface="Arial"/>
              </a:rPr>
              <a:t>•  One single transaction: </a:t>
            </a:r>
            <a:r>
              <a:rPr sz="1400" b="1" i="0">
                <a:solidFill>
                  <a:srgbClr val="2B2B2B"/>
                </a:solidFill>
                <a:latin typeface="Arial"/>
              </a:rPr>
              <a:t>all 1 470 rows or none</a:t>
            </a:r>
            <a:r>
              <a:rPr sz="1400" b="0" i="0">
                <a:solidFill>
                  <a:srgbClr val="2B2B2B"/>
                </a:solidFill>
                <a:latin typeface="Arial"/>
              </a:rPr>
              <a:t> — never a half-loaded, biased dataset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Testing strategy</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10637215" cy="411480"/>
          </a:xfrm>
          <a:prstGeom prst="rect">
            <a:avLst/>
          </a:prstGeom>
          <a:noFill/>
        </p:spPr>
        <p:txBody>
          <a:bodyPr wrap="square">
            <a:spAutoFit/>
          </a:bodyPr>
          <a:lstStyle/>
          <a:p>
            <a:r>
              <a:rPr sz="1400" b="0" i="0">
                <a:solidFill>
                  <a:srgbClr val="6B7280"/>
                </a:solidFill>
                <a:latin typeface="Arial"/>
              </a:rPr>
              <a:t>65 tests · 86% coverage · no PostgreSQL required</a:t>
            </a:r>
          </a:p>
        </p:txBody>
      </p:sp>
      <p:sp>
        <p:nvSpPr>
          <p:cNvPr id="5" name="TextBox 4"/>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6" name="TextBox 5"/>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11</a:t>
            </a:r>
          </a:p>
        </p:txBody>
      </p:sp>
      <p:graphicFrame>
        <p:nvGraphicFramePr>
          <p:cNvPr id="7" name="Table 6"/>
          <p:cNvGraphicFramePr>
            <a:graphicFrameLocks noGrp="1"/>
          </p:cNvGraphicFramePr>
          <p:nvPr/>
        </p:nvGraphicFramePr>
        <p:xfrm>
          <a:off x="777240" y="1783080"/>
          <a:ext cx="11064240" cy="2011680"/>
        </p:xfrm>
        <a:graphic>
          <a:graphicData uri="http://schemas.openxmlformats.org/drawingml/2006/table">
            <a:tbl>
              <a:tblPr firstRow="1" bandRow="1">
                <a:tableStyleId>{5C22544A-7EE6-4342-B048-85BDC9FD1C3A}</a:tableStyleId>
              </a:tblPr>
              <a:tblGrid>
                <a:gridCol w="2743200"/>
                <a:gridCol w="4206240"/>
                <a:gridCol w="1005840"/>
                <a:gridCol w="3108960"/>
              </a:tblGrid>
              <a:tr h="502920">
                <a:tc>
                  <a:txBody>
                    <a:bodyPr/>
                    <a:lstStyle/>
                    <a:p>
                      <a:r>
                        <a:rPr sz="1300" b="1" i="0">
                          <a:solidFill>
                            <a:srgbClr val="FFFFFF"/>
                          </a:solidFill>
                          <a:latin typeface="Arial"/>
                        </a:rPr>
                        <a:t>Level</a:t>
                      </a:r>
                    </a:p>
                  </a:txBody>
                  <a:tcPr anchor="ctr" marL="109728" marT="36576" marB="36576">
                    <a:solidFill>
                      <a:srgbClr val="1B3A5B"/>
                    </a:solidFill>
                  </a:tcPr>
                </a:tc>
                <a:tc>
                  <a:txBody>
                    <a:bodyPr/>
                    <a:lstStyle/>
                    <a:p>
                      <a:r>
                        <a:rPr sz="1300" b="1" i="0">
                          <a:solidFill>
                            <a:srgbClr val="FFFFFF"/>
                          </a:solidFill>
                          <a:latin typeface="Arial"/>
                        </a:rPr>
                        <a:t>Files</a:t>
                      </a:r>
                    </a:p>
                  </a:txBody>
                  <a:tcPr anchor="ctr" marL="109728" marT="36576" marB="36576">
                    <a:solidFill>
                      <a:srgbClr val="1B3A5B"/>
                    </a:solidFill>
                  </a:tcPr>
                </a:tc>
                <a:tc>
                  <a:txBody>
                    <a:bodyPr/>
                    <a:lstStyle/>
                    <a:p>
                      <a:r>
                        <a:rPr sz="1300" b="1" i="0">
                          <a:solidFill>
                            <a:srgbClr val="FFFFFF"/>
                          </a:solidFill>
                          <a:latin typeface="Arial"/>
                        </a:rPr>
                        <a:t>Tests</a:t>
                      </a:r>
                    </a:p>
                  </a:txBody>
                  <a:tcPr anchor="ctr" marL="109728" marT="36576" marB="36576">
                    <a:solidFill>
                      <a:srgbClr val="1B3A5B"/>
                    </a:solidFill>
                  </a:tcPr>
                </a:tc>
                <a:tc>
                  <a:txBody>
                    <a:bodyPr/>
                    <a:lstStyle/>
                    <a:p>
                      <a:r>
                        <a:rPr sz="1300" b="1" i="0">
                          <a:solidFill>
                            <a:srgbClr val="FFFFFF"/>
                          </a:solidFill>
                          <a:latin typeface="Arial"/>
                        </a:rPr>
                        <a:t>What it proves</a:t>
                      </a:r>
                    </a:p>
                  </a:txBody>
                  <a:tcPr anchor="ctr" marL="109728" marT="36576" marB="36576">
                    <a:solidFill>
                      <a:srgbClr val="1B3A5B"/>
                    </a:solidFill>
                  </a:tcPr>
                </a:tc>
              </a:tr>
              <a:tr h="502920">
                <a:tc>
                  <a:txBody>
                    <a:bodyPr/>
                    <a:lstStyle/>
                    <a:p>
                      <a:r>
                        <a:rPr sz="1300" b="0" i="0">
                          <a:solidFill>
                            <a:srgbClr val="2B2B2B"/>
                          </a:solidFill>
                          <a:latin typeface="Arial"/>
                        </a:rPr>
                        <a:t>Unit — model side</a:t>
                      </a:r>
                    </a:p>
                  </a:txBody>
                  <a:tcPr anchor="ctr" marL="109728" marT="36576" marB="36576">
                    <a:solidFill>
                      <a:srgbClr val="FFFFFF"/>
                    </a:solidFill>
                  </a:tcPr>
                </a:tc>
                <a:tc>
                  <a:txBody>
                    <a:bodyPr/>
                    <a:lstStyle/>
                    <a:p>
                      <a:r>
                        <a:rPr sz="1300" b="0" i="0">
                          <a:solidFill>
                            <a:srgbClr val="2B2B2B"/>
                          </a:solidFill>
                          <a:latin typeface="Arial"/>
                        </a:rPr>
                        <a:t>test_schemas · test_features · test_pred</a:t>
                      </a:r>
                    </a:p>
                  </a:txBody>
                  <a:tcPr anchor="ctr" marL="109728" marT="36576" marB="36576">
                    <a:solidFill>
                      <a:srgbClr val="FFFFFF"/>
                    </a:solidFill>
                  </a:tcPr>
                </a:tc>
                <a:tc>
                  <a:txBody>
                    <a:bodyPr/>
                    <a:lstStyle/>
                    <a:p>
                      <a:r>
                        <a:rPr sz="1300" b="0" i="0">
                          <a:solidFill>
                            <a:srgbClr val="2B2B2B"/>
                          </a:solidFill>
                          <a:latin typeface="Arial"/>
                        </a:rPr>
                        <a:t>16</a:t>
                      </a:r>
                    </a:p>
                  </a:txBody>
                  <a:tcPr anchor="ctr" marL="109728" marT="36576" marB="36576">
                    <a:solidFill>
                      <a:srgbClr val="FFFFFF"/>
                    </a:solidFill>
                  </a:tcPr>
                </a:tc>
                <a:tc>
                  <a:txBody>
                    <a:bodyPr/>
                    <a:lstStyle/>
                    <a:p>
                      <a:r>
                        <a:rPr sz="1300" b="0" i="0">
                          <a:solidFill>
                            <a:srgbClr val="2B2B2B"/>
                          </a:solidFill>
                          <a:latin typeface="Arial"/>
                        </a:rPr>
                        <a:t>validation, formulas, threshold</a:t>
                      </a:r>
                    </a:p>
                  </a:txBody>
                  <a:tcPr anchor="ctr" marL="109728" marT="36576" marB="36576">
                    <a:solidFill>
                      <a:srgbClr val="FFFFFF"/>
                    </a:solidFill>
                  </a:tcPr>
                </a:tc>
              </a:tr>
              <a:tr h="502920">
                <a:tc>
                  <a:txBody>
                    <a:bodyPr/>
                    <a:lstStyle/>
                    <a:p>
                      <a:r>
                        <a:rPr sz="1300" b="0" i="0">
                          <a:solidFill>
                            <a:srgbClr val="2B2B2B"/>
                          </a:solidFill>
                          <a:latin typeface="Arial"/>
                        </a:rPr>
                        <a:t>Unit — database side</a:t>
                      </a:r>
                    </a:p>
                  </a:txBody>
                  <a:tcPr anchor="ctr" marL="109728" marT="36576" marB="36576">
                    <a:solidFill>
                      <a:srgbClr val="F1F5F7"/>
                    </a:solidFill>
                  </a:tcPr>
                </a:tc>
                <a:tc>
                  <a:txBody>
                    <a:bodyPr/>
                    <a:lstStyle/>
                    <a:p>
                      <a:r>
                        <a:rPr sz="1300" b="0" i="0">
                          <a:solidFill>
                            <a:srgbClr val="2B2B2B"/>
                          </a:solidFill>
                          <a:latin typeface="Arial"/>
                        </a:rPr>
                        <a:t>test_db_models · test_create_db · test_import_csv</a:t>
                      </a:r>
                    </a:p>
                  </a:txBody>
                  <a:tcPr anchor="ctr" marL="109728" marT="36576" marB="36576">
                    <a:solidFill>
                      <a:srgbClr val="F1F5F7"/>
                    </a:solidFill>
                  </a:tcPr>
                </a:tc>
                <a:tc>
                  <a:txBody>
                    <a:bodyPr/>
                    <a:lstStyle/>
                    <a:p>
                      <a:r>
                        <a:rPr sz="1300" b="0" i="0">
                          <a:solidFill>
                            <a:srgbClr val="2B2B2B"/>
                          </a:solidFill>
                          <a:latin typeface="Arial"/>
                        </a:rPr>
                        <a:t>18</a:t>
                      </a:r>
                    </a:p>
                  </a:txBody>
                  <a:tcPr anchor="ctr" marL="109728" marT="36576" marB="36576">
                    <a:solidFill>
                      <a:srgbClr val="F1F5F7"/>
                    </a:solidFill>
                  </a:tcPr>
                </a:tc>
                <a:tc>
                  <a:txBody>
                    <a:bodyPr/>
                    <a:lstStyle/>
                    <a:p>
                      <a:r>
                        <a:rPr sz="1300" b="0" i="0">
                          <a:solidFill>
                            <a:srgbClr val="2B2B2B"/>
                          </a:solidFill>
                          <a:latin typeface="Arial"/>
                        </a:rPr>
                        <a:t>constraints, creation, import</a:t>
                      </a:r>
                    </a:p>
                  </a:txBody>
                  <a:tcPr anchor="ctr" marL="109728" marT="36576" marB="36576">
                    <a:solidFill>
                      <a:srgbClr val="F1F5F7"/>
                    </a:solidFill>
                  </a:tcPr>
                </a:tc>
              </a:tr>
              <a:tr h="502920">
                <a:tc>
                  <a:txBody>
                    <a:bodyPr/>
                    <a:lstStyle/>
                    <a:p>
                      <a:r>
                        <a:rPr sz="1300" b="0" i="0">
                          <a:solidFill>
                            <a:srgbClr val="2B2B2B"/>
                          </a:solidFill>
                          <a:latin typeface="Arial"/>
                        </a:rPr>
                        <a:t>Functional — API</a:t>
                      </a:r>
                    </a:p>
                  </a:txBody>
                  <a:tcPr anchor="ctr" marL="109728" marT="36576" marB="36576">
                    <a:solidFill>
                      <a:srgbClr val="FFFFFF"/>
                    </a:solidFill>
                  </a:tcPr>
                </a:tc>
                <a:tc>
                  <a:txBody>
                    <a:bodyPr/>
                    <a:lstStyle/>
                    <a:p>
                      <a:r>
                        <a:rPr sz="1300" b="0" i="0">
                          <a:solidFill>
                            <a:srgbClr val="2B2B2B"/>
                          </a:solidFill>
                          <a:latin typeface="Arial"/>
                        </a:rPr>
                        <a:t>test_api</a:t>
                      </a:r>
                    </a:p>
                  </a:txBody>
                  <a:tcPr anchor="ctr" marL="109728" marT="36576" marB="36576">
                    <a:solidFill>
                      <a:srgbClr val="FFFFFF"/>
                    </a:solidFill>
                  </a:tcPr>
                </a:tc>
                <a:tc>
                  <a:txBody>
                    <a:bodyPr/>
                    <a:lstStyle/>
                    <a:p>
                      <a:r>
                        <a:rPr sz="1300" b="0" i="0">
                          <a:solidFill>
                            <a:srgbClr val="2B2B2B"/>
                          </a:solidFill>
                          <a:latin typeface="Arial"/>
                        </a:rPr>
                        <a:t>11</a:t>
                      </a:r>
                    </a:p>
                  </a:txBody>
                  <a:tcPr anchor="ctr" marL="109728" marT="36576" marB="36576">
                    <a:solidFill>
                      <a:srgbClr val="FFFFFF"/>
                    </a:solidFill>
                  </a:tcPr>
                </a:tc>
                <a:tc>
                  <a:txBody>
                    <a:bodyPr/>
                    <a:lstStyle/>
                    <a:p>
                      <a:r>
                        <a:rPr sz="1300" b="0" i="0">
                          <a:solidFill>
                            <a:srgbClr val="2B2B2B"/>
                          </a:solidFill>
                          <a:latin typeface="Arial"/>
                        </a:rPr>
                        <a:t>routes + traceability + failures</a:t>
                      </a:r>
                    </a:p>
                  </a:txBody>
                  <a:tcPr anchor="ctr" marL="109728" marT="36576" marB="36576">
                    <a:solidFill>
                      <a:srgbClr val="FFFFFF"/>
                    </a:solidFill>
                  </a:tcPr>
                </a:tc>
              </a:tr>
            </a:tbl>
          </a:graphicData>
        </a:graphic>
      </p:graphicFrame>
      <p:sp>
        <p:nvSpPr>
          <p:cNvPr id="8" name="TextBox 7"/>
          <p:cNvSpPr txBox="1"/>
          <p:nvPr/>
        </p:nvSpPr>
        <p:spPr>
          <a:xfrm>
            <a:off x="777240" y="3886200"/>
            <a:ext cx="10637215" cy="2240280"/>
          </a:xfrm>
          <a:prstGeom prst="rect">
            <a:avLst/>
          </a:prstGeom>
          <a:noFill/>
        </p:spPr>
        <p:txBody>
          <a:bodyPr wrap="square">
            <a:spAutoFit/>
          </a:bodyPr>
          <a:lstStyle/>
          <a:p>
            <a:pPr>
              <a:spcAft>
                <a:spcPts val="832"/>
              </a:spcAft>
            </a:pPr>
            <a:r>
              <a:rPr sz="1500" b="0" i="0">
                <a:solidFill>
                  <a:srgbClr val="2B2B2B"/>
                </a:solidFill>
                <a:latin typeface="Arial"/>
              </a:rPr>
              <a:t>•  Tests run against an </a:t>
            </a:r>
            <a:r>
              <a:rPr sz="1500" b="1" i="0">
                <a:solidFill>
                  <a:srgbClr val="2B2B2B"/>
                </a:solidFill>
                <a:latin typeface="Arial"/>
              </a:rPr>
              <a:t>in-memory SQLite</a:t>
            </a:r>
            <a:r>
              <a:rPr sz="1500" b="0" i="0">
                <a:solidFill>
                  <a:srgbClr val="2B2B2B"/>
                </a:solidFill>
                <a:latin typeface="Arial"/>
              </a:rPr>
              <a:t> database, created and destroyed per test</a:t>
            </a:r>
          </a:p>
          <a:p>
            <a:pPr lvl="1">
              <a:spcAft>
                <a:spcPts val="832"/>
              </a:spcAft>
            </a:pPr>
            <a:r>
              <a:rPr sz="1300" b="0" i="0">
                <a:solidFill>
                  <a:srgbClr val="6B7280"/>
                </a:solidFill>
                <a:latin typeface="Arial"/>
              </a:rPr>
              <a:t>     –  FastAPI's dependency_overrides swaps the real session for the test one</a:t>
            </a:r>
          </a:p>
          <a:p>
            <a:pPr>
              <a:spcAft>
                <a:spcPts val="832"/>
              </a:spcAft>
            </a:pPr>
            <a:r>
              <a:rPr sz="1500" b="0" i="0">
                <a:solidFill>
                  <a:srgbClr val="2B2B2B"/>
                </a:solidFill>
                <a:latin typeface="Arial"/>
              </a:rPr>
              <a:t>•  So the suite runs in </a:t>
            </a:r>
            <a:r>
              <a:rPr sz="1500" b="1" i="0">
                <a:solidFill>
                  <a:srgbClr val="2B2B2B"/>
                </a:solidFill>
                <a:latin typeface="Arial"/>
              </a:rPr>
              <a:t>GitHub Actions</a:t>
            </a:r>
            <a:r>
              <a:rPr sz="1500" b="0" i="0">
                <a:solidFill>
                  <a:srgbClr val="2B2B2B"/>
                </a:solidFill>
                <a:latin typeface="Arial"/>
              </a:rPr>
              <a:t> with no database server, and never touches real data</a:t>
            </a:r>
          </a:p>
          <a:p>
            <a:pPr>
              <a:spcAft>
                <a:spcPts val="832"/>
              </a:spcAft>
            </a:pPr>
            <a:r>
              <a:rPr sz="1500" b="0" i="0">
                <a:solidFill>
                  <a:srgbClr val="2B2B2B"/>
                </a:solidFill>
                <a:latin typeface="Arial"/>
              </a:rPr>
              <a:t>•  </a:t>
            </a:r>
            <a:r>
              <a:rPr sz="1500" b="1" i="0">
                <a:solidFill>
                  <a:srgbClr val="2B2B2B"/>
                </a:solidFill>
                <a:latin typeface="Arial"/>
              </a:rPr>
              <a:t>Known limit:</a:t>
            </a:r>
            <a:r>
              <a:rPr sz="1500" b="0" i="0">
                <a:solidFill>
                  <a:srgbClr val="2B2B2B"/>
                </a:solidFill>
                <a:latin typeface="Arial"/>
              </a:rPr>
              <a:t> SQLite is not PostgreSQL — the real schema is verified separately with db/verify.sql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Continuous integration and delivery</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5" name="TextBox 4"/>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12</a:t>
            </a:r>
          </a:p>
        </p:txBody>
      </p:sp>
      <p:sp>
        <p:nvSpPr>
          <p:cNvPr id="6" name="Rounded Rectangle 5"/>
          <p:cNvSpPr/>
          <p:nvPr/>
        </p:nvSpPr>
        <p:spPr>
          <a:xfrm>
            <a:off x="777240" y="1417320"/>
            <a:ext cx="3108960" cy="1005840"/>
          </a:xfrm>
          <a:prstGeom prst="round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2B2B2B"/>
                </a:solidFill>
                <a:latin typeface="Arial"/>
              </a:rPr>
              <a:t>build_job</a:t>
            </a:r>
            <a:r>
              <a:rPr sz="1300" b="0" i="0">
                <a:solidFill>
                  <a:srgbClr val="2B2B2B"/>
                </a:solidFill>
                <a:latin typeface="Arial"/>
              </a:rPr>
              <a:t>
install dependencies
Python 3.11</a:t>
            </a:r>
          </a:p>
        </p:txBody>
      </p:sp>
      <p:sp>
        <p:nvSpPr>
          <p:cNvPr id="7" name="Right Arrow 6"/>
          <p:cNvSpPr/>
          <p:nvPr/>
        </p:nvSpPr>
        <p:spPr>
          <a:xfrm>
            <a:off x="4023360" y="1828800"/>
            <a:ext cx="457200" cy="201168"/>
          </a:xfrm>
          <a:prstGeom prst="rightArrow">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17720" y="1417320"/>
            <a:ext cx="3108960" cy="1005840"/>
          </a:xfrm>
          <a:prstGeom prst="round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2B2B2B"/>
                </a:solidFill>
                <a:latin typeface="Arial"/>
              </a:rPr>
              <a:t>test_job</a:t>
            </a:r>
            <a:r>
              <a:rPr sz="1300" b="0" i="0">
                <a:solidFill>
                  <a:srgbClr val="2B2B2B"/>
                </a:solidFill>
                <a:latin typeface="Arial"/>
              </a:rPr>
              <a:t>
65 tests + coverage</a:t>
            </a:r>
          </a:p>
        </p:txBody>
      </p:sp>
      <p:sp>
        <p:nvSpPr>
          <p:cNvPr id="9" name="Right Arrow 8"/>
          <p:cNvSpPr/>
          <p:nvPr/>
        </p:nvSpPr>
        <p:spPr>
          <a:xfrm>
            <a:off x="7863840" y="1828800"/>
            <a:ext cx="457200" cy="201168"/>
          </a:xfrm>
          <a:prstGeom prst="rightArrow">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458200" y="1417320"/>
            <a:ext cx="2926080" cy="1005840"/>
          </a:xfrm>
          <a:prstGeom prst="roundRect">
            <a:avLst/>
          </a:prstGeom>
          <a:solidFill>
            <a:srgbClr val="F1F5F7"/>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2B2B2B"/>
                </a:solidFill>
                <a:latin typeface="Arial"/>
              </a:rPr>
              <a:t>deploy_job</a:t>
            </a:r>
            <a:r>
              <a:rPr sz="1300" b="0" i="0">
                <a:solidFill>
                  <a:srgbClr val="2B2B2B"/>
                </a:solidFill>
                <a:latin typeface="Arial"/>
              </a:rPr>
              <a:t>
push to Hugging Face
(main only)</a:t>
            </a:r>
          </a:p>
        </p:txBody>
      </p:sp>
      <p:sp>
        <p:nvSpPr>
          <p:cNvPr id="11" name="Rectangle 10"/>
          <p:cNvSpPr/>
          <p:nvPr/>
        </p:nvSpPr>
        <p:spPr>
          <a:xfrm>
            <a:off x="777240" y="2834640"/>
            <a:ext cx="10607040" cy="1371600"/>
          </a:xfrm>
          <a:prstGeom prst="rect">
            <a:avLst/>
          </a:prstGeom>
          <a:solidFill>
            <a:srgbClr val="FBF0EA"/>
          </a:solidFill>
          <a:ln w="12700">
            <a:solidFill>
              <a:srgbClr val="1B3A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i="0">
                <a:solidFill>
                  <a:srgbClr val="2B2B2B"/>
                </a:solidFill>
                <a:latin typeface="Arial"/>
              </a:rPr>
              <a:t>Incident — 24 September 2026:</a:t>
            </a:r>
            <a:r>
              <a:rPr sz="1400" b="0" i="0">
                <a:solidFill>
                  <a:srgbClr val="2B2B2B"/>
                </a:solidFill>
                <a:latin typeface="Arial"/>
              </a:rPr>
              <a:t> the deployment broke with zero change to my code.
The action installed the latest Hugging Face CLI, and version 2.0.0 renamed hf repo into hf repos.
</a:t>
            </a:r>
            <a:r>
              <a:rPr sz="1400" b="1" i="0">
                <a:solidFill>
                  <a:srgbClr val="2B2B2B"/>
                </a:solidFill>
                <a:latin typeface="Arial"/>
              </a:rPr>
              <a:t>Fix:</a:t>
            </a:r>
            <a:r>
              <a:rPr sz="1400" b="0" i="0">
                <a:solidFill>
                  <a:srgbClr val="2B2B2B"/>
                </a:solidFill>
                <a:latin typeface="Arial"/>
              </a:rPr>
              <a:t> action bumped to v0.3.0 </a:t>
            </a:r>
            <a:r>
              <a:rPr sz="1400" b="1" i="0">
                <a:solidFill>
                  <a:srgbClr val="2B2B2B"/>
                </a:solidFill>
                <a:latin typeface="Arial"/>
              </a:rPr>
              <a:t>and</a:t>
            </a:r>
            <a:r>
              <a:rPr sz="1400" b="0" i="0">
                <a:solidFill>
                  <a:srgbClr val="2B2B2B"/>
                </a:solidFill>
                <a:latin typeface="Arial"/>
              </a:rPr>
              <a:t> the CLI version pinned, so a future release cannot break it again.</a:t>
            </a:r>
          </a:p>
        </p:txBody>
      </p:sp>
      <p:sp>
        <p:nvSpPr>
          <p:cNvPr id="12" name="TextBox 11"/>
          <p:cNvSpPr txBox="1"/>
          <p:nvPr/>
        </p:nvSpPr>
        <p:spPr>
          <a:xfrm>
            <a:off x="777240" y="4389120"/>
            <a:ext cx="10637215" cy="1737360"/>
          </a:xfrm>
          <a:prstGeom prst="rect">
            <a:avLst/>
          </a:prstGeom>
          <a:noFill/>
        </p:spPr>
        <p:txBody>
          <a:bodyPr wrap="square">
            <a:spAutoFit/>
          </a:bodyPr>
          <a:lstStyle/>
          <a:p>
            <a:pPr>
              <a:spcAft>
                <a:spcPts val="832"/>
              </a:spcAft>
            </a:pPr>
            <a:r>
              <a:rPr sz="1500" b="0" i="0">
                <a:solidFill>
                  <a:srgbClr val="2B2B2B"/>
                </a:solidFill>
                <a:latin typeface="Arial"/>
              </a:rPr>
              <a:t>•  </a:t>
            </a:r>
            <a:r>
              <a:rPr sz="1500" b="1" i="0">
                <a:solidFill>
                  <a:srgbClr val="2B2B2B"/>
                </a:solidFill>
                <a:latin typeface="Arial"/>
              </a:rPr>
              <a:t>Lesson:</a:t>
            </a:r>
            <a:r>
              <a:rPr sz="1500" b="0" i="0">
                <a:solidFill>
                  <a:srgbClr val="2B2B2B"/>
                </a:solidFill>
                <a:latin typeface="Arial"/>
              </a:rPr>
              <a:t> pin every dependency — libraries (requirements.txt), the model's own versions, and the deployment tools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Deployment choice</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10637215" cy="411480"/>
          </a:xfrm>
          <a:prstGeom prst="rect">
            <a:avLst/>
          </a:prstGeom>
          <a:noFill/>
        </p:spPr>
        <p:txBody>
          <a:bodyPr wrap="square">
            <a:spAutoFit/>
          </a:bodyPr>
          <a:lstStyle/>
          <a:p>
            <a:r>
              <a:rPr sz="1400" b="0" i="0">
                <a:solidFill>
                  <a:srgbClr val="6B7280"/>
                </a:solidFill>
                <a:latin typeface="Arial"/>
              </a:rPr>
              <a:t>The API is public, the database stays local — deliberately</a:t>
            </a:r>
          </a:p>
        </p:txBody>
      </p:sp>
      <p:sp>
        <p:nvSpPr>
          <p:cNvPr id="5" name="TextBox 4"/>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6" name="TextBox 5"/>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13</a:t>
            </a:r>
          </a:p>
        </p:txBody>
      </p:sp>
      <p:sp>
        <p:nvSpPr>
          <p:cNvPr id="7" name="TextBox 6"/>
          <p:cNvSpPr txBox="1"/>
          <p:nvPr/>
        </p:nvSpPr>
        <p:spPr>
          <a:xfrm>
            <a:off x="777240" y="1783080"/>
            <a:ext cx="10637215" cy="4343400"/>
          </a:xfrm>
          <a:prstGeom prst="rect">
            <a:avLst/>
          </a:prstGeom>
          <a:noFill/>
        </p:spPr>
        <p:txBody>
          <a:bodyPr wrap="square">
            <a:spAutoFit/>
          </a:bodyPr>
          <a:lstStyle/>
          <a:p>
            <a:pPr>
              <a:spcAft>
                <a:spcPts val="832"/>
              </a:spcAft>
            </a:pPr>
            <a:r>
              <a:rPr sz="1600" b="0" i="0">
                <a:solidFill>
                  <a:srgbClr val="2B2B2B"/>
                </a:solidFill>
                <a:latin typeface="Arial"/>
              </a:rPr>
              <a:t>•  The API runs in a </a:t>
            </a:r>
            <a:r>
              <a:rPr sz="1600" b="1" i="0">
                <a:solidFill>
                  <a:srgbClr val="2B2B2B"/>
                </a:solidFill>
                <a:latin typeface="Arial"/>
              </a:rPr>
              <a:t>Docker</a:t>
            </a:r>
            <a:r>
              <a:rPr sz="1600" b="0" i="0">
                <a:solidFill>
                  <a:srgbClr val="2B2B2B"/>
                </a:solidFill>
                <a:latin typeface="Arial"/>
              </a:rPr>
              <a:t> container on a </a:t>
            </a:r>
            <a:r>
              <a:rPr sz="1600" b="1" i="0">
                <a:solidFill>
                  <a:srgbClr val="2B2B2B"/>
                </a:solidFill>
                <a:latin typeface="Arial"/>
              </a:rPr>
              <a:t>Hugging Face Space</a:t>
            </a:r>
            <a:r>
              <a:rPr sz="1600" b="0" i="0">
                <a:solidFill>
                  <a:srgbClr val="2B2B2B"/>
                </a:solidFill>
                <a:latin typeface="Arial"/>
              </a:rPr>
              <a:t> (status: running)</a:t>
            </a:r>
          </a:p>
          <a:p>
            <a:pPr>
              <a:spcAft>
                <a:spcPts val="832"/>
              </a:spcAft>
            </a:pPr>
            <a:r>
              <a:rPr sz="1600" b="0" i="0">
                <a:solidFill>
                  <a:srgbClr val="2B2B2B"/>
                </a:solidFill>
                <a:latin typeface="Arial"/>
              </a:rPr>
              <a:t>•  /, /health and /docs work online; </a:t>
            </a:r>
            <a:r>
              <a:rPr sz="1600" b="1" i="0">
                <a:solidFill>
                  <a:srgbClr val="2B2B2B"/>
                </a:solidFill>
                <a:latin typeface="Arial"/>
              </a:rPr>
              <a:t>/predict returns 503</a:t>
            </a:r>
            <a:r>
              <a:rPr sz="1600" b="0" i="0">
                <a:solidFill>
                  <a:srgbClr val="2B2B2B"/>
                </a:solidFill>
                <a:latin typeface="Arial"/>
              </a:rPr>
              <a:t> there</a:t>
            </a:r>
          </a:p>
          <a:p>
            <a:pPr>
              <a:spcAft>
                <a:spcPts val="832"/>
              </a:spcAft>
            </a:pPr>
            <a:r>
              <a:rPr sz="1600" b="0" i="0">
                <a:solidFill>
                  <a:srgbClr val="2B2B2B"/>
                </a:solidFill>
                <a:latin typeface="Arial"/>
              </a:rPr>
              <a:t>•  That is documented behaviour, not a bug: </a:t>
            </a:r>
            <a:r>
              <a:rPr sz="1600" b="1" i="0">
                <a:solidFill>
                  <a:srgbClr val="2B2B2B"/>
                </a:solidFill>
                <a:latin typeface="Arial"/>
              </a:rPr>
              <a:t>no traceability, no prediction</a:t>
            </a:r>
          </a:p>
        </p:txBody>
      </p:sp>
      <p:graphicFrame>
        <p:nvGraphicFramePr>
          <p:cNvPr id="8" name="Table 7"/>
          <p:cNvGraphicFramePr>
            <a:graphicFrameLocks noGrp="1"/>
          </p:cNvGraphicFramePr>
          <p:nvPr/>
        </p:nvGraphicFramePr>
        <p:xfrm>
          <a:off x="777240" y="3429000"/>
          <a:ext cx="10607040" cy="1828800"/>
        </p:xfrm>
        <a:graphic>
          <a:graphicData uri="http://schemas.openxmlformats.org/drawingml/2006/table">
            <a:tbl>
              <a:tblPr firstRow="1" bandRow="1">
                <a:tableStyleId>{5C22544A-7EE6-4342-B048-85BDC9FD1C3A}</a:tableStyleId>
              </a:tblPr>
              <a:tblGrid>
                <a:gridCol w="5303520"/>
                <a:gridCol w="5303520"/>
              </a:tblGrid>
              <a:tr h="457200">
                <a:tc>
                  <a:txBody>
                    <a:bodyPr/>
                    <a:lstStyle/>
                    <a:p>
                      <a:r>
                        <a:rPr sz="1300" b="1" i="0">
                          <a:solidFill>
                            <a:srgbClr val="FFFFFF"/>
                          </a:solidFill>
                          <a:latin typeface="Arial"/>
                        </a:rPr>
                        <a:t>Why the database is not hosted online</a:t>
                      </a:r>
                    </a:p>
                  </a:txBody>
                  <a:tcPr anchor="ctr" marL="109728" marT="36576" marB="36576">
                    <a:solidFill>
                      <a:srgbClr val="1B3A5B"/>
                    </a:solidFill>
                  </a:tcPr>
                </a:tc>
                <a:tc>
                  <a:txBody>
                    <a:bodyPr/>
                    <a:lstStyle/>
                    <a:p>
                      <a:r>
                        <a:rPr sz="1300" b="1" i="0">
                          <a:solidFill>
                            <a:srgbClr val="FFFFFF"/>
                          </a:solidFill>
                          <a:latin typeface="Arial"/>
                        </a:rPr>
                        <a:t>Consequence</a:t>
                      </a:r>
                    </a:p>
                  </a:txBody>
                  <a:tcPr anchor="ctr" marL="109728" marT="36576" marB="36576">
                    <a:solidFill>
                      <a:srgbClr val="1B3A5B"/>
                    </a:solidFill>
                  </a:tcPr>
                </a:tc>
              </a:tr>
              <a:tr h="457200">
                <a:tc>
                  <a:txBody>
                    <a:bodyPr/>
                    <a:lstStyle/>
                    <a:p>
                      <a:r>
                        <a:rPr sz="1300" b="0" i="0">
                          <a:solidFill>
                            <a:srgbClr val="2B2B2B"/>
                          </a:solidFill>
                          <a:latin typeface="Arial"/>
                        </a:rPr>
                        <a:t>The data is personal HR data (GDPR)</a:t>
                      </a:r>
                    </a:p>
                  </a:txBody>
                  <a:tcPr anchor="ctr" marL="109728" marT="36576" marB="36576">
                    <a:solidFill>
                      <a:srgbClr val="FFFFFF"/>
                    </a:solidFill>
                  </a:tcPr>
                </a:tc>
                <a:tc>
                  <a:txBody>
                    <a:bodyPr/>
                    <a:lstStyle/>
                    <a:p>
                      <a:r>
                        <a:rPr sz="1300" b="0" i="0">
                          <a:solidFill>
                            <a:srgbClr val="2B2B2B"/>
                          </a:solidFill>
                          <a:latin typeface="Arial"/>
                        </a:rPr>
                        <a:t>it must not be copied to a free third-party service</a:t>
                      </a:r>
                    </a:p>
                  </a:txBody>
                  <a:tcPr anchor="ctr" marL="109728" marT="36576" marB="36576">
                    <a:solidFill>
                      <a:srgbClr val="FFFFFF"/>
                    </a:solidFill>
                  </a:tcPr>
                </a:tc>
              </a:tr>
              <a:tr h="457200">
                <a:tc>
                  <a:txBody>
                    <a:bodyPr/>
                    <a:lstStyle/>
                    <a:p>
                      <a:r>
                        <a:rPr sz="1300" b="0" i="0">
                          <a:solidFill>
                            <a:srgbClr val="2B2B2B"/>
                          </a:solidFill>
                          <a:latin typeface="Arial"/>
                        </a:rPr>
                        <a:t>A Space's disk is not persistent</a:t>
                      </a:r>
                    </a:p>
                  </a:txBody>
                  <a:tcPr anchor="ctr" marL="109728" marT="36576" marB="36576">
                    <a:solidFill>
                      <a:srgbClr val="F1F5F7"/>
                    </a:solidFill>
                  </a:tcPr>
                </a:tc>
                <a:tc>
                  <a:txBody>
                    <a:bodyPr/>
                    <a:lstStyle/>
                    <a:p>
                      <a:r>
                        <a:rPr sz="1300" b="0" i="0">
                          <a:solidFill>
                            <a:srgbClr val="2B2B2B"/>
                          </a:solidFill>
                          <a:latin typeface="Arial"/>
                        </a:rPr>
                        <a:t>the history would be wiped at every restart</a:t>
                      </a:r>
                    </a:p>
                  </a:txBody>
                  <a:tcPr anchor="ctr" marL="109728" marT="36576" marB="36576">
                    <a:solidFill>
                      <a:srgbClr val="F1F5F7"/>
                    </a:solidFill>
                  </a:tcPr>
                </a:tc>
              </a:tr>
              <a:tr h="457200">
                <a:tc>
                  <a:txBody>
                    <a:bodyPr/>
                    <a:lstStyle/>
                    <a:p>
                      <a:r>
                        <a:rPr sz="1300" b="0" i="0">
                          <a:solidFill>
                            <a:srgbClr val="2B2B2B"/>
                          </a:solidFill>
                          <a:latin typeface="Arial"/>
                        </a:rPr>
                        <a:t>The brief allows a local-only database</a:t>
                      </a:r>
                    </a:p>
                  </a:txBody>
                  <a:tcPr anchor="ctr" marL="109728" marT="36576" marB="36576">
                    <a:solidFill>
                      <a:srgbClr val="FFFFFF"/>
                    </a:solidFill>
                  </a:tcPr>
                </a:tc>
                <a:tc>
                  <a:txBody>
                    <a:bodyPr/>
                    <a:lstStyle/>
                    <a:p>
                      <a:r>
                        <a:rPr sz="1300" b="0" i="0">
                          <a:solidFill>
                            <a:srgbClr val="2B2B2B"/>
                          </a:solidFill>
                          <a:latin typeface="Arial"/>
                        </a:rPr>
                        <a:t>the full pipeline is demonstrated locally</a:t>
                      </a:r>
                    </a:p>
                  </a:txBody>
                  <a:tcPr anchor="ctr" marL="109728" marT="36576" marB="36576">
                    <a:solidFill>
                      <a:srgbClr val="FFFFFF"/>
                    </a:solidFill>
                  </a:tcPr>
                </a:tc>
              </a:tr>
            </a:tbl>
          </a:graphicData>
        </a:graphic>
      </p:graphicFrame>
      <p:sp>
        <p:nvSpPr>
          <p:cNvPr id="9" name="TextBox 8"/>
          <p:cNvSpPr txBox="1"/>
          <p:nvPr/>
        </p:nvSpPr>
        <p:spPr>
          <a:xfrm>
            <a:off x="777240" y="5349240"/>
            <a:ext cx="10637215" cy="548640"/>
          </a:xfrm>
          <a:prstGeom prst="rect">
            <a:avLst/>
          </a:prstGeom>
          <a:noFill/>
        </p:spPr>
        <p:txBody>
          <a:bodyPr wrap="square">
            <a:spAutoFit/>
          </a:bodyPr>
          <a:lstStyle/>
          <a:p>
            <a:r>
              <a:rPr sz="1500" b="1" i="0">
                <a:solidFill>
                  <a:srgbClr val="2F7D7A"/>
                </a:solidFill>
                <a:latin typeface="Arial"/>
              </a:rPr>
              <a:t>Reversible by design: providing a DATABASE_URL secret to the Space is enough — no code change.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Security and personal data</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5" name="TextBox 4"/>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14</a:t>
            </a:r>
          </a:p>
        </p:txBody>
      </p:sp>
      <p:graphicFrame>
        <p:nvGraphicFramePr>
          <p:cNvPr id="6" name="Table 5"/>
          <p:cNvGraphicFramePr>
            <a:graphicFrameLocks noGrp="1"/>
          </p:cNvGraphicFramePr>
          <p:nvPr/>
        </p:nvGraphicFramePr>
        <p:xfrm>
          <a:off x="777240" y="1417320"/>
          <a:ext cx="10607040" cy="3328416"/>
        </p:xfrm>
        <a:graphic>
          <a:graphicData uri="http://schemas.openxmlformats.org/drawingml/2006/table">
            <a:tbl>
              <a:tblPr firstRow="1" bandRow="1">
                <a:tableStyleId>{5C22544A-7EE6-4342-B048-85BDC9FD1C3A}</a:tableStyleId>
              </a:tblPr>
              <a:tblGrid>
                <a:gridCol w="4023360"/>
                <a:gridCol w="6583680"/>
              </a:tblGrid>
              <a:tr h="475488">
                <a:tc>
                  <a:txBody>
                    <a:bodyPr/>
                    <a:lstStyle/>
                    <a:p>
                      <a:r>
                        <a:rPr sz="1300" b="1" i="0">
                          <a:solidFill>
                            <a:srgbClr val="FFFFFF"/>
                          </a:solidFill>
                          <a:latin typeface="Arial"/>
                        </a:rPr>
                        <a:t>Risk</a:t>
                      </a:r>
                    </a:p>
                  </a:txBody>
                  <a:tcPr anchor="ctr" marL="109728" marT="36576" marB="36576">
                    <a:solidFill>
                      <a:srgbClr val="1B3A5B"/>
                    </a:solidFill>
                  </a:tcPr>
                </a:tc>
                <a:tc>
                  <a:txBody>
                    <a:bodyPr/>
                    <a:lstStyle/>
                    <a:p>
                      <a:r>
                        <a:rPr sz="1300" b="1" i="0">
                          <a:solidFill>
                            <a:srgbClr val="FFFFFF"/>
                          </a:solidFill>
                          <a:latin typeface="Arial"/>
                        </a:rPr>
                        <a:t>Measure taken</a:t>
                      </a:r>
                    </a:p>
                  </a:txBody>
                  <a:tcPr anchor="ctr" marL="109728" marT="36576" marB="36576">
                    <a:solidFill>
                      <a:srgbClr val="1B3A5B"/>
                    </a:solidFill>
                  </a:tcPr>
                </a:tc>
              </a:tr>
              <a:tr h="475488">
                <a:tc>
                  <a:txBody>
                    <a:bodyPr/>
                    <a:lstStyle/>
                    <a:p>
                      <a:r>
                        <a:rPr sz="1300" b="0" i="0">
                          <a:solidFill>
                            <a:srgbClr val="2B2B2B"/>
                          </a:solidFill>
                          <a:latin typeface="Arial"/>
                        </a:rPr>
                        <a:t>Password leaked in git</a:t>
                      </a:r>
                    </a:p>
                  </a:txBody>
                  <a:tcPr anchor="ctr" marL="109728" marT="36576" marB="36576">
                    <a:solidFill>
                      <a:srgbClr val="FFFFFF"/>
                    </a:solidFill>
                  </a:tcPr>
                </a:tc>
                <a:tc>
                  <a:txBody>
                    <a:bodyPr/>
                    <a:lstStyle/>
                    <a:p>
                      <a:r>
                        <a:rPr sz="1300" b="0" i="0">
                          <a:solidFill>
                            <a:srgbClr val="2B2B2B"/>
                          </a:solidFill>
                          <a:latin typeface="Arial"/>
                        </a:rPr>
                        <a:t>.env ignored by git and Docker; .env.example holds a fake value</a:t>
                      </a:r>
                    </a:p>
                  </a:txBody>
                  <a:tcPr anchor="ctr" marL="109728" marT="36576" marB="36576">
                    <a:solidFill>
                      <a:srgbClr val="FFFFFF"/>
                    </a:solidFill>
                  </a:tcPr>
                </a:tc>
              </a:tr>
              <a:tr h="475488">
                <a:tc>
                  <a:txBody>
                    <a:bodyPr/>
                    <a:lstStyle/>
                    <a:p>
                      <a:r>
                        <a:rPr sz="1300" b="0" i="0">
                          <a:solidFill>
                            <a:srgbClr val="2B2B2B"/>
                          </a:solidFill>
                          <a:latin typeface="Arial"/>
                        </a:rPr>
                        <a:t>HR data leaked</a:t>
                      </a:r>
                    </a:p>
                  </a:txBody>
                  <a:tcPr anchor="ctr" marL="109728" marT="36576" marB="36576">
                    <a:solidFill>
                      <a:srgbClr val="F1F5F7"/>
                    </a:solidFill>
                  </a:tcPr>
                </a:tc>
                <a:tc>
                  <a:txBody>
                    <a:bodyPr/>
                    <a:lstStyle/>
                    <a:p>
                      <a:r>
                        <a:rPr sz="1300" b="0" i="0">
                          <a:solidFill>
                            <a:srgbClr val="2B2B2B"/>
                          </a:solidFill>
                          <a:latin typeface="Arial"/>
                        </a:rPr>
                        <a:t>data/ (CSV + notebook) excluded from git and from the image</a:t>
                      </a:r>
                    </a:p>
                  </a:txBody>
                  <a:tcPr anchor="ctr" marL="109728" marT="36576" marB="36576">
                    <a:solidFill>
                      <a:srgbClr val="F1F5F7"/>
                    </a:solidFill>
                  </a:tcPr>
                </a:tc>
              </a:tr>
              <a:tr h="475488">
                <a:tc>
                  <a:txBody>
                    <a:bodyPr/>
                    <a:lstStyle/>
                    <a:p>
                      <a:r>
                        <a:rPr sz="1300" b="0" i="0">
                          <a:solidFill>
                            <a:srgbClr val="2B2B2B"/>
                          </a:solidFill>
                          <a:latin typeface="Arial"/>
                        </a:rPr>
                        <a:t>Over-privileged access</a:t>
                      </a:r>
                    </a:p>
                  </a:txBody>
                  <a:tcPr anchor="ctr" marL="109728" marT="36576" marB="36576">
                    <a:solidFill>
                      <a:srgbClr val="FFFFFF"/>
                    </a:solidFill>
                  </a:tcPr>
                </a:tc>
                <a:tc>
                  <a:txBody>
                    <a:bodyPr/>
                    <a:lstStyle/>
                    <a:p>
                      <a:r>
                        <a:rPr sz="1300" b="0" i="0">
                          <a:solidFill>
                            <a:srgbClr val="2B2B2B"/>
                          </a:solidFill>
                          <a:latin typeface="Arial"/>
                        </a:rPr>
                        <a:t>a dedicated PostgreSQL role, not the postgres superuser</a:t>
                      </a:r>
                    </a:p>
                  </a:txBody>
                  <a:tcPr anchor="ctr" marL="109728" marT="36576" marB="36576">
                    <a:solidFill>
                      <a:srgbClr val="FFFFFF"/>
                    </a:solidFill>
                  </a:tcPr>
                </a:tc>
              </a:tr>
              <a:tr h="475488">
                <a:tc>
                  <a:txBody>
                    <a:bodyPr/>
                    <a:lstStyle/>
                    <a:p>
                      <a:r>
                        <a:rPr sz="1300" b="0" i="0">
                          <a:solidFill>
                            <a:srgbClr val="2B2B2B"/>
                          </a:solidFill>
                          <a:latin typeface="Arial"/>
                        </a:rPr>
                        <a:t>Corrupted or invalid data</a:t>
                      </a:r>
                    </a:p>
                  </a:txBody>
                  <a:tcPr anchor="ctr" marL="109728" marT="36576" marB="36576">
                    <a:solidFill>
                      <a:srgbClr val="F1F5F7"/>
                    </a:solidFill>
                  </a:tcPr>
                </a:tc>
                <a:tc>
                  <a:txBody>
                    <a:bodyPr/>
                    <a:lstStyle/>
                    <a:p>
                      <a:r>
                        <a:rPr sz="1300" b="0" i="0">
                          <a:solidFill>
                            <a:srgbClr val="2B2B2B"/>
                          </a:solidFill>
                          <a:latin typeface="Arial"/>
                        </a:rPr>
                        <a:t>CHECK, NOT NULL, UNIQUE and foreign keys in the database</a:t>
                      </a:r>
                    </a:p>
                  </a:txBody>
                  <a:tcPr anchor="ctr" marL="109728" marT="36576" marB="36576">
                    <a:solidFill>
                      <a:srgbClr val="F1F5F7"/>
                    </a:solidFill>
                  </a:tcPr>
                </a:tc>
              </a:tr>
              <a:tr h="475488">
                <a:tc>
                  <a:txBody>
                    <a:bodyPr/>
                    <a:lstStyle/>
                    <a:p>
                      <a:r>
                        <a:rPr sz="1300" b="0" i="0">
                          <a:solidFill>
                            <a:srgbClr val="2B2B2B"/>
                          </a:solidFill>
                          <a:latin typeface="Arial"/>
                        </a:rPr>
                        <a:t>Database exposed</a:t>
                      </a:r>
                    </a:p>
                  </a:txBody>
                  <a:tcPr anchor="ctr" marL="109728" marT="36576" marB="36576">
                    <a:solidFill>
                      <a:srgbClr val="FFFFFF"/>
                    </a:solidFill>
                  </a:tcPr>
                </a:tc>
                <a:tc>
                  <a:txBody>
                    <a:bodyPr/>
                    <a:lstStyle/>
                    <a:p>
                      <a:r>
                        <a:rPr sz="1300" b="0" i="0">
                          <a:solidFill>
                            <a:srgbClr val="2B2B2B"/>
                          </a:solidFill>
                          <a:latin typeface="Arial"/>
                        </a:rPr>
                        <a:t>PostgreSQL listens on localhost only</a:t>
                      </a:r>
                    </a:p>
                  </a:txBody>
                  <a:tcPr anchor="ctr" marL="109728" marT="36576" marB="36576">
                    <a:solidFill>
                      <a:srgbClr val="FFFFFF"/>
                    </a:solidFill>
                  </a:tcPr>
                </a:tc>
              </a:tr>
              <a:tr h="475488">
                <a:tc>
                  <a:txBody>
                    <a:bodyPr/>
                    <a:lstStyle/>
                    <a:p>
                      <a:r>
                        <a:rPr sz="1300" b="0" i="0">
                          <a:solidFill>
                            <a:srgbClr val="2B2B2B"/>
                          </a:solidFill>
                          <a:latin typeface="Arial"/>
                        </a:rPr>
                        <a:t>Silent failures</a:t>
                      </a:r>
                    </a:p>
                  </a:txBody>
                  <a:tcPr anchor="ctr" marL="109728" marT="36576" marB="36576">
                    <a:solidFill>
                      <a:srgbClr val="F1F5F7"/>
                    </a:solidFill>
                  </a:tcPr>
                </a:tc>
                <a:tc>
                  <a:txBody>
                    <a:bodyPr/>
                    <a:lstStyle/>
                    <a:p>
                      <a:r>
                        <a:rPr sz="1300" b="0" i="0">
                          <a:solidFill>
                            <a:srgbClr val="2B2B2B"/>
                          </a:solidFill>
                          <a:latin typeface="Arial"/>
                        </a:rPr>
                        <a:t>model errors stored with their message (status = error)</a:t>
                      </a:r>
                    </a:p>
                  </a:txBody>
                  <a:tcPr anchor="ctr" marL="109728" marT="36576" marB="36576">
                    <a:solidFill>
                      <a:srgbClr val="F1F5F7"/>
                    </a:solidFill>
                  </a:tcPr>
                </a:tc>
              </a:tr>
            </a:tbl>
          </a:graphicData>
        </a:graphic>
      </p:graphicFrame>
      <p:sp>
        <p:nvSpPr>
          <p:cNvPr id="7" name="TextBox 6"/>
          <p:cNvSpPr txBox="1"/>
          <p:nvPr/>
        </p:nvSpPr>
        <p:spPr>
          <a:xfrm>
            <a:off x="777240" y="4937760"/>
            <a:ext cx="10637215" cy="1188719"/>
          </a:xfrm>
          <a:prstGeom prst="rect">
            <a:avLst/>
          </a:prstGeom>
          <a:noFill/>
        </p:spPr>
        <p:txBody>
          <a:bodyPr wrap="square">
            <a:spAutoFit/>
          </a:bodyPr>
          <a:lstStyle/>
          <a:p>
            <a:pPr>
              <a:spcAft>
                <a:spcPts val="832"/>
              </a:spcAft>
            </a:pPr>
            <a:r>
              <a:rPr sz="1400" b="0" i="0">
                <a:solidFill>
                  <a:srgbClr val="2B2B2B"/>
                </a:solidFill>
                <a:latin typeface="Arial"/>
              </a:rPr>
              <a:t>•  </a:t>
            </a:r>
            <a:r>
              <a:rPr sz="1400" b="1" i="0">
                <a:solidFill>
                  <a:srgbClr val="2B2B2B"/>
                </a:solidFill>
                <a:latin typeface="Arial"/>
              </a:rPr>
              <a:t>Stated limit:</a:t>
            </a:r>
            <a:r>
              <a:rPr sz="1400" b="0" i="0">
                <a:solidFill>
                  <a:srgbClr val="2B2B2B"/>
                </a:solidFill>
                <a:latin typeface="Arial"/>
              </a:rPr>
              <a:t> /predict has no authentication yet — acceptable while unreachable from the internet, an API key would be required otherwise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Difficulties and what they taught me</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5" name="TextBox 4"/>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15</a:t>
            </a:r>
          </a:p>
        </p:txBody>
      </p:sp>
      <p:graphicFrame>
        <p:nvGraphicFramePr>
          <p:cNvPr id="6" name="Table 5"/>
          <p:cNvGraphicFramePr>
            <a:graphicFrameLocks noGrp="1"/>
          </p:cNvGraphicFramePr>
          <p:nvPr/>
        </p:nvGraphicFramePr>
        <p:xfrm>
          <a:off x="777240" y="1417320"/>
          <a:ext cx="10607040" cy="3401568"/>
        </p:xfrm>
        <a:graphic>
          <a:graphicData uri="http://schemas.openxmlformats.org/drawingml/2006/table">
            <a:tbl>
              <a:tblPr firstRow="1" bandRow="1">
                <a:tableStyleId>{5C22544A-7EE6-4342-B048-85BDC9FD1C3A}</a:tableStyleId>
              </a:tblPr>
              <a:tblGrid>
                <a:gridCol w="4937760"/>
                <a:gridCol w="5669280"/>
              </a:tblGrid>
              <a:tr h="566928">
                <a:tc>
                  <a:txBody>
                    <a:bodyPr/>
                    <a:lstStyle/>
                    <a:p>
                      <a:r>
                        <a:rPr sz="1300" b="1" i="0">
                          <a:solidFill>
                            <a:srgbClr val="FFFFFF"/>
                          </a:solidFill>
                          <a:latin typeface="Arial"/>
                        </a:rPr>
                        <a:t>Difficulty</a:t>
                      </a:r>
                    </a:p>
                  </a:txBody>
                  <a:tcPr anchor="ctr" marL="109728" marT="36576" marB="36576">
                    <a:solidFill>
                      <a:srgbClr val="1B3A5B"/>
                    </a:solidFill>
                  </a:tcPr>
                </a:tc>
                <a:tc>
                  <a:txBody>
                    <a:bodyPr/>
                    <a:lstStyle/>
                    <a:p>
                      <a:r>
                        <a:rPr sz="1300" b="1" i="0">
                          <a:solidFill>
                            <a:srgbClr val="FFFFFF"/>
                          </a:solidFill>
                          <a:latin typeface="Arial"/>
                        </a:rPr>
                        <a:t>Resolution</a:t>
                      </a:r>
                    </a:p>
                  </a:txBody>
                  <a:tcPr anchor="ctr" marL="109728" marT="36576" marB="36576">
                    <a:solidFill>
                      <a:srgbClr val="1B3A5B"/>
                    </a:solidFill>
                  </a:tcPr>
                </a:tc>
              </a:tr>
              <a:tr h="566928">
                <a:tc>
                  <a:txBody>
                    <a:bodyPr/>
                    <a:lstStyle/>
                    <a:p>
                      <a:r>
                        <a:rPr sz="1300" b="0" i="0">
                          <a:solidFill>
                            <a:srgbClr val="2B2B2B"/>
                          </a:solidFill>
                          <a:latin typeface="Arial"/>
                        </a:rPr>
                        <a:t>The feature formulas existed only in the training notebook</a:t>
                      </a:r>
                    </a:p>
                  </a:txBody>
                  <a:tcPr anchor="ctr" marL="109728" marT="36576" marB="36576">
                    <a:solidFill>
                      <a:srgbClr val="FFFFFF"/>
                    </a:solidFill>
                  </a:tcPr>
                </a:tc>
                <a:tc>
                  <a:txBody>
                    <a:bodyPr/>
                    <a:lstStyle/>
                    <a:p>
                      <a:r>
                        <a:rPr sz="1300" b="0" i="0">
                          <a:solidFill>
                            <a:srgbClr val="2B2B2B"/>
                          </a:solidFill>
                          <a:latin typeface="Arial"/>
                        </a:rPr>
                        <a:t>extracted into one shared function, then verified on 1 470 rows</a:t>
                      </a:r>
                    </a:p>
                  </a:txBody>
                  <a:tcPr anchor="ctr" marL="109728" marT="36576" marB="36576">
                    <a:solidFill>
                      <a:srgbClr val="FFFFFF"/>
                    </a:solidFill>
                  </a:tcPr>
                </a:tc>
              </a:tr>
              <a:tr h="566928">
                <a:tc>
                  <a:txBody>
                    <a:bodyPr/>
                    <a:lstStyle/>
                    <a:p>
                      <a:r>
                        <a:rPr sz="1300" b="0" i="0">
                          <a:solidFill>
                            <a:srgbClr val="2B2B2B"/>
                          </a:solidFill>
                          <a:latin typeface="Arial"/>
                        </a:rPr>
                        <a:t>Tests must not need a PostgreSQL server</a:t>
                      </a:r>
                    </a:p>
                  </a:txBody>
                  <a:tcPr anchor="ctr" marL="109728" marT="36576" marB="36576">
                    <a:solidFill>
                      <a:srgbClr val="F1F5F7"/>
                    </a:solidFill>
                  </a:tcPr>
                </a:tc>
                <a:tc>
                  <a:txBody>
                    <a:bodyPr/>
                    <a:lstStyle/>
                    <a:p>
                      <a:r>
                        <a:rPr sz="1300" b="0" i="0">
                          <a:solidFill>
                            <a:srgbClr val="2B2B2B"/>
                          </a:solidFill>
                          <a:latin typeface="Arial"/>
                        </a:rPr>
                        <a:t>in-memory SQLite + FastAPI dependency override</a:t>
                      </a:r>
                    </a:p>
                  </a:txBody>
                  <a:tcPr anchor="ctr" marL="109728" marT="36576" marB="36576">
                    <a:solidFill>
                      <a:srgbClr val="F1F5F7"/>
                    </a:solidFill>
                  </a:tcPr>
                </a:tc>
              </a:tr>
              <a:tr h="566928">
                <a:tc>
                  <a:txBody>
                    <a:bodyPr/>
                    <a:lstStyle/>
                    <a:p>
                      <a:r>
                        <a:rPr sz="1300" b="0" i="0">
                          <a:solidFill>
                            <a:srgbClr val="2B2B2B"/>
                          </a:solidFill>
                          <a:latin typeface="Arial"/>
                        </a:rPr>
                        <a:t>The deploy job silently never ran</a:t>
                      </a:r>
                    </a:p>
                  </a:txBody>
                  <a:tcPr anchor="ctr" marL="109728" marT="36576" marB="36576">
                    <a:solidFill>
                      <a:srgbClr val="FFFFFF"/>
                    </a:solidFill>
                  </a:tcPr>
                </a:tc>
                <a:tc>
                  <a:txBody>
                    <a:bodyPr/>
                    <a:lstStyle/>
                    <a:p>
                      <a:r>
                        <a:rPr sz="1300" b="0" i="0">
                          <a:solidFill>
                            <a:srgbClr val="2B2B2B"/>
                          </a:solidFill>
                          <a:latin typeface="Arial"/>
                        </a:rPr>
                        <a:t>a YAML indentation error placed it inside another job</a:t>
                      </a:r>
                    </a:p>
                  </a:txBody>
                  <a:tcPr anchor="ctr" marL="109728" marT="36576" marB="36576">
                    <a:solidFill>
                      <a:srgbClr val="FFFFFF"/>
                    </a:solidFill>
                  </a:tcPr>
                </a:tc>
              </a:tr>
              <a:tr h="566928">
                <a:tc>
                  <a:txBody>
                    <a:bodyPr/>
                    <a:lstStyle/>
                    <a:p>
                      <a:r>
                        <a:rPr sz="1300" b="0" i="0">
                          <a:solidFill>
                            <a:srgbClr val="2B2B2B"/>
                          </a:solidFill>
                          <a:latin typeface="Arial"/>
                        </a:rPr>
                        <a:t>A CLI release broke the deployment</a:t>
                      </a:r>
                    </a:p>
                  </a:txBody>
                  <a:tcPr anchor="ctr" marL="109728" marT="36576" marB="36576">
                    <a:solidFill>
                      <a:srgbClr val="F1F5F7"/>
                    </a:solidFill>
                  </a:tcPr>
                </a:tc>
                <a:tc>
                  <a:txBody>
                    <a:bodyPr/>
                    <a:lstStyle/>
                    <a:p>
                      <a:r>
                        <a:rPr sz="1300" b="0" i="0">
                          <a:solidFill>
                            <a:srgbClr val="2B2B2B"/>
                          </a:solidFill>
                          <a:latin typeface="Arial"/>
                        </a:rPr>
                        <a:t>action updated and the tool version pinned</a:t>
                      </a:r>
                    </a:p>
                  </a:txBody>
                  <a:tcPr anchor="ctr" marL="109728" marT="36576" marB="36576">
                    <a:solidFill>
                      <a:srgbClr val="F1F5F7"/>
                    </a:solidFill>
                  </a:tcPr>
                </a:tc>
              </a:tr>
              <a:tr h="566928">
                <a:tc>
                  <a:txBody>
                    <a:bodyPr/>
                    <a:lstStyle/>
                    <a:p>
                      <a:r>
                        <a:rPr sz="1300" b="0" i="0">
                          <a:solidFill>
                            <a:srgbClr val="2B2B2B"/>
                          </a:solidFill>
                          <a:latin typeface="Arial"/>
                        </a:rPr>
                        <a:t>Local and remote branches had diverged</a:t>
                      </a:r>
                    </a:p>
                  </a:txBody>
                  <a:tcPr anchor="ctr" marL="109728" marT="36576" marB="36576">
                    <a:solidFill>
                      <a:srgbClr val="FFFFFF"/>
                    </a:solidFill>
                  </a:tcPr>
                </a:tc>
                <a:tc>
                  <a:txBody>
                    <a:bodyPr/>
                    <a:lstStyle/>
                    <a:p>
                      <a:r>
                        <a:rPr sz="1300" b="0" i="0">
                          <a:solidFill>
                            <a:srgbClr val="2B2B2B"/>
                          </a:solidFill>
                          <a:latin typeface="Arial"/>
                        </a:rPr>
                        <a:t>merged instead of force-pushing, so no commit was lost</a:t>
                      </a:r>
                    </a:p>
                  </a:txBody>
                  <a:tcPr anchor="ctr" marL="109728" marT="36576" marB="36576">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Results and next steps</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5" name="TextBox 4"/>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16</a:t>
            </a:r>
          </a:p>
        </p:txBody>
      </p:sp>
      <p:sp>
        <p:nvSpPr>
          <p:cNvPr id="6" name="Rounded Rectangle 5"/>
          <p:cNvSpPr/>
          <p:nvPr/>
        </p:nvSpPr>
        <p:spPr>
          <a:xfrm>
            <a:off x="777240" y="1417320"/>
            <a:ext cx="5120640" cy="411480"/>
          </a:xfrm>
          <a:prstGeom prst="roundRect">
            <a:avLst/>
          </a:prstGeom>
          <a:solidFill>
            <a:srgbClr val="1B3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i="0">
                <a:solidFill>
                  <a:srgbClr val="FFFFFF"/>
                </a:solidFill>
                <a:latin typeface="Arial"/>
              </a:rPr>
              <a:t>Delivered</a:t>
            </a:r>
          </a:p>
        </p:txBody>
      </p:sp>
      <p:sp>
        <p:nvSpPr>
          <p:cNvPr id="7" name="TextBox 6"/>
          <p:cNvSpPr txBox="1"/>
          <p:nvPr/>
        </p:nvSpPr>
        <p:spPr>
          <a:xfrm>
            <a:off x="868680" y="1965960"/>
            <a:ext cx="4937760" cy="4160520"/>
          </a:xfrm>
          <a:prstGeom prst="rect">
            <a:avLst/>
          </a:prstGeom>
          <a:noFill/>
        </p:spPr>
        <p:txBody>
          <a:bodyPr wrap="square">
            <a:spAutoFit/>
          </a:bodyPr>
          <a:lstStyle/>
          <a:p>
            <a:pPr>
              <a:spcAft>
                <a:spcPts val="734"/>
              </a:spcAft>
            </a:pPr>
            <a:r>
              <a:rPr sz="1400" b="0" i="0">
                <a:solidFill>
                  <a:srgbClr val="2B2B2B"/>
                </a:solidFill>
                <a:latin typeface="Arial"/>
              </a:rPr>
              <a:t>•  API exposing the model, documented</a:t>
            </a:r>
          </a:p>
          <a:p>
            <a:pPr>
              <a:spcAft>
                <a:spcPts val="734"/>
              </a:spcAft>
            </a:pPr>
            <a:r>
              <a:rPr sz="1400" b="0" i="0">
                <a:solidFill>
                  <a:srgbClr val="2B2B2B"/>
                </a:solidFill>
                <a:latin typeface="Arial"/>
              </a:rPr>
              <a:t>•  PostgreSQL database + UML schema</a:t>
            </a:r>
          </a:p>
          <a:p>
            <a:pPr>
              <a:spcAft>
                <a:spcPts val="734"/>
              </a:spcAft>
            </a:pPr>
            <a:r>
              <a:rPr sz="1400" b="0" i="0">
                <a:solidFill>
                  <a:srgbClr val="2B2B2B"/>
                </a:solidFill>
                <a:latin typeface="Arial"/>
              </a:rPr>
              <a:t>•  Dataset loaded: 1 470 employees</a:t>
            </a:r>
          </a:p>
          <a:p>
            <a:pPr>
              <a:spcAft>
                <a:spcPts val="734"/>
              </a:spcAft>
            </a:pPr>
            <a:r>
              <a:rPr sz="1400" b="0" i="0">
                <a:solidFill>
                  <a:srgbClr val="2B2B2B"/>
                </a:solidFill>
                <a:latin typeface="Arial"/>
              </a:rPr>
              <a:t>•  Every call traced, errors included</a:t>
            </a:r>
          </a:p>
          <a:p>
            <a:pPr>
              <a:spcAft>
                <a:spcPts val="734"/>
              </a:spcAft>
            </a:pPr>
            <a:r>
              <a:rPr sz="1400" b="0" i="0">
                <a:solidFill>
                  <a:srgbClr val="2B2B2B"/>
                </a:solidFill>
                <a:latin typeface="Arial"/>
              </a:rPr>
              <a:t>•  65 tests, 86% coverage, green CI</a:t>
            </a:r>
          </a:p>
          <a:p>
            <a:pPr>
              <a:spcAft>
                <a:spcPts val="734"/>
              </a:spcAft>
            </a:pPr>
            <a:r>
              <a:rPr sz="1400" b="0" i="0">
                <a:solidFill>
                  <a:srgbClr val="2B2B2B"/>
                </a:solidFill>
                <a:latin typeface="Arial"/>
              </a:rPr>
              <a:t>•  Deployed via Docker + GitHub Actions</a:t>
            </a:r>
          </a:p>
        </p:txBody>
      </p:sp>
      <p:sp>
        <p:nvSpPr>
          <p:cNvPr id="8" name="Rounded Rectangle 7"/>
          <p:cNvSpPr/>
          <p:nvPr/>
        </p:nvSpPr>
        <p:spPr>
          <a:xfrm>
            <a:off x="6263640" y="1417320"/>
            <a:ext cx="5120640" cy="411480"/>
          </a:xfrm>
          <a:prstGeom prst="round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i="0">
                <a:solidFill>
                  <a:srgbClr val="FFFFFF"/>
                </a:solidFill>
                <a:latin typeface="Arial"/>
              </a:rPr>
              <a:t>Next steps</a:t>
            </a:r>
          </a:p>
        </p:txBody>
      </p:sp>
      <p:sp>
        <p:nvSpPr>
          <p:cNvPr id="9" name="TextBox 8"/>
          <p:cNvSpPr txBox="1"/>
          <p:nvPr/>
        </p:nvSpPr>
        <p:spPr>
          <a:xfrm>
            <a:off x="6355080" y="1965960"/>
            <a:ext cx="4937760" cy="4160520"/>
          </a:xfrm>
          <a:prstGeom prst="rect">
            <a:avLst/>
          </a:prstGeom>
          <a:noFill/>
        </p:spPr>
        <p:txBody>
          <a:bodyPr wrap="square">
            <a:spAutoFit/>
          </a:bodyPr>
          <a:lstStyle/>
          <a:p>
            <a:pPr>
              <a:spcAft>
                <a:spcPts val="734"/>
              </a:spcAft>
            </a:pPr>
            <a:r>
              <a:rPr sz="1400" b="0" i="0">
                <a:solidFill>
                  <a:srgbClr val="2B2B2B"/>
                </a:solidFill>
                <a:latin typeface="Arial"/>
              </a:rPr>
              <a:t>•  /predict/{id} reading an employee from the database</a:t>
            </a:r>
          </a:p>
          <a:p>
            <a:pPr>
              <a:spcAft>
                <a:spcPts val="734"/>
              </a:spcAft>
            </a:pPr>
            <a:r>
              <a:rPr sz="1400" b="0" i="0">
                <a:solidFill>
                  <a:srgbClr val="2B2B2B"/>
                </a:solidFill>
                <a:latin typeface="Arial"/>
              </a:rPr>
              <a:t>•  Authentication (API key) before any real exposure</a:t>
            </a:r>
          </a:p>
          <a:p>
            <a:pPr>
              <a:spcAft>
                <a:spcPts val="734"/>
              </a:spcAft>
            </a:pPr>
            <a:r>
              <a:rPr sz="1400" b="0" i="0">
                <a:solidFill>
                  <a:srgbClr val="2B2B2B"/>
                </a:solidFill>
                <a:latin typeface="Arial"/>
              </a:rPr>
              <a:t>•  Drift monitoring: compare prediction_input with the training data</a:t>
            </a:r>
          </a:p>
          <a:p>
            <a:pPr>
              <a:spcAft>
                <a:spcPts val="734"/>
              </a:spcAft>
            </a:pPr>
            <a:r>
              <a:rPr sz="1400" b="0" i="0">
                <a:solidFill>
                  <a:srgbClr val="2B2B2B"/>
                </a:solidFill>
                <a:latin typeface="Arial"/>
              </a:rPr>
              <a:t>•  Close the loop: record actual departures to measure live accuracy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11480"/>
            <a:ext cx="10637215" cy="731520"/>
          </a:xfrm>
          <a:prstGeom prst="rect">
            <a:avLst/>
          </a:prstGeom>
          <a:noFill/>
        </p:spPr>
        <p:txBody>
          <a:bodyPr wrap="square">
            <a:spAutoFit/>
          </a:bodyPr>
          <a:lstStyle/>
          <a:p>
            <a:r>
              <a:rPr sz="3000" b="1" i="0">
                <a:solidFill>
                  <a:srgbClr val="1B3A5B"/>
                </a:solidFill>
                <a:latin typeface="Arial"/>
              </a:rPr>
              <a:t>Links and demonstration</a:t>
            </a:r>
          </a:p>
        </p:txBody>
      </p:sp>
      <p:sp>
        <p:nvSpPr>
          <p:cNvPr id="3" name="Rectangle 2"/>
          <p:cNvSpPr/>
          <p:nvPr/>
        </p:nvSpPr>
        <p:spPr>
          <a:xfrm>
            <a:off x="777240" y="1115568"/>
            <a:ext cx="1371600" cy="45720"/>
          </a:xfrm>
          <a:prstGeom prst="rect">
            <a:avLst/>
          </a:prstGeom>
          <a:solidFill>
            <a:srgbClr val="2F7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6355080"/>
            <a:ext cx="9357055" cy="320040"/>
          </a:xfrm>
          <a:prstGeom prst="rect">
            <a:avLst/>
          </a:prstGeom>
          <a:noFill/>
        </p:spPr>
        <p:txBody>
          <a:bodyPr wrap="square">
            <a:spAutoFit/>
          </a:bodyPr>
          <a:lstStyle/>
          <a:p>
            <a:r>
              <a:rPr sz="1000" b="0" i="0">
                <a:solidFill>
                  <a:srgbClr val="6B7280"/>
                </a:solidFill>
                <a:latin typeface="Arial"/>
              </a:rPr>
              <a:t>Futurisys — Deploying an ML model in production</a:t>
            </a:r>
          </a:p>
        </p:txBody>
      </p:sp>
      <p:sp>
        <p:nvSpPr>
          <p:cNvPr id="5" name="TextBox 4"/>
          <p:cNvSpPr txBox="1"/>
          <p:nvPr/>
        </p:nvSpPr>
        <p:spPr>
          <a:xfrm>
            <a:off x="10500055" y="6355080"/>
            <a:ext cx="914400" cy="320040"/>
          </a:xfrm>
          <a:prstGeom prst="rect">
            <a:avLst/>
          </a:prstGeom>
          <a:noFill/>
        </p:spPr>
        <p:txBody>
          <a:bodyPr wrap="square">
            <a:spAutoFit/>
          </a:bodyPr>
          <a:lstStyle/>
          <a:p>
            <a:pPr algn="r"/>
            <a:r>
              <a:rPr sz="1000" b="0" i="0">
                <a:solidFill>
                  <a:srgbClr val="6B7280"/>
                </a:solidFill>
                <a:latin typeface="Arial"/>
              </a:rPr>
              <a:t>17</a:t>
            </a:r>
          </a:p>
        </p:txBody>
      </p:sp>
      <p:graphicFrame>
        <p:nvGraphicFramePr>
          <p:cNvPr id="6" name="Table 5"/>
          <p:cNvGraphicFramePr>
            <a:graphicFrameLocks noGrp="1"/>
          </p:cNvGraphicFramePr>
          <p:nvPr/>
        </p:nvGraphicFramePr>
        <p:xfrm>
          <a:off x="777240" y="1417320"/>
          <a:ext cx="10607040" cy="2743200"/>
        </p:xfrm>
        <a:graphic>
          <a:graphicData uri="http://schemas.openxmlformats.org/drawingml/2006/table">
            <a:tbl>
              <a:tblPr firstRow="1" bandRow="1">
                <a:tableStyleId>{5C22544A-7EE6-4342-B048-85BDC9FD1C3A}</a:tableStyleId>
              </a:tblPr>
              <a:tblGrid>
                <a:gridCol w="4206240"/>
                <a:gridCol w="6400800"/>
              </a:tblGrid>
              <a:tr h="457200">
                <a:tc>
                  <a:txBody>
                    <a:bodyPr/>
                    <a:lstStyle/>
                    <a:p>
                      <a:r>
                        <a:rPr sz="1400" b="1" i="0">
                          <a:solidFill>
                            <a:srgbClr val="FFFFFF"/>
                          </a:solidFill>
                          <a:latin typeface="Arial"/>
                        </a:rPr>
                        <a:t>What</a:t>
                      </a:r>
                    </a:p>
                  </a:txBody>
                  <a:tcPr anchor="ctr" marL="109728" marT="36576" marB="36576">
                    <a:solidFill>
                      <a:srgbClr val="1B3A5B"/>
                    </a:solidFill>
                  </a:tcPr>
                </a:tc>
                <a:tc>
                  <a:txBody>
                    <a:bodyPr/>
                    <a:lstStyle/>
                    <a:p>
                      <a:r>
                        <a:rPr sz="1400" b="1" i="0">
                          <a:solidFill>
                            <a:srgbClr val="FFFFFF"/>
                          </a:solidFill>
                          <a:latin typeface="Arial"/>
                        </a:rPr>
                        <a:t>Where</a:t>
                      </a:r>
                    </a:p>
                  </a:txBody>
                  <a:tcPr anchor="ctr" marL="109728" marT="36576" marB="36576">
                    <a:solidFill>
                      <a:srgbClr val="1B3A5B"/>
                    </a:solidFill>
                  </a:tcPr>
                </a:tc>
              </a:tr>
              <a:tr h="457200">
                <a:tc>
                  <a:txBody>
                    <a:bodyPr/>
                    <a:lstStyle/>
                    <a:p>
                      <a:r>
                        <a:rPr sz="1400" b="0" i="0">
                          <a:solidFill>
                            <a:srgbClr val="2B2B2B"/>
                          </a:solidFill>
                          <a:latin typeface="Arial"/>
                        </a:rPr>
                        <a:t>Source code</a:t>
                      </a:r>
                    </a:p>
                  </a:txBody>
                  <a:tcPr anchor="ctr" marL="109728" marT="36576" marB="36576">
                    <a:solidFill>
                      <a:srgbClr val="FFFFFF"/>
                    </a:solidFill>
                  </a:tcPr>
                </a:tc>
                <a:tc>
                  <a:txBody>
                    <a:bodyPr/>
                    <a:lstStyle/>
                    <a:p>
                      <a:r>
                        <a:rPr sz="1400" b="0" i="0">
                          <a:solidFill>
                            <a:srgbClr val="2B2B2B"/>
                          </a:solidFill>
                          <a:latin typeface="Arial"/>
                        </a:rPr>
                        <a:t>github.com/ankim21/Projet5_DEPLOYMENTML</a:t>
                      </a:r>
                    </a:p>
                  </a:txBody>
                  <a:tcPr anchor="ctr" marL="109728" marT="36576" marB="36576">
                    <a:solidFill>
                      <a:srgbClr val="FFFFFF"/>
                    </a:solidFill>
                  </a:tcPr>
                </a:tc>
              </a:tr>
              <a:tr h="457200">
                <a:tc>
                  <a:txBody>
                    <a:bodyPr/>
                    <a:lstStyle/>
                    <a:p>
                      <a:r>
                        <a:rPr sz="1400" b="0" i="0">
                          <a:solidFill>
                            <a:srgbClr val="2B2B2B"/>
                          </a:solidFill>
                          <a:latin typeface="Arial"/>
                        </a:rPr>
                        <a:t>Deployed API</a:t>
                      </a:r>
                    </a:p>
                  </a:txBody>
                  <a:tcPr anchor="ctr" marL="109728" marT="36576" marB="36576">
                    <a:solidFill>
                      <a:srgbClr val="F1F5F7"/>
                    </a:solidFill>
                  </a:tcPr>
                </a:tc>
                <a:tc>
                  <a:txBody>
                    <a:bodyPr/>
                    <a:lstStyle/>
                    <a:p>
                      <a:r>
                        <a:rPr sz="1400" b="0" i="0">
                          <a:solidFill>
                            <a:srgbClr val="2B2B2B"/>
                          </a:solidFill>
                          <a:latin typeface="Arial"/>
                        </a:rPr>
                        <a:t>huggingface.co/spaces/anchaekim/futurisys</a:t>
                      </a:r>
                    </a:p>
                  </a:txBody>
                  <a:tcPr anchor="ctr" marL="109728" marT="36576" marB="36576">
                    <a:solidFill>
                      <a:srgbClr val="F1F5F7"/>
                    </a:solidFill>
                  </a:tcPr>
                </a:tc>
              </a:tr>
              <a:tr h="457200">
                <a:tc>
                  <a:txBody>
                    <a:bodyPr/>
                    <a:lstStyle/>
                    <a:p>
                      <a:r>
                        <a:rPr sz="1400" b="0" i="0">
                          <a:solidFill>
                            <a:srgbClr val="2B2B2B"/>
                          </a:solidFill>
                          <a:latin typeface="Arial"/>
                        </a:rPr>
                        <a:t>Interactive documentation</a:t>
                      </a:r>
                    </a:p>
                  </a:txBody>
                  <a:tcPr anchor="ctr" marL="109728" marT="36576" marB="36576">
                    <a:solidFill>
                      <a:srgbClr val="FFFFFF"/>
                    </a:solidFill>
                  </a:tcPr>
                </a:tc>
                <a:tc>
                  <a:txBody>
                    <a:bodyPr/>
                    <a:lstStyle/>
                    <a:p>
                      <a:r>
                        <a:rPr sz="1400" b="0" i="0">
                          <a:solidFill>
                            <a:srgbClr val="2B2B2B"/>
                          </a:solidFill>
                          <a:latin typeface="Arial"/>
                        </a:rPr>
                        <a:t>/docs on the running API</a:t>
                      </a:r>
                    </a:p>
                  </a:txBody>
                  <a:tcPr anchor="ctr" marL="109728" marT="36576" marB="36576">
                    <a:solidFill>
                      <a:srgbClr val="FFFFFF"/>
                    </a:solidFill>
                  </a:tcPr>
                </a:tc>
              </a:tr>
              <a:tr h="457200">
                <a:tc>
                  <a:txBody>
                    <a:bodyPr/>
                    <a:lstStyle/>
                    <a:p>
                      <a:r>
                        <a:rPr sz="1400" b="0" i="0">
                          <a:solidFill>
                            <a:srgbClr val="2B2B2B"/>
                          </a:solidFill>
                          <a:latin typeface="Arial"/>
                        </a:rPr>
                        <a:t>Database schema (UML) and choices</a:t>
                      </a:r>
                    </a:p>
                  </a:txBody>
                  <a:tcPr anchor="ctr" marL="109728" marT="36576" marB="36576">
                    <a:solidFill>
                      <a:srgbClr val="F1F5F7"/>
                    </a:solidFill>
                  </a:tcPr>
                </a:tc>
                <a:tc>
                  <a:txBody>
                    <a:bodyPr/>
                    <a:lstStyle/>
                    <a:p>
                      <a:r>
                        <a:rPr sz="1400" b="0" i="0">
                          <a:solidFill>
                            <a:srgbClr val="2B2B2B"/>
                          </a:solidFill>
                          <a:latin typeface="Arial"/>
                        </a:rPr>
                        <a:t>docs/db_schema.md</a:t>
                      </a:r>
                    </a:p>
                  </a:txBody>
                  <a:tcPr anchor="ctr" marL="109728" marT="36576" marB="36576">
                    <a:solidFill>
                      <a:srgbClr val="F1F5F7"/>
                    </a:solidFill>
                  </a:tcPr>
                </a:tc>
              </a:tr>
              <a:tr h="457200">
                <a:tc>
                  <a:txBody>
                    <a:bodyPr/>
                    <a:lstStyle/>
                    <a:p>
                      <a:r>
                        <a:rPr sz="1400" b="0" i="0">
                          <a:solidFill>
                            <a:srgbClr val="2B2B2B"/>
                          </a:solidFill>
                          <a:latin typeface="Arial"/>
                        </a:rPr>
                        <a:t>Install, usage, security</a:t>
                      </a:r>
                    </a:p>
                  </a:txBody>
                  <a:tcPr anchor="ctr" marL="109728" marT="36576" marB="36576">
                    <a:solidFill>
                      <a:srgbClr val="FFFFFF"/>
                    </a:solidFill>
                  </a:tcPr>
                </a:tc>
                <a:tc>
                  <a:txBody>
                    <a:bodyPr/>
                    <a:lstStyle/>
                    <a:p>
                      <a:r>
                        <a:rPr sz="1400" b="0" i="0">
                          <a:solidFill>
                            <a:srgbClr val="2B2B2B"/>
                          </a:solidFill>
                          <a:latin typeface="Arial"/>
                        </a:rPr>
                        <a:t>README.md</a:t>
                      </a:r>
                    </a:p>
                  </a:txBody>
                  <a:tcPr anchor="ctr" marL="109728" marT="36576" marB="36576">
                    <a:solidFill>
                      <a:srgbClr val="FFFFFF"/>
                    </a:solidFill>
                  </a:tcPr>
                </a:tc>
              </a:tr>
            </a:tbl>
          </a:graphicData>
        </a:graphic>
      </p:graphicFrame>
      <p:sp>
        <p:nvSpPr>
          <p:cNvPr id="7" name="TextBox 6"/>
          <p:cNvSpPr txBox="1"/>
          <p:nvPr/>
        </p:nvSpPr>
        <p:spPr>
          <a:xfrm>
            <a:off x="777240" y="4389120"/>
            <a:ext cx="10637215" cy="822960"/>
          </a:xfrm>
          <a:prstGeom prst="rect">
            <a:avLst/>
          </a:prstGeom>
          <a:noFill/>
        </p:spPr>
        <p:txBody>
          <a:bodyPr wrap="square">
            <a:spAutoFit/>
          </a:bodyPr>
          <a:lstStyle/>
          <a:p>
            <a:r>
              <a:rPr sz="2000" b="1" i="0">
                <a:solidFill>
                  <a:srgbClr val="1B3A5B"/>
                </a:solidFill>
                <a:latin typeface="Arial"/>
              </a:rPr>
              <a:t>Live demonstration</a:t>
            </a:r>
          </a:p>
          <a:p>
            <a:r>
              <a:rPr sz="1500" b="0" i="0">
                <a:solidFill>
                  <a:srgbClr val="2B2B2B"/>
                </a:solidFill>
                <a:latin typeface="Arial"/>
              </a:rPr>
              <a:t>1. start the API locally   2. send a prediction from /docs   3. show the recorded row in PostgreSQL</a:t>
            </a:r>
          </a:p>
        </p:txBody>
      </p:sp>
      <p:sp>
        <p:nvSpPr>
          <p:cNvPr id="8" name="TextBox 7"/>
          <p:cNvSpPr txBox="1"/>
          <p:nvPr/>
        </p:nvSpPr>
        <p:spPr>
          <a:xfrm>
            <a:off x="777240" y="5623560"/>
            <a:ext cx="10637215" cy="457200"/>
          </a:xfrm>
          <a:prstGeom prst="rect">
            <a:avLst/>
          </a:prstGeom>
          <a:noFill/>
        </p:spPr>
        <p:txBody>
          <a:bodyPr wrap="square">
            <a:spAutoFit/>
          </a:bodyPr>
          <a:lstStyle/>
          <a:p>
            <a:pPr algn="ctr"/>
            <a:r>
              <a:rPr sz="2000" b="1" i="0">
                <a:solidFill>
                  <a:srgbClr val="2F7D7A"/>
                </a:solidFill>
                <a:latin typeface="Arial"/>
              </a:rPr>
              <a:t>Thank you —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